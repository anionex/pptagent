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5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</p:sldMasterIdLst>
  <p:notesMasterIdLst>
    <p:notesMasterId r:id="rId10"/>
  </p:notesMasterIdLst>
  <p:handoutMasterIdLst>
    <p:handoutMasterId r:id="rId17"/>
  </p:handoutMasterIdLst>
  <p:sldIdLst>
    <p:sldId id="256" r:id="rId16"/>
    <p:sldId id="257" r:id="rId15"/>
    <p:sldId id="258" r:id="rId14"/>
    <p:sldId id="259" r:id="rId13"/>
    <p:sldId id="260" r:id="rId12"/>
    <p:sldId id="261" r:id="rId11"/>
    <p:sldId id="262" r:id="rId9"/>
  </p:sldIdLst>
  <p:sldSz cx="12192000" cy="6858000"/>
  <p:notesSz cx="6858000" cy="9144000"/>
  <p:embeddedFontLst>
    <p:embeddedFont>
      <p:font typeface="微软雅黑" panose="020B0503020204020204" charset="-122"/>
      <p:regular r:id="rId21"/>
    </p:embeddedFont>
    <p:embeddedFont>
      <p:font typeface="云峰飞云体" panose="02000500000000000000" charset="-122"/>
      <p:regular r:id="rId22"/>
    </p:embeddedFont>
    <p:embeddedFont>
      <p:font typeface="优设标题黑" panose="00000500000000000000" charset="-122"/>
      <p:regular r:id="rId23"/>
    </p:embeddedFont>
  </p:embeddedFontLst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78" userDrawn="1">
          <p15:clr>
            <a:srgbClr val="747775"/>
          </p15:clr>
        </p15:guide>
        <p15:guide id="2" pos="282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9FF"/>
    <a:srgbClr val="F7A506"/>
    <a:srgbClr val="FFFFFF"/>
    <a:srgbClr val="C69500"/>
    <a:srgbClr val="00437E"/>
    <a:srgbClr val="073665"/>
    <a:srgbClr val="57CDE9"/>
    <a:srgbClr val="091F39"/>
    <a:srgbClr val="7CDFEF"/>
    <a:srgbClr val="09A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056" y="76"/>
      </p:cViewPr>
      <p:guideLst>
        <p:guide orient="horz" pos="1778"/>
        <p:guide pos="28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6.xml"/><Relationship Id="rId12" Type="http://schemas.openxmlformats.org/officeDocument/2006/relationships/slide" Target="slides/slide5.xml"/><Relationship Id="rId13" Type="http://schemas.openxmlformats.org/officeDocument/2006/relationships/slide" Target="slides/slide4.xml"/><Relationship Id="rId14" Type="http://schemas.openxmlformats.org/officeDocument/2006/relationships/slide" Target="slides/slide3.xml"/><Relationship Id="rId15" Type="http://schemas.openxmlformats.org/officeDocument/2006/relationships/slide" Target="slides/slide2.xml"/><Relationship Id="rId16" Type="http://schemas.openxmlformats.org/officeDocument/2006/relationships/slide" Target="slides/slide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tags" Target="tags/tag15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 descr="ee02790fc46d9917c63157d675acace32509ddb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4" name="椭圆 28"/>
          <p:cNvSpPr/>
          <p:nvPr/>
        </p:nvSpPr>
        <p:spPr>
          <a:xfrm>
            <a:off x="1140136" y="149"/>
            <a:ext cx="8275186" cy="6575323"/>
          </a:xfrm>
          <a:prstGeom prst="ellipse">
            <a:avLst/>
          </a:prstGeom>
          <a:solidFill>
            <a:schemeClr val="accent5">
              <a:lumMod val="50000"/>
              <a:alpha val="18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27"/>
          <p:cNvSpPr txBox="1"/>
          <p:nvPr>
            <p:custDataLst>
              <p:tags r:id="rId2"/>
            </p:custDataLst>
          </p:nvPr>
        </p:nvSpPr>
        <p:spPr>
          <a:xfrm>
            <a:off x="1704340" y="1548130"/>
            <a:ext cx="2503805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ARTIFICIAL INTELLIGENCE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sp>
        <p:nvSpPr>
          <p:cNvPr id="6" name="任意多边形: 形状 54"/>
          <p:cNvSpPr/>
          <p:nvPr/>
        </p:nvSpPr>
        <p:spPr>
          <a:xfrm>
            <a:off x="0" y="1640527"/>
            <a:ext cx="12192000" cy="1530541"/>
          </a:xfrm>
          <a:custGeom>
            <a:avLst/>
            <a:gdLst>
              <a:gd name="connsiteX0" fmla="*/ 10532588 w 12192000"/>
              <a:gd name="connsiteY0" fmla="*/ 601 h 1530541"/>
              <a:gd name="connsiteX1" fmla="*/ 11958150 w 12192000"/>
              <a:gd name="connsiteY1" fmla="*/ 142130 h 1530541"/>
              <a:gd name="connsiteX2" fmla="*/ 12192000 w 12192000"/>
              <a:gd name="connsiteY2" fmla="*/ 201947 h 1530541"/>
              <a:gd name="connsiteX3" fmla="*/ 12192000 w 12192000"/>
              <a:gd name="connsiteY3" fmla="*/ 1102573 h 1530541"/>
              <a:gd name="connsiteX4" fmla="*/ 11954622 w 12192000"/>
              <a:gd name="connsiteY4" fmla="*/ 1008653 h 1530541"/>
              <a:gd name="connsiteX5" fmla="*/ 186394 w 12192000"/>
              <a:gd name="connsiteY5" fmla="*/ 1456934 h 1530541"/>
              <a:gd name="connsiteX6" fmla="*/ 0 w 12192000"/>
              <a:gd name="connsiteY6" fmla="*/ 1420189 h 1530541"/>
              <a:gd name="connsiteX7" fmla="*/ 0 w 12192000"/>
              <a:gd name="connsiteY7" fmla="*/ 333209 h 1530541"/>
              <a:gd name="connsiteX8" fmla="*/ 151671 w 12192000"/>
              <a:gd name="connsiteY8" fmla="*/ 395549 h 1530541"/>
              <a:gd name="connsiteX9" fmla="*/ 10532588 w 12192000"/>
              <a:gd name="connsiteY9" fmla="*/ 601 h 1530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530541">
                <a:moveTo>
                  <a:pt x="10532588" y="601"/>
                </a:moveTo>
                <a:cubicBezTo>
                  <a:pt x="11001483" y="-5534"/>
                  <a:pt x="11474788" y="34922"/>
                  <a:pt x="11958150" y="142130"/>
                </a:cubicBezTo>
                <a:lnTo>
                  <a:pt x="12192000" y="201947"/>
                </a:lnTo>
                <a:lnTo>
                  <a:pt x="12192000" y="1102573"/>
                </a:lnTo>
                <a:lnTo>
                  <a:pt x="11954622" y="1008653"/>
                </a:lnTo>
                <a:cubicBezTo>
                  <a:pt x="8163436" y="-351877"/>
                  <a:pt x="3299842" y="1962606"/>
                  <a:pt x="186394" y="1456934"/>
                </a:cubicBezTo>
                <a:lnTo>
                  <a:pt x="0" y="1420189"/>
                </a:lnTo>
                <a:lnTo>
                  <a:pt x="0" y="333209"/>
                </a:lnTo>
                <a:lnTo>
                  <a:pt x="151671" y="395549"/>
                </a:lnTo>
                <a:cubicBezTo>
                  <a:pt x="4513268" y="2126845"/>
                  <a:pt x="7426157" y="41250"/>
                  <a:pt x="10532588" y="601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47000">
                <a:schemeClr val="bg1">
                  <a:alpha val="0"/>
                </a:schemeClr>
              </a:gs>
              <a:gs pos="86000">
                <a:srgbClr val="57CDE9">
                  <a:alpha val="20000"/>
                </a:srgbClr>
              </a:gs>
              <a:gs pos="22000">
                <a:srgbClr val="57CDE9">
                  <a:alpha val="20000"/>
                </a:srgbClr>
              </a:gs>
              <a:gs pos="100000">
                <a:schemeClr val="accent1">
                  <a:alpha val="7000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>
            <a:lvl1pPr>
              <a:defRPr/>
            </a:lvl1pPr>
          </a:lstStyle>
          <a:p>
            <a:pPr marL="0" marR="0" lvl="0" indent="0" algn="ct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7" name="图片 30" descr="0d3bdf31851bbfb57f56c6b5903aea92d0e6b916.png"/>
          <p:cNvPicPr>
            <a:picLocks noChangeAspect="1"/>
          </p:cNvPicPr>
          <p:nvPr/>
        </p:nvPicPr>
        <p:blipFill>
          <a:blip r:embed="rId3"/>
          <a:srcRect b="29119" t="30422"/>
          <a:stretch>
            <a:fillRect/>
          </a:stretch>
        </p:blipFill>
        <p:spPr>
          <a:xfrm>
            <a:off x="109220" y="372745"/>
            <a:ext cx="2190115" cy="709295"/>
          </a:xfrm>
          <a:prstGeom prst="rect">
            <a:avLst/>
          </a:prstGeom>
        </p:spPr>
      </p:pic>
      <p:sp>
        <p:nvSpPr>
          <p:cNvPr id="8" name="文本框 10"/>
          <p:cNvSpPr txBox="1"/>
          <p:nvPr>
            <p:custDataLst>
              <p:tags r:id="rId4"/>
            </p:custDataLst>
          </p:nvPr>
        </p:nvSpPr>
        <p:spPr>
          <a:xfrm>
            <a:off x="3924935" y="185674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/>
        </p:txBody>
      </p:sp>
      <p:cxnSp>
        <p:nvCxnSpPr>
          <p:cNvPr id="9" name="直接连接符 22"/>
          <p:cNvCxnSpPr/>
          <p:nvPr/>
        </p:nvCxnSpPr>
        <p:spPr>
          <a:xfrm>
            <a:off x="8007985" y="2626360"/>
            <a:ext cx="3042920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alpha val="0"/>
                  </a:sysClr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10" name="文本框 11"/>
          <p:cNvSpPr txBox="1"/>
          <p:nvPr>
            <p:custDataLst>
              <p:tags r:id="rId6"/>
            </p:custDataLst>
          </p:nvPr>
        </p:nvSpPr>
        <p:spPr>
          <a:xfrm>
            <a:off x="6086475" y="1530985"/>
            <a:ext cx="2136140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/>
        </p:txBody>
      </p:sp>
      <p:pic>
        <p:nvPicPr>
          <p:cNvPr id="11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614295" y="1385570"/>
            <a:ext cx="1375410" cy="1232535"/>
          </a:xfrm>
          <a:prstGeom prst="rect">
            <a:avLst/>
          </a:prstGeom>
        </p:spPr>
      </p:pic>
      <p:sp>
        <p:nvSpPr>
          <p:cNvPr id="12" name="文本框 13"/>
          <p:cNvSpPr txBox="1"/>
          <p:nvPr/>
        </p:nvSpPr>
        <p:spPr>
          <a:xfrm>
            <a:off x="1492250" y="3851275"/>
            <a:ext cx="8965565" cy="85344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>
            <a:reflection blurRad="25400" stA="20000" endPos="35000" dir="5400000" sy="-100000" algn="bl" rotWithShape="0"/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b="1">
                <a:gradFill flip="none" rotWithShape="1">
                  <a:gsLst>
                    <a:gs pos="0">
                      <a:srgbClr val="BFBFBF"/>
                    </a:gs>
                    <a:gs pos="50000">
                      <a:srgbClr val="016DFF">
                        <a:lumMod val="20000"/>
                        <a:lumOff val="80000"/>
                      </a:srgbClr>
                    </a:gs>
                    <a:gs pos="100000">
                      <a:srgbClr val="BFBFBF"/>
                    </a:gs>
                  </a:gsLst>
                  <a:lin ang="13500000" scaled="1"/>
                  <a:tileRect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defRPr>
            </a:lvl1pPr>
            <a:lvl2pPr>
              <a:defRPr>
                <a:solidFill>
                  <a:sysClr val="window" lastClr="FFFFFF"/>
                </a:solidFill>
              </a:defRPr>
            </a:lvl2pPr>
            <a:lvl3pPr>
              <a:defRPr>
                <a:solidFill>
                  <a:sysClr val="window" lastClr="FFFFFF"/>
                </a:solidFill>
              </a:defRPr>
            </a:lvl3pPr>
            <a:lvl4pPr>
              <a:defRPr>
                <a:solidFill>
                  <a:sysClr val="window" lastClr="FFFFFF"/>
                </a:solidFill>
              </a:defRPr>
            </a:lvl4pPr>
            <a:lvl5pPr>
              <a:defRPr>
                <a:solidFill>
                  <a:sysClr val="window" lastClr="FFFFFF"/>
                </a:solidFill>
              </a:defRPr>
            </a:lvl5pPr>
            <a:lvl6pPr>
              <a:defRPr>
                <a:solidFill>
                  <a:sysClr val="window" lastClr="FFFFFF"/>
                </a:solidFill>
              </a:defRPr>
            </a:lvl6pPr>
            <a:lvl7pPr>
              <a:defRPr>
                <a:solidFill>
                  <a:sysClr val="window" lastClr="FFFFFF"/>
                </a:solidFill>
              </a:defRPr>
            </a:lvl7pPr>
            <a:lvl8pPr>
              <a:defRPr>
                <a:solidFill>
                  <a:sysClr val="window" lastClr="FFFFFF"/>
                </a:solidFill>
              </a:defRPr>
            </a:lvl8pPr>
            <a:lvl9pPr>
              <a:defRPr>
                <a:solidFill>
                  <a:sysClr val="window" lastClr="FFFFFF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思源黑体 CN Bold" panose="020B0800000000000000" charset="-122"/>
              </a:rPr>
              <a:t>AI发展史：从符号主义到大语言模型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90000"/>
                </a:prstClr>
              </a:soli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思源黑体 CN Bold" panose="020B0800000000000000" charset="-122"/>
            </a:endParaRPr>
          </a:p>
        </p:txBody>
      </p:sp>
      <p:pic>
        <p:nvPicPr>
          <p:cNvPr id="13" name="图片 67" descr="a95cfcf3ae08df5f8694d12d5e765eeaee74aca2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71410" y="1328420"/>
            <a:ext cx="3030220" cy="2564765"/>
          </a:xfrm>
          <a:prstGeom prst="rect">
            <a:avLst/>
          </a:prstGeom>
        </p:spPr>
      </p:pic>
      <p:pic>
        <p:nvPicPr>
          <p:cNvPr id="14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53380" y="2464435"/>
            <a:ext cx="802005" cy="718185"/>
          </a:xfrm>
          <a:prstGeom prst="rect">
            <a:avLst/>
          </a:prstGeom>
        </p:spPr>
      </p:pic>
      <p:sp>
        <p:nvSpPr>
          <p:cNvPr id="15" name="文本框 16"/>
          <p:cNvSpPr txBox="1"/>
          <p:nvPr>
            <p:custDataLst>
              <p:tags r:id="rId9"/>
            </p:custDataLst>
          </p:nvPr>
        </p:nvSpPr>
        <p:spPr>
          <a:xfrm>
            <a:off x="5088255" y="182880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16" name="文本框 19"/>
          <p:cNvSpPr txBox="1"/>
          <p:nvPr/>
        </p:nvSpPr>
        <p:spPr>
          <a:xfrm>
            <a:off x="8188960" y="2657475"/>
            <a:ext cx="2857500" cy="85344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>
            <a:reflection blurRad="25400" stA="20000" endPos="35000" dir="5400000" sy="-100000" algn="bl" rotWithShape="0"/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b="1">
                <a:gradFill flip="none" rotWithShape="1">
                  <a:gsLst>
                    <a:gs pos="0">
                      <a:srgbClr val="BFBFBF"/>
                    </a:gs>
                    <a:gs pos="50000">
                      <a:srgbClr val="016DFF">
                        <a:lumMod val="20000"/>
                        <a:lumOff val="80000"/>
                      </a:srgbClr>
                    </a:gs>
                    <a:gs pos="100000">
                      <a:srgbClr val="BFBFBF"/>
                    </a:gs>
                  </a:gsLst>
                  <a:lin ang="13500000" scaled="1"/>
                  <a:tileRect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defRPr>
            </a:lvl1pPr>
            <a:lvl2pPr>
              <a:defRPr>
                <a:solidFill>
                  <a:sysClr val="window" lastClr="FFFFFF"/>
                </a:solidFill>
              </a:defRPr>
            </a:lvl2pPr>
            <a:lvl3pPr>
              <a:defRPr>
                <a:solidFill>
                  <a:sysClr val="window" lastClr="FFFFFF"/>
                </a:solidFill>
              </a:defRPr>
            </a:lvl3pPr>
            <a:lvl4pPr>
              <a:defRPr>
                <a:solidFill>
                  <a:sysClr val="window" lastClr="FFFFFF"/>
                </a:solidFill>
              </a:defRPr>
            </a:lvl4pPr>
            <a:lvl5pPr>
              <a:defRPr>
                <a:solidFill>
                  <a:sysClr val="window" lastClr="FFFFFF"/>
                </a:solidFill>
              </a:defRPr>
            </a:lvl5pPr>
            <a:lvl6pPr>
              <a:defRPr>
                <a:solidFill>
                  <a:sysClr val="window" lastClr="FFFFFF"/>
                </a:solidFill>
              </a:defRPr>
            </a:lvl6pPr>
            <a:lvl7pPr>
              <a:defRPr>
                <a:solidFill>
                  <a:sysClr val="window" lastClr="FFFFFF"/>
                </a:solidFill>
              </a:defRPr>
            </a:lvl7pPr>
            <a:lvl8pPr>
              <a:defRPr>
                <a:solidFill>
                  <a:sysClr val="window" lastClr="FFFFFF"/>
                </a:solidFill>
              </a:defRPr>
            </a:lvl8pPr>
            <a:lvl9pPr>
              <a:defRPr>
                <a:solidFill>
                  <a:sysClr val="window" lastClr="FFFFFF"/>
                </a:solidFill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思源黑体 CN Bold" panose="020B0800000000000000" charset="-122"/>
              </a:rPr>
              <a:t>人工智能发展全景回顾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思源黑体 CN Bold" panose="020B0800000000000000" charset="-122"/>
            </a:endParaRPr>
          </a:p>
        </p:txBody>
      </p:sp>
      <p:pic>
        <p:nvPicPr>
          <p:cNvPr id="17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735445" y="2926080"/>
            <a:ext cx="4801235" cy="108648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076879" y="6019800"/>
            <a:ext cx="2733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30000"/>
              </a:lnSpc>
              <a:defRPr/>
            </a:pPr>
            <a:r>
              <a:rPr lang="en-US" sz="120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资料来源：公开文献</a:t>
            </a:r>
            <a:endParaRPr lang="en-US" sz="120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086404" y="6286500"/>
            <a:ext cx="2724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20000"/>
              </a:lnSpc>
              <a:defRPr/>
            </a:pPr>
            <a:r>
              <a:rPr lang="en-US" sz="105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本演示文稿内容基于公开学术文献及行业报告整理，涵盖1956年至今人工智能发展的重要里程碑，包括符号主义、机器学习、深度学习及大语言模型（LLM）等关键阶段的研究成果与进展。</a:t>
            </a:r>
            <a:endParaRPr lang="en-US" sz="105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20" name="图片 45" descr="a3fcb49543bf159088da14e388e4289d222b6f2b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645650" y="2375535"/>
            <a:ext cx="1132205" cy="1424305"/>
          </a:xfrm>
          <a:prstGeom prst="rect">
            <a:avLst/>
          </a:prstGeom>
        </p:spPr>
      </p:pic>
      <p:pic>
        <p:nvPicPr>
          <p:cNvPr id="21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91255" y="4110990"/>
            <a:ext cx="4801235" cy="1086485"/>
          </a:xfrm>
          <a:prstGeom prst="rect">
            <a:avLst/>
          </a:prstGeom>
        </p:spPr>
      </p:pic>
      <p:pic>
        <p:nvPicPr>
          <p:cNvPr id="22" name="Picture 6" descr="8def75f1e340b70e5f5a0457430dedbcf287cf38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5400000" flipH="1">
            <a:off x="9699721" y="891985"/>
            <a:ext cx="1022995" cy="2085186"/>
          </a:xfrm>
          <a:prstGeom prst="rect">
            <a:avLst/>
          </a:prstGeom>
        </p:spPr>
      </p:pic>
      <p:pic>
        <p:nvPicPr>
          <p:cNvPr id="23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878695" y="3387725"/>
            <a:ext cx="1375410" cy="1232535"/>
          </a:xfrm>
          <a:prstGeom prst="rect">
            <a:avLst/>
          </a:prstGeom>
        </p:spPr>
      </p:pic>
      <p:pic>
        <p:nvPicPr>
          <p:cNvPr id="24" name="Picture 20" descr="6b99f09471617f824bc2e8a0fc03eae5c6fc5de2.png"/>
          <p:cNvPicPr>
            <a:picLocks noChangeAspect="1"/>
          </p:cNvPicPr>
          <p:nvPr/>
        </p:nvPicPr>
        <p:blipFill>
          <a:blip r:embed="rId9"/>
          <a:srcRect b="34249" t="22435" l="8228"/>
          <a:stretch>
            <a:fillRect/>
          </a:stretch>
        </p:blipFill>
        <p:spPr>
          <a:xfrm>
            <a:off x="9779635" y="395605"/>
            <a:ext cx="2145665" cy="667385"/>
          </a:xfrm>
          <a:prstGeom prst="rect">
            <a:avLst/>
          </a:prstGeom>
        </p:spPr>
      </p:pic>
      <p:sp>
        <p:nvSpPr>
          <p:cNvPr id="25" name="平行四边形 60"/>
          <p:cNvSpPr/>
          <p:nvPr/>
        </p:nvSpPr>
        <p:spPr>
          <a:xfrm>
            <a:off x="-1715770" y="3890645"/>
            <a:ext cx="12302945" cy="671371"/>
          </a:xfrm>
          <a:prstGeom prst="parallelogram">
            <a:avLst>
              <a:gd name="adj" fmla="val 57653"/>
            </a:avLst>
          </a:prstGeom>
          <a:gradFill flip="none" rotWithShape="1">
            <a:gsLst>
              <a:gs pos="19000">
                <a:srgbClr val="00C1FF">
                  <a:alpha val="0"/>
                </a:srgbClr>
              </a:gs>
              <a:gs pos="100000">
                <a:sysClr val="window" lastClr="FFFFFF">
                  <a:alpha val="40000"/>
                </a:sys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平行四边形 61"/>
          <p:cNvSpPr/>
          <p:nvPr/>
        </p:nvSpPr>
        <p:spPr>
          <a:xfrm>
            <a:off x="-1602560" y="3964128"/>
            <a:ext cx="12302945" cy="671371"/>
          </a:xfrm>
          <a:prstGeom prst="parallelogram">
            <a:avLst>
              <a:gd name="adj" fmla="val 57653"/>
            </a:avLst>
          </a:prstGeom>
          <a:noFill/>
          <a:ln w="6350" cap="flat" cmpd="sng" algn="ctr">
            <a:gradFill flip="none" rotWithShape="1">
              <a:gsLst>
                <a:gs pos="22000">
                  <a:srgbClr val="016DFF">
                    <a:lumMod val="5000"/>
                    <a:lumOff val="95000"/>
                    <a:alpha val="0"/>
                  </a:srgbClr>
                </a:gs>
                <a:gs pos="100000">
                  <a:srgbClr val="00C1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7" name="文本框 9"/>
          <p:cNvSpPr txBox="1"/>
          <p:nvPr>
            <p:custDataLst>
              <p:tags r:id="rId10"/>
            </p:custDataLst>
          </p:nvPr>
        </p:nvSpPr>
        <p:spPr>
          <a:xfrm>
            <a:off x="6787074" y="5415036"/>
            <a:ext cx="1925082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主讲人：演讲者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14"/>
          <p:cNvSpPr txBox="1"/>
          <p:nvPr>
            <p:custDataLst>
              <p:tags r:id="rId11"/>
            </p:custDataLst>
          </p:nvPr>
        </p:nvSpPr>
        <p:spPr>
          <a:xfrm>
            <a:off x="3125788" y="5415036"/>
            <a:ext cx="2882809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单位：研究机构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: 圆角 62"/>
          <p:cNvSpPr/>
          <p:nvPr/>
        </p:nvSpPr>
        <p:spPr>
          <a:xfrm>
            <a:off x="3125788" y="4902200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日期：2026年4月14日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: 圆角 9215"/>
          <p:cNvSpPr/>
          <p:nvPr/>
        </p:nvSpPr>
        <p:spPr>
          <a:xfrm>
            <a:off x="6183403" y="4915367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主题：AI发展历程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3727768" y="572123"/>
            <a:ext cx="4544060" cy="409275"/>
          </a:xfrm>
          <a:custGeom>
            <a:avLst/>
            <a:gdLst/>
            <a:ahLst/>
            <a:cxnLst/>
            <a:rect l="l" t="t" r="r" b="b"/>
            <a:pathLst>
              <a:path w="3895725" h="428625">
                <a:moveTo>
                  <a:pt x="214313" y="0"/>
                </a:moveTo>
                <a:lnTo>
                  <a:pt x="3681413" y="0"/>
                </a:lnTo>
                <a:cubicBezTo>
                  <a:pt x="3799695" y="0"/>
                  <a:pt x="3895725" y="96030"/>
                  <a:pt x="3895725" y="214313"/>
                </a:cubicBezTo>
                <a:lnTo>
                  <a:pt x="3895725" y="214313"/>
                </a:lnTo>
                <a:cubicBezTo>
                  <a:pt x="3895725" y="332595"/>
                  <a:pt x="3799695" y="428625"/>
                  <a:pt x="36814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2" name="Text 2"/>
          <p:cNvSpPr/>
          <p:nvPr/>
        </p:nvSpPr>
        <p:spPr>
          <a:xfrm>
            <a:off x="3619818" y="640018"/>
            <a:ext cx="4761230" cy="2360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b="1" kern="0" spc="68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lt"/>
              </a:rPr>
              <a:t>AI COMMERCIALIZATION INNOVATION</a:t>
            </a:r>
            <a:endParaRPr lang="en-US" b="1" kern="0" spc="68" dirty="0">
              <a:solidFill>
                <a:schemeClr val="bg1"/>
              </a:solidFill>
              <a:latin typeface="+mj-lt"/>
              <a:ea typeface="Arial" panose="020B0604020202020204" pitchFamily="34" charset="0"/>
              <a:cs typeface="+mj-lt"/>
            </a:endParaRPr>
          </a:p>
        </p:txBody>
      </p:sp>
      <p:pic>
        <p:nvPicPr>
          <p:cNvPr id="33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789363" y="556260"/>
            <a:ext cx="4112895" cy="867410"/>
          </a:xfrm>
          <a:prstGeom prst="rect">
            <a:avLst/>
          </a:prstGeom>
        </p:spPr>
      </p:pic>
      <p:sp>
        <p:nvSpPr>
          <p:cNvPr id="34" name="燕尾形 47"/>
          <p:cNvSpPr/>
          <p:nvPr/>
        </p:nvSpPr>
        <p:spPr>
          <a:xfrm>
            <a:off x="29511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5" name="燕尾形 49"/>
          <p:cNvSpPr/>
          <p:nvPr/>
        </p:nvSpPr>
        <p:spPr>
          <a:xfrm>
            <a:off x="32813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6" name="燕尾形 51"/>
          <p:cNvSpPr/>
          <p:nvPr/>
        </p:nvSpPr>
        <p:spPr>
          <a:xfrm>
            <a:off x="2620963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7" name="燕尾形 53"/>
          <p:cNvSpPr/>
          <p:nvPr/>
        </p:nvSpPr>
        <p:spPr>
          <a:xfrm>
            <a:off x="89106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8" name="燕尾形 54"/>
          <p:cNvSpPr/>
          <p:nvPr/>
        </p:nvSpPr>
        <p:spPr>
          <a:xfrm>
            <a:off x="92408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9" name="燕尾形 55"/>
          <p:cNvSpPr/>
          <p:nvPr/>
        </p:nvSpPr>
        <p:spPr>
          <a:xfrm>
            <a:off x="8580438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40" name="Shape 11"/>
          <p:cNvSpPr/>
          <p:nvPr/>
        </p:nvSpPr>
        <p:spPr>
          <a:xfrm>
            <a:off x="8492490" y="6057900"/>
            <a:ext cx="447040" cy="447040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9AFDA">
              <a:alpha val="30000"/>
            </a:srgbClr>
          </a:solidFill>
          <a:ln w="12700">
            <a:solidFill>
              <a:srgbClr val="57CDE9">
                <a:alpha val="50196"/>
              </a:srgbClr>
            </a:solidFill>
            <a:prstDash val="solid"/>
          </a:ln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1" name="Shape 12"/>
          <p:cNvSpPr/>
          <p:nvPr/>
        </p:nvSpPr>
        <p:spPr>
          <a:xfrm>
            <a:off x="8620578" y="6185988"/>
            <a:ext cx="190229" cy="190229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gradFill>
            <a:gsLst>
              <a:gs pos="0">
                <a:srgbClr val="0189FF"/>
              </a:gs>
              <a:gs pos="50000">
                <a:srgbClr val="57CDE9"/>
              </a:gs>
              <a:gs pos="100000">
                <a:srgbClr val="57CDE9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 descr="c5619efd3bbd89d75ac313a9afebfa40e155ffb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椭圆 60"/>
          <p:cNvSpPr/>
          <p:nvPr/>
        </p:nvSpPr>
        <p:spPr>
          <a:xfrm>
            <a:off x="1422192" y="-822153"/>
            <a:ext cx="9275017" cy="8800928"/>
          </a:xfrm>
          <a:prstGeom prst="ellipse">
            <a:avLst/>
          </a:prstGeom>
          <a:gradFill>
            <a:gsLst>
              <a:gs pos="0">
                <a:srgbClr val="02307D"/>
              </a:gs>
              <a:gs pos="100000">
                <a:srgbClr val="02307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749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0" y="0"/>
            <a:ext cx="12192635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4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5" name="椭圆 45"/>
          <p:cNvSpPr/>
          <p:nvPr/>
        </p:nvSpPr>
        <p:spPr>
          <a:xfrm>
            <a:off x="3039745" y="-1829435"/>
            <a:ext cx="4879975" cy="11022330"/>
          </a:xfrm>
          <a:prstGeom prst="ellipse">
            <a:avLst/>
          </a:prstGeom>
          <a:gradFill>
            <a:gsLst>
              <a:gs pos="60000">
                <a:schemeClr val="accent5">
                  <a:lumMod val="50000"/>
                  <a:alpha val="53000"/>
                </a:schemeClr>
              </a:gs>
              <a:gs pos="100000">
                <a:srgbClr val="02307D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032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7" name="Picture 7" descr="2d37bef192cf8c8f7d51c96cd99a2f09bd2dac0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2273300"/>
            <a:ext cx="406400" cy="406400"/>
          </a:xfrm>
          <a:prstGeom prst="rect">
            <a:avLst/>
          </a:prstGeom>
        </p:spPr>
      </p:pic>
      <p:sp>
        <p:nvSpPr>
          <p:cNvPr id="8" name="AutoShape 10"/>
          <p:cNvSpPr/>
          <p:nvPr>
            <p:custDataLst>
              <p:tags r:id="rId7"/>
            </p:custDataLst>
          </p:nvPr>
        </p:nvSpPr>
        <p:spPr>
          <a:xfrm>
            <a:off x="762000" y="3048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9" name="Picture 11" descr="c738c30aea71585dd6974ce984b240ae4cc700db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3289300"/>
            <a:ext cx="406400" cy="406400"/>
          </a:xfrm>
          <a:prstGeom prst="rect">
            <a:avLst/>
          </a:prstGeom>
        </p:spPr>
      </p:pic>
      <p:sp>
        <p:nvSpPr>
          <p:cNvPr id="10" name="AutoShape 14"/>
          <p:cNvSpPr/>
          <p:nvPr>
            <p:custDataLst>
              <p:tags r:id="rId11"/>
            </p:custDataLst>
          </p:nvPr>
        </p:nvSpPr>
        <p:spPr>
          <a:xfrm>
            <a:off x="762000" y="4064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11" name="Picture 15" descr="97af7b0ef2dc73e21a3a7fd32b47e2c4b13f47e1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4305300"/>
            <a:ext cx="406400" cy="406400"/>
          </a:xfrm>
          <a:prstGeom prst="rect">
            <a:avLst/>
          </a:prstGeom>
        </p:spPr>
      </p:pic>
      <p:sp>
        <p:nvSpPr>
          <p:cNvPr id="12" name="AutoShape 18"/>
          <p:cNvSpPr/>
          <p:nvPr>
            <p:custDataLst>
              <p:tags r:id="rId15"/>
            </p:custDataLst>
          </p:nvPr>
        </p:nvSpPr>
        <p:spPr>
          <a:xfrm>
            <a:off x="762000" y="5080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13" name="Picture 19" descr="e3d896e3b99cf05e2ed8c811c5eee4dc9d2f6263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16000" y="5321300"/>
            <a:ext cx="406400" cy="406400"/>
          </a:xfrm>
          <a:prstGeom prst="rect">
            <a:avLst/>
          </a:prstGeom>
        </p:spPr>
      </p:pic>
      <p:sp>
        <p:nvSpPr>
          <p:cNvPr id="14" name="AutoShape 8"/>
          <p:cNvSpPr/>
          <p:nvPr>
            <p:custDataLst>
              <p:tags r:id="rId19"/>
            </p:custDataLst>
          </p:nvPr>
        </p:nvSpPr>
        <p:spPr>
          <a:xfrm>
            <a:off x="1587500" y="2159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AI发展全景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AutoShape 9"/>
          <p:cNvSpPr/>
          <p:nvPr>
            <p:custDataLst>
              <p:tags r:id="rId20"/>
            </p:custDataLst>
          </p:nvPr>
        </p:nvSpPr>
        <p:spPr>
          <a:xfrm>
            <a:off x="1587500" y="2540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从1956年至今，回顾AI发展的关键时代与里程碑事件，纵览人工智能演进的完整历程。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16" name="AutoShape 12"/>
          <p:cNvSpPr/>
          <p:nvPr>
            <p:custDataLst>
              <p:tags r:id="rId21"/>
            </p:custDataLst>
          </p:nvPr>
        </p:nvSpPr>
        <p:spPr>
          <a:xfrm>
            <a:off x="1587500" y="3175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早期AI与符号主义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AutoShape 13"/>
          <p:cNvSpPr/>
          <p:nvPr>
            <p:custDataLst>
              <p:tags r:id="rId22"/>
            </p:custDataLst>
          </p:nvPr>
        </p:nvSpPr>
        <p:spPr>
          <a:xfrm>
            <a:off x="1587500" y="3556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探索符号主义AI的起源，涵盖Dartmouth会议、感知机等早期基础性成就，以及AI寒冬与专家系统的兴衰。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18" name="AutoShape 16"/>
          <p:cNvSpPr/>
          <p:nvPr>
            <p:custDataLst>
              <p:tags r:id="rId23"/>
            </p:custDataLst>
          </p:nvPr>
        </p:nvSpPr>
        <p:spPr>
          <a:xfrm>
            <a:off x="1587500" y="4191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机器学习与深度学习崛起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AutoShape 17"/>
          <p:cNvSpPr/>
          <p:nvPr>
            <p:custDataLst>
              <p:tags r:id="rId24"/>
            </p:custDataLst>
          </p:nvPr>
        </p:nvSpPr>
        <p:spPr>
          <a:xfrm>
            <a:off x="1587500" y="4572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解析数据驱动的机器学习范式转变，深度学习如何凭借AlexNet等突破重塑AI感知能力，引领新一轮技术变革。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1587500" y="5207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大语言模型时代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AutoShape 21"/>
          <p:cNvSpPr/>
          <p:nvPr>
            <p:custDataLst>
              <p:tags r:id="rId26"/>
            </p:custDataLst>
          </p:nvPr>
        </p:nvSpPr>
        <p:spPr>
          <a:xfrm>
            <a:off x="1587500" y="5588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LLM时代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22" name="AutoShape 22"/>
          <p:cNvSpPr/>
          <p:nvPr>
            <p:custDataLst>
              <p:tags r:id="rId27"/>
            </p:custDataLst>
          </p:nvPr>
        </p:nvSpPr>
        <p:spPr>
          <a:xfrm>
            <a:off x="3321050" y="2032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3" name="Picture 23" descr="3708e5853e353e52763572c5ab6bc070d231a341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575050" y="2273300"/>
            <a:ext cx="406400" cy="406400"/>
          </a:xfrm>
          <a:prstGeom prst="rect">
            <a:avLst/>
          </a:prstGeom>
        </p:spPr>
      </p:pic>
      <p:sp>
        <p:nvSpPr>
          <p:cNvPr id="24" name="AutoShape 26"/>
          <p:cNvSpPr/>
          <p:nvPr>
            <p:custDataLst>
              <p:tags r:id="rId31"/>
            </p:custDataLst>
          </p:nvPr>
        </p:nvSpPr>
        <p:spPr>
          <a:xfrm>
            <a:off x="3321050" y="3048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5" name="Picture 27" descr="52860e3a074b3e522dcc448e7ff62b31d71a0094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575050" y="3289300"/>
            <a:ext cx="406400" cy="406400"/>
          </a:xfrm>
          <a:prstGeom prst="rect">
            <a:avLst/>
          </a:prstGeom>
        </p:spPr>
      </p:pic>
      <p:sp>
        <p:nvSpPr>
          <p:cNvPr id="26" name="AutoShape 30"/>
          <p:cNvSpPr/>
          <p:nvPr>
            <p:custDataLst>
              <p:tags r:id="rId35"/>
            </p:custDataLst>
          </p:nvPr>
        </p:nvSpPr>
        <p:spPr>
          <a:xfrm>
            <a:off x="3321050" y="4064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7" name="Picture 31" descr="90a37f10dd80bc3dd6f655964681a1a210b14d29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575050" y="4305300"/>
            <a:ext cx="406400" cy="406400"/>
          </a:xfrm>
          <a:prstGeom prst="rect">
            <a:avLst/>
          </a:prstGeom>
        </p:spPr>
      </p:pic>
      <p:sp>
        <p:nvSpPr>
          <p:cNvPr id="28" name="AutoShape 34"/>
          <p:cNvSpPr/>
          <p:nvPr>
            <p:custDataLst>
              <p:tags r:id="rId39"/>
            </p:custDataLst>
          </p:nvPr>
        </p:nvSpPr>
        <p:spPr>
          <a:xfrm>
            <a:off x="3321050" y="5080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9" name="Picture 35" descr="764d28c36a917922367695fdb97c25c5ea05243a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575050" y="5321300"/>
            <a:ext cx="406400" cy="406400"/>
          </a:xfrm>
          <a:prstGeom prst="rect">
            <a:avLst/>
          </a:prstGeom>
        </p:spPr>
      </p:pic>
      <p:sp>
        <p:nvSpPr>
          <p:cNvPr id="30" name="AutoShape 24"/>
          <p:cNvSpPr/>
          <p:nvPr>
            <p:custDataLst>
              <p:tags r:id="rId43"/>
            </p:custDataLst>
          </p:nvPr>
        </p:nvSpPr>
        <p:spPr>
          <a:xfrm>
            <a:off x="4146550" y="2159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发展启示与展望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AutoShape 25"/>
          <p:cNvSpPr/>
          <p:nvPr>
            <p:custDataLst>
              <p:tags r:id="rId44"/>
            </p:custDataLst>
          </p:nvPr>
        </p:nvSpPr>
        <p:spPr>
          <a:xfrm>
            <a:off x="4146550" y="2540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总结AI历史发展的核心经验与教训，展望人工智能未来演进方向，探讨技术与社会的深远影响。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2" name="AutoShape 28"/>
          <p:cNvSpPr/>
          <p:nvPr>
            <p:custDataLst>
              <p:tags r:id="rId45"/>
            </p:custDataLst>
          </p:nvPr>
        </p:nvSpPr>
        <p:spPr>
          <a:xfrm>
            <a:off x="4146550" y="3175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全景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AutoShape 29"/>
          <p:cNvSpPr/>
          <p:nvPr>
            <p:custDataLst>
              <p:tags r:id="rId46"/>
            </p:custDataLst>
          </p:nvPr>
        </p:nvSpPr>
        <p:spPr>
          <a:xfrm>
            <a:off x="4146550" y="3556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AI发展全景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4" name="AutoShape 32"/>
          <p:cNvSpPr/>
          <p:nvPr>
            <p:custDataLst>
              <p:tags r:id="rId47"/>
            </p:custDataLst>
          </p:nvPr>
        </p:nvSpPr>
        <p:spPr>
          <a:xfrm>
            <a:off x="4146550" y="4191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崛起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AutoShape 33"/>
          <p:cNvSpPr/>
          <p:nvPr>
            <p:custDataLst>
              <p:tags r:id="rId48"/>
            </p:custDataLst>
          </p:nvPr>
        </p:nvSpPr>
        <p:spPr>
          <a:xfrm>
            <a:off x="4146550" y="4572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机器学习与深度学习的兴起，标志着AI从规则驱动迈向数据驱动，神经网络在感知任务中取得革命性突破。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6" name="AutoShape 36"/>
          <p:cNvSpPr/>
          <p:nvPr>
            <p:custDataLst>
              <p:tags r:id="rId49"/>
            </p:custDataLst>
          </p:nvPr>
        </p:nvSpPr>
        <p:spPr>
          <a:xfrm>
            <a:off x="4146550" y="5207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LLM时代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AutoShape 37"/>
          <p:cNvSpPr/>
          <p:nvPr>
            <p:custDataLst>
              <p:tags r:id="rId50"/>
            </p:custDataLst>
          </p:nvPr>
        </p:nvSpPr>
        <p:spPr>
          <a:xfrm>
            <a:off x="4146550" y="5588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大语言模型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8" name="AutoShape 4"/>
          <p:cNvSpPr/>
          <p:nvPr/>
        </p:nvSpPr>
        <p:spPr>
          <a:xfrm>
            <a:off x="784225" y="698500"/>
            <a:ext cx="184467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6600" i="0" u="none" strike="noStrike" kern="120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Arial" panose="020B0604020202020204" pitchFamily="34" charset="0"/>
              </a:rPr>
              <a:t>目录</a:t>
            </a:r>
            <a:endParaRPr lang="zh-CN" altLang="en-US" sz="6600" i="0" u="none" strike="noStrike" kern="120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9" name="AutoShape 4"/>
          <p:cNvSpPr/>
          <p:nvPr/>
        </p:nvSpPr>
        <p:spPr>
          <a:xfrm>
            <a:off x="762000" y="1016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4800" i="0" u="none" strike="noStrike" kern="120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  <a:alpha val="15000"/>
                      </a:prstClr>
                    </a:gs>
                    <a:gs pos="100000">
                      <a:srgbClr val="01D5F0">
                        <a:lumMod val="100000"/>
                        <a:alpha val="37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Arial" panose="020B0604020202020204" pitchFamily="34" charset="0"/>
              </a:rPr>
              <a:t>本演示将依次介绍AI发展全景、早期AI与符号主义、机器学习与深度学习崛起、大语言模型时代，以及发展启示与展望，系统梳理人工智能从诞生至今的演进脉络与未来趋势。</a:t>
            </a:r>
            <a:endParaRPr lang="zh-CN" altLang="en-US" sz="4800" i="0" u="none" strike="noStrike" kern="120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  <a:alpha val="15000"/>
                    </a:prstClr>
                  </a:gs>
                  <a:gs pos="100000">
                    <a:srgbClr val="01D5F0">
                      <a:lumMod val="100000"/>
                      <a:alpha val="37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40" name="方能演亦38" descr="ee560e7170c2de6a6110fed8009b08e79de78258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-547370" y="1199515"/>
            <a:ext cx="6296025" cy="1086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pic>
        <p:nvPicPr>
          <p:cNvPr id="6" name="图片 170" descr="ai_timeline.png"/>
          <p:cNvPicPr>
            <a:picLocks noChangeAspect="1"/>
          </p:cNvPicPr>
          <p:nvPr/>
        </p:nvPicPr>
        <p:blipFill>
          <a:blip r:embed="rId3"/>
          <a:srcRect r="557"/>
          <a:stretch>
            <a:fillRect/>
          </a:stretch>
        </p:blipFill>
        <p:spPr>
          <a:xfrm>
            <a:off x="-120650" y="1612900"/>
            <a:ext cx="4854478" cy="3022599"/>
          </a:xfrm>
          <a:prstGeom prst="rect">
            <a:avLst/>
          </a:prstGeom>
        </p:spPr>
      </p:pic>
      <p:sp>
        <p:nvSpPr>
          <p:cNvPr id="7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8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AI发展时间线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六大关键时代，从1956年至今的完整蜕变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1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2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3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4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5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8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20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17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2" name="图片 18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3" name="图片 19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4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5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6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7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8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9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30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 i="0" dirty="0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1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2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33" name="图片 4" descr="3987da06b173ce7c4b293959a4f5f855c25a30a4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4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5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全景概述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6" name="图片 85" descr="491791d0a3fbe71cfa1ebef6bc3d17e41103a27b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7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5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6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sp>
        <p:nvSpPr>
          <p:cNvPr id="6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7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符号主义起源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达特茅斯会议与感知机的奠基历程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0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1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2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3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4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7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8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0" name="图片 17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1" name="图片 18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2" name="图片 19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3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4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5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6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/>
        </p:txBody>
      </p:sp>
      <p:sp>
        <p:nvSpPr>
          <p:cNvPr id="27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/>
        </p:txBody>
      </p:sp>
      <p:sp>
        <p:nvSpPr>
          <p:cNvPr id="28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/>
        </p:txBody>
      </p:sp>
      <p:sp>
        <p:nvSpPr>
          <p:cNvPr id="29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/>
        </p:txBody>
      </p:sp>
      <p:sp>
        <p:nvSpPr>
          <p:cNvPr id="30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/>
        </p:txBody>
      </p:sp>
      <p:sp>
        <p:nvSpPr>
          <p:cNvPr id="31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/>
        </p:txBody>
      </p:sp>
      <p:pic>
        <p:nvPicPr>
          <p:cNvPr id="32" name="图片 4" descr="3987da06b173ce7c4b293959a4f5f855c25a30a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3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4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早期AI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5" name="图片 85" descr="491791d0a3fbe71cfa1ebef6bc3d17e41103a27b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6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7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5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pic>
        <p:nvPicPr>
          <p:cNvPr id="6" name="图片 170" descr="technology_evolution.png"/>
          <p:cNvPicPr>
            <a:picLocks noChangeAspect="1"/>
          </p:cNvPicPr>
          <p:nvPr/>
        </p:nvPicPr>
        <p:blipFill>
          <a:blip r:embed="rId3"/>
          <a:srcRect r="557"/>
          <a:stretch>
            <a:fillRect/>
          </a:stretch>
        </p:blipFill>
        <p:spPr>
          <a:xfrm>
            <a:off x="-120650" y="1612900"/>
            <a:ext cx="4555636" cy="3022600"/>
          </a:xfrm>
          <a:prstGeom prst="rect">
            <a:avLst/>
          </a:prstGeom>
        </p:spPr>
      </p:pic>
      <p:sp>
        <p:nvSpPr>
          <p:cNvPr id="7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8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范式革命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从手工编码规则转向数据驱动学习的根本性变革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1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2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3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4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5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8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20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17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2" name="图片 18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3" name="图片 19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4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5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6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7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8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9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30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 i="0" dirty="0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1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2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33" name="图片 4" descr="3987da06b173ce7c4b293959a4f5f855c25a30a4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4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5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机器学习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6" name="图片 85" descr="491791d0a3fbe71cfa1ebef6bc3d17e41103a27b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7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5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6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sp>
        <p:nvSpPr>
          <p:cNvPr id="6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7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大语言模型时代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Transformer架构、GPT系列与ChatGPT的历史性时刻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0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1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2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3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4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7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8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0" name="图片 17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1" name="图片 18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2" name="图片 19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3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4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5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6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/>
        </p:txBody>
      </p:sp>
      <p:sp>
        <p:nvSpPr>
          <p:cNvPr id="27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/>
        </p:txBody>
      </p:sp>
      <p:sp>
        <p:nvSpPr>
          <p:cNvPr id="28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/>
        </p:txBody>
      </p:sp>
      <p:sp>
        <p:nvSpPr>
          <p:cNvPr id="29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/>
        </p:txBody>
      </p:sp>
      <p:sp>
        <p:nvSpPr>
          <p:cNvPr id="30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/>
        </p:txBody>
      </p:sp>
      <p:sp>
        <p:nvSpPr>
          <p:cNvPr id="31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/>
        </p:txBody>
      </p:sp>
      <p:pic>
        <p:nvPicPr>
          <p:cNvPr id="32" name="图片 4" descr="3987da06b173ce7c4b293959a4f5f855c25a30a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3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4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第四章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5" name="图片 85" descr="491791d0a3fbe71cfa1ebef6bc3d17e41103a27b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6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7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5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 descr="ee02790fc46d9917c63157d675acace32509ddb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4" name="椭圆 28"/>
          <p:cNvSpPr/>
          <p:nvPr/>
        </p:nvSpPr>
        <p:spPr>
          <a:xfrm>
            <a:off x="1140136" y="149"/>
            <a:ext cx="8275186" cy="6575323"/>
          </a:xfrm>
          <a:prstGeom prst="ellipse">
            <a:avLst/>
          </a:prstGeom>
          <a:solidFill>
            <a:schemeClr val="accent5">
              <a:lumMod val="50000"/>
              <a:alpha val="18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" name="任意多边形: 形状 54"/>
          <p:cNvSpPr/>
          <p:nvPr/>
        </p:nvSpPr>
        <p:spPr>
          <a:xfrm>
            <a:off x="0" y="1640527"/>
            <a:ext cx="12192000" cy="1530541"/>
          </a:xfrm>
          <a:custGeom>
            <a:avLst/>
            <a:gdLst>
              <a:gd name="connsiteX0" fmla="*/ 10532588 w 12192000"/>
              <a:gd name="connsiteY0" fmla="*/ 601 h 1530541"/>
              <a:gd name="connsiteX1" fmla="*/ 11958150 w 12192000"/>
              <a:gd name="connsiteY1" fmla="*/ 142130 h 1530541"/>
              <a:gd name="connsiteX2" fmla="*/ 12192000 w 12192000"/>
              <a:gd name="connsiteY2" fmla="*/ 201947 h 1530541"/>
              <a:gd name="connsiteX3" fmla="*/ 12192000 w 12192000"/>
              <a:gd name="connsiteY3" fmla="*/ 1102573 h 1530541"/>
              <a:gd name="connsiteX4" fmla="*/ 11954622 w 12192000"/>
              <a:gd name="connsiteY4" fmla="*/ 1008653 h 1530541"/>
              <a:gd name="connsiteX5" fmla="*/ 186394 w 12192000"/>
              <a:gd name="connsiteY5" fmla="*/ 1456934 h 1530541"/>
              <a:gd name="connsiteX6" fmla="*/ 0 w 12192000"/>
              <a:gd name="connsiteY6" fmla="*/ 1420189 h 1530541"/>
              <a:gd name="connsiteX7" fmla="*/ 0 w 12192000"/>
              <a:gd name="connsiteY7" fmla="*/ 333209 h 1530541"/>
              <a:gd name="connsiteX8" fmla="*/ 151671 w 12192000"/>
              <a:gd name="connsiteY8" fmla="*/ 395549 h 1530541"/>
              <a:gd name="connsiteX9" fmla="*/ 10532588 w 12192000"/>
              <a:gd name="connsiteY9" fmla="*/ 601 h 1530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530541">
                <a:moveTo>
                  <a:pt x="10532588" y="601"/>
                </a:moveTo>
                <a:cubicBezTo>
                  <a:pt x="11001483" y="-5534"/>
                  <a:pt x="11474788" y="34922"/>
                  <a:pt x="11958150" y="142130"/>
                </a:cubicBezTo>
                <a:lnTo>
                  <a:pt x="12192000" y="201947"/>
                </a:lnTo>
                <a:lnTo>
                  <a:pt x="12192000" y="1102573"/>
                </a:lnTo>
                <a:lnTo>
                  <a:pt x="11954622" y="1008653"/>
                </a:lnTo>
                <a:cubicBezTo>
                  <a:pt x="8163436" y="-351877"/>
                  <a:pt x="3299842" y="1962606"/>
                  <a:pt x="186394" y="1456934"/>
                </a:cubicBezTo>
                <a:lnTo>
                  <a:pt x="0" y="1420189"/>
                </a:lnTo>
                <a:lnTo>
                  <a:pt x="0" y="333209"/>
                </a:lnTo>
                <a:lnTo>
                  <a:pt x="151671" y="395549"/>
                </a:lnTo>
                <a:cubicBezTo>
                  <a:pt x="4513268" y="2126845"/>
                  <a:pt x="7426157" y="41250"/>
                  <a:pt x="10532588" y="601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47000">
                <a:schemeClr val="bg1">
                  <a:alpha val="0"/>
                </a:schemeClr>
              </a:gs>
              <a:gs pos="86000">
                <a:srgbClr val="57CDE9">
                  <a:alpha val="20000"/>
                </a:srgbClr>
              </a:gs>
              <a:gs pos="22000">
                <a:srgbClr val="57CDE9">
                  <a:alpha val="20000"/>
                </a:srgbClr>
              </a:gs>
              <a:gs pos="100000">
                <a:schemeClr val="accent1">
                  <a:alpha val="7000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>
            <a:lvl1pPr>
              <a:defRPr/>
            </a:lvl1pPr>
          </a:lstStyle>
          <a:p>
            <a:pPr marL="0" marR="0" lvl="0" indent="0" algn="ct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文本框 27"/>
          <p:cNvSpPr txBox="1"/>
          <p:nvPr>
            <p:custDataLst>
              <p:tags r:id="rId2"/>
            </p:custDataLst>
          </p:nvPr>
        </p:nvSpPr>
        <p:spPr>
          <a:xfrm>
            <a:off x="2132965" y="1548130"/>
            <a:ext cx="2503805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谢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pic>
        <p:nvPicPr>
          <p:cNvPr id="7" name="图片 30" descr="0d3bdf31851bbfb57f56c6b5903aea92d0e6b916.png"/>
          <p:cNvPicPr>
            <a:picLocks noChangeAspect="1"/>
          </p:cNvPicPr>
          <p:nvPr/>
        </p:nvPicPr>
        <p:blipFill>
          <a:blip r:embed="rId3"/>
          <a:srcRect b="29119" t="30422"/>
          <a:stretch>
            <a:fillRect/>
          </a:stretch>
        </p:blipFill>
        <p:spPr>
          <a:xfrm>
            <a:off x="109220" y="372745"/>
            <a:ext cx="2190115" cy="709295"/>
          </a:xfrm>
          <a:prstGeom prst="rect">
            <a:avLst/>
          </a:prstGeom>
        </p:spPr>
      </p:pic>
      <p:sp>
        <p:nvSpPr>
          <p:cNvPr id="8" name="文本框 10"/>
          <p:cNvSpPr txBox="1"/>
          <p:nvPr>
            <p:custDataLst>
              <p:tags r:id="rId4"/>
            </p:custDataLst>
          </p:nvPr>
        </p:nvSpPr>
        <p:spPr>
          <a:xfrm>
            <a:off x="4210685" y="185674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谢</a:t>
            </a:r>
            <a:endParaRPr kumimoji="0" lang="zh-CN" altLang="en-US" sz="16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sp>
        <p:nvSpPr>
          <p:cNvPr id="9" name="文本框 11"/>
          <p:cNvSpPr txBox="1"/>
          <p:nvPr>
            <p:custDataLst>
              <p:tags r:id="rId5"/>
            </p:custDataLst>
          </p:nvPr>
        </p:nvSpPr>
        <p:spPr>
          <a:xfrm>
            <a:off x="7162800" y="1530985"/>
            <a:ext cx="2136140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！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pic>
        <p:nvPicPr>
          <p:cNvPr id="10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42920" y="1385570"/>
            <a:ext cx="1375410" cy="1232535"/>
          </a:xfrm>
          <a:prstGeom prst="rect">
            <a:avLst/>
          </a:prstGeom>
        </p:spPr>
      </p:pic>
      <p:sp>
        <p:nvSpPr>
          <p:cNvPr id="11" name="文本框 13"/>
          <p:cNvSpPr txBox="1"/>
          <p:nvPr/>
        </p:nvSpPr>
        <p:spPr>
          <a:xfrm>
            <a:off x="1492250" y="3851275"/>
            <a:ext cx="8965565" cy="85344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>
            <a:reflection blurRad="25400" stA="20000" endPos="35000" dir="5400000" sy="-100000" algn="bl" rotWithShape="0"/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b="1">
                <a:gradFill flip="none" rotWithShape="1">
                  <a:gsLst>
                    <a:gs pos="0">
                      <a:srgbClr val="BFBFBF"/>
                    </a:gs>
                    <a:gs pos="50000">
                      <a:srgbClr val="016DFF">
                        <a:lumMod val="20000"/>
                        <a:lumOff val="80000"/>
                      </a:srgbClr>
                    </a:gs>
                    <a:gs pos="100000">
                      <a:srgbClr val="BFBFBF"/>
                    </a:gs>
                  </a:gsLst>
                  <a:lin ang="13500000" scaled="1"/>
                  <a:tileRect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defRPr>
            </a:lvl1pPr>
            <a:lvl2pPr>
              <a:defRPr>
                <a:solidFill>
                  <a:sysClr val="window" lastClr="FFFFFF"/>
                </a:solidFill>
              </a:defRPr>
            </a:lvl2pPr>
            <a:lvl3pPr>
              <a:defRPr>
                <a:solidFill>
                  <a:sysClr val="window" lastClr="FFFFFF"/>
                </a:solidFill>
              </a:defRPr>
            </a:lvl3pPr>
            <a:lvl4pPr>
              <a:defRPr>
                <a:solidFill>
                  <a:sysClr val="window" lastClr="FFFFFF"/>
                </a:solidFill>
              </a:defRPr>
            </a:lvl4pPr>
            <a:lvl5pPr>
              <a:defRPr>
                <a:solidFill>
                  <a:sysClr val="window" lastClr="FFFFFF"/>
                </a:solidFill>
              </a:defRPr>
            </a:lvl5pPr>
            <a:lvl6pPr>
              <a:defRPr>
                <a:solidFill>
                  <a:sysClr val="window" lastClr="FFFFFF"/>
                </a:solidFill>
              </a:defRPr>
            </a:lvl6pPr>
            <a:lvl7pPr>
              <a:defRPr>
                <a:solidFill>
                  <a:sysClr val="window" lastClr="FFFFFF"/>
                </a:solidFill>
              </a:defRPr>
            </a:lvl7pPr>
            <a:lvl8pPr>
              <a:defRPr>
                <a:solidFill>
                  <a:sysClr val="window" lastClr="FFFFFF"/>
                </a:solidFill>
              </a:defRPr>
            </a:lvl8pPr>
            <a:lvl9pPr>
              <a:defRPr>
                <a:solidFill>
                  <a:sysClr val="window" lastClr="FFFFFF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思源黑体 CN Bold" panose="020B0800000000000000" charset="-122"/>
              </a:rPr>
              <a:t>感谢您的聆听与关注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90000"/>
                </a:prstClr>
              </a:soli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思源黑体 CN Bold" panose="020B0800000000000000" charset="-122"/>
            </a:endParaRPr>
          </a:p>
        </p:txBody>
      </p:sp>
      <p:pic>
        <p:nvPicPr>
          <p:cNvPr id="12" name="图片 67" descr="a95cfcf3ae08df5f8694d12d5e765eeaee74aca2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23885" y="1318895"/>
            <a:ext cx="3030220" cy="2564765"/>
          </a:xfrm>
          <a:prstGeom prst="rect">
            <a:avLst/>
          </a:prstGeom>
        </p:spPr>
      </p:pic>
      <p:pic>
        <p:nvPicPr>
          <p:cNvPr id="13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53380" y="2464435"/>
            <a:ext cx="802005" cy="718185"/>
          </a:xfrm>
          <a:prstGeom prst="rect">
            <a:avLst/>
          </a:prstGeom>
        </p:spPr>
      </p:pic>
      <p:sp>
        <p:nvSpPr>
          <p:cNvPr id="14" name="文本框 16"/>
          <p:cNvSpPr txBox="1"/>
          <p:nvPr>
            <p:custDataLst>
              <p:tags r:id="rId9"/>
            </p:custDataLst>
          </p:nvPr>
        </p:nvSpPr>
        <p:spPr>
          <a:xfrm>
            <a:off x="6040755" y="182880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谢</a:t>
            </a:r>
            <a:endParaRPr kumimoji="0" lang="zh-CN" altLang="en-US" sz="16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sp>
        <p:nvSpPr>
          <p:cNvPr id="15" name="Text 15"/>
          <p:cNvSpPr/>
          <p:nvPr/>
        </p:nvSpPr>
        <p:spPr>
          <a:xfrm>
            <a:off x="9076879" y="6019800"/>
            <a:ext cx="2733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30000"/>
              </a:lnSpc>
              <a:defRPr/>
            </a:pPr>
            <a:r>
              <a:rPr lang="en-US" sz="120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lang="en-US" sz="120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6"/>
          <p:cNvSpPr/>
          <p:nvPr/>
        </p:nvSpPr>
        <p:spPr>
          <a:xfrm>
            <a:off x="9086404" y="6286500"/>
            <a:ext cx="2724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20000"/>
              </a:lnSpc>
              <a:defRPr/>
            </a:pPr>
            <a:r>
              <a:rPr lang="en-US" sz="105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/>
            </a:r>
            <a:endParaRPr lang="en-US" sz="105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17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91255" y="4110990"/>
            <a:ext cx="4801235" cy="1086485"/>
          </a:xfrm>
          <a:prstGeom prst="rect">
            <a:avLst/>
          </a:prstGeom>
        </p:spPr>
      </p:pic>
      <p:pic>
        <p:nvPicPr>
          <p:cNvPr id="18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878695" y="3387725"/>
            <a:ext cx="1375410" cy="1232535"/>
          </a:xfrm>
          <a:prstGeom prst="rect">
            <a:avLst/>
          </a:prstGeom>
        </p:spPr>
      </p:pic>
      <p:pic>
        <p:nvPicPr>
          <p:cNvPr id="19" name="Picture 20" descr="6b99f09471617f824bc2e8a0fc03eae5c6fc5de2.png"/>
          <p:cNvPicPr>
            <a:picLocks noChangeAspect="1"/>
          </p:cNvPicPr>
          <p:nvPr/>
        </p:nvPicPr>
        <p:blipFill>
          <a:blip r:embed="rId7"/>
          <a:srcRect b="34249" t="22435" l="8228"/>
          <a:stretch>
            <a:fillRect/>
          </a:stretch>
        </p:blipFill>
        <p:spPr>
          <a:xfrm>
            <a:off x="9779635" y="395605"/>
            <a:ext cx="2145665" cy="667385"/>
          </a:xfrm>
          <a:prstGeom prst="rect">
            <a:avLst/>
          </a:prstGeom>
        </p:spPr>
      </p:pic>
      <p:sp>
        <p:nvSpPr>
          <p:cNvPr id="20" name="平行四边形 60"/>
          <p:cNvSpPr/>
          <p:nvPr/>
        </p:nvSpPr>
        <p:spPr>
          <a:xfrm>
            <a:off x="-1715770" y="3890645"/>
            <a:ext cx="12302945" cy="671371"/>
          </a:xfrm>
          <a:prstGeom prst="parallelogram">
            <a:avLst>
              <a:gd name="adj" fmla="val 57653"/>
            </a:avLst>
          </a:prstGeom>
          <a:gradFill flip="none" rotWithShape="1">
            <a:gsLst>
              <a:gs pos="19000">
                <a:srgbClr val="00C1FF">
                  <a:alpha val="0"/>
                </a:srgbClr>
              </a:gs>
              <a:gs pos="100000">
                <a:sysClr val="window" lastClr="FFFFFF">
                  <a:alpha val="40000"/>
                </a:sys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1" name="平行四边形 61"/>
          <p:cNvSpPr/>
          <p:nvPr/>
        </p:nvSpPr>
        <p:spPr>
          <a:xfrm>
            <a:off x="-1602560" y="3964128"/>
            <a:ext cx="12302945" cy="671371"/>
          </a:xfrm>
          <a:prstGeom prst="parallelogram">
            <a:avLst>
              <a:gd name="adj" fmla="val 57653"/>
            </a:avLst>
          </a:prstGeom>
          <a:noFill/>
          <a:ln w="6350" cap="flat" cmpd="sng" algn="ctr">
            <a:gradFill flip="none" rotWithShape="1">
              <a:gsLst>
                <a:gs pos="22000">
                  <a:srgbClr val="016DFF">
                    <a:lumMod val="5000"/>
                    <a:lumOff val="95000"/>
                    <a:alpha val="0"/>
                  </a:srgbClr>
                </a:gs>
                <a:gs pos="100000">
                  <a:srgbClr val="00C1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2" name="文本框 9"/>
          <p:cNvSpPr txBox="1"/>
          <p:nvPr>
            <p:custDataLst>
              <p:tags r:id="rId10"/>
            </p:custDataLst>
          </p:nvPr>
        </p:nvSpPr>
        <p:spPr>
          <a:xfrm>
            <a:off x="6787074" y="5415036"/>
            <a:ext cx="1925082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14"/>
          <p:cNvSpPr txBox="1"/>
          <p:nvPr>
            <p:custDataLst>
              <p:tags r:id="rId11"/>
            </p:custDataLst>
          </p:nvPr>
        </p:nvSpPr>
        <p:spPr>
          <a:xfrm>
            <a:off x="3125788" y="5415036"/>
            <a:ext cx="2882809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: 圆角 62"/>
          <p:cNvSpPr/>
          <p:nvPr/>
        </p:nvSpPr>
        <p:spPr>
          <a:xfrm>
            <a:off x="3125788" y="4902200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: 圆角 9215"/>
          <p:cNvSpPr/>
          <p:nvPr/>
        </p:nvSpPr>
        <p:spPr>
          <a:xfrm>
            <a:off x="6183403" y="4915367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3727768" y="572123"/>
            <a:ext cx="4544060" cy="409275"/>
          </a:xfrm>
          <a:custGeom>
            <a:avLst/>
            <a:gdLst/>
            <a:ahLst/>
            <a:cxnLst/>
            <a:rect l="l" t="t" r="r" b="b"/>
            <a:pathLst>
              <a:path w="3895725" h="428625">
                <a:moveTo>
                  <a:pt x="214313" y="0"/>
                </a:moveTo>
                <a:lnTo>
                  <a:pt x="3681413" y="0"/>
                </a:lnTo>
                <a:cubicBezTo>
                  <a:pt x="3799695" y="0"/>
                  <a:pt x="3895725" y="96030"/>
                  <a:pt x="3895725" y="214313"/>
                </a:cubicBezTo>
                <a:lnTo>
                  <a:pt x="3895725" y="214313"/>
                </a:lnTo>
                <a:cubicBezTo>
                  <a:pt x="3895725" y="332595"/>
                  <a:pt x="3799695" y="428625"/>
                  <a:pt x="36814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7" name="Text 2"/>
          <p:cNvSpPr/>
          <p:nvPr/>
        </p:nvSpPr>
        <p:spPr>
          <a:xfrm>
            <a:off x="3619818" y="640018"/>
            <a:ext cx="4761230" cy="2360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b="1" kern="0" spc="68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lt"/>
              </a:rPr>
              <a:t>AI COMMERCIALIZATION INNOVATION</a:t>
            </a:r>
            <a:endParaRPr lang="en-US" b="1" kern="0" spc="68" dirty="0">
              <a:solidFill>
                <a:schemeClr val="bg1"/>
              </a:solidFill>
              <a:latin typeface="+mj-lt"/>
              <a:ea typeface="Arial" panose="020B0604020202020204" pitchFamily="34" charset="0"/>
              <a:cs typeface="+mj-lt"/>
            </a:endParaRPr>
          </a:p>
        </p:txBody>
      </p:sp>
      <p:pic>
        <p:nvPicPr>
          <p:cNvPr id="28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789363" y="556260"/>
            <a:ext cx="4112895" cy="867410"/>
          </a:xfrm>
          <a:prstGeom prst="rect">
            <a:avLst/>
          </a:prstGeom>
        </p:spPr>
      </p:pic>
      <p:sp>
        <p:nvSpPr>
          <p:cNvPr id="29" name="燕尾形 47"/>
          <p:cNvSpPr/>
          <p:nvPr/>
        </p:nvSpPr>
        <p:spPr>
          <a:xfrm>
            <a:off x="29511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0" name="燕尾形 49"/>
          <p:cNvSpPr/>
          <p:nvPr/>
        </p:nvSpPr>
        <p:spPr>
          <a:xfrm>
            <a:off x="32813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1" name="燕尾形 51"/>
          <p:cNvSpPr/>
          <p:nvPr/>
        </p:nvSpPr>
        <p:spPr>
          <a:xfrm>
            <a:off x="2620963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2" name="燕尾形 53"/>
          <p:cNvSpPr/>
          <p:nvPr/>
        </p:nvSpPr>
        <p:spPr>
          <a:xfrm>
            <a:off x="89106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3" name="燕尾形 54"/>
          <p:cNvSpPr/>
          <p:nvPr/>
        </p:nvSpPr>
        <p:spPr>
          <a:xfrm>
            <a:off x="92408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4" name="燕尾形 55"/>
          <p:cNvSpPr/>
          <p:nvPr/>
        </p:nvSpPr>
        <p:spPr>
          <a:xfrm>
            <a:off x="8580438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5" name="Shape 11"/>
          <p:cNvSpPr/>
          <p:nvPr/>
        </p:nvSpPr>
        <p:spPr>
          <a:xfrm>
            <a:off x="8492490" y="6057900"/>
            <a:ext cx="447040" cy="447040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9AFDA">
              <a:alpha val="30000"/>
            </a:srgbClr>
          </a:solidFill>
          <a:ln w="12700">
            <a:solidFill>
              <a:srgbClr val="57CDE9">
                <a:alpha val="50196"/>
              </a:srgbClr>
            </a:solidFill>
            <a:prstDash val="solid"/>
          </a:ln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6" name="Shape 12"/>
          <p:cNvSpPr/>
          <p:nvPr/>
        </p:nvSpPr>
        <p:spPr>
          <a:xfrm>
            <a:off x="8620578" y="6185988"/>
            <a:ext cx="190229" cy="190229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gradFill>
            <a:gsLst>
              <a:gs pos="0">
                <a:srgbClr val="0189FF"/>
              </a:gs>
              <a:gs pos="50000">
                <a:srgbClr val="57CDE9"/>
              </a:gs>
              <a:gs pos="100000">
                <a:srgbClr val="57CDE9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>
</file>

<file path=ppt/tags/tag157.xml><?xml version="1.0" encoding="utf-8"?>
<p:tagLst xmlns:p="http://schemas.openxmlformats.org/presentationml/2006/main">
  <p:tag name="RESOURCE_RECORD_KEY" val="{&quot;29&quot;:[50000054,50000077]}"/>
  <p:tag name="COMMONDATA" val="eyJoZGlkIjoiYjI4ZjAxMGM5NjY4NzUxMzhlZmYzOTIyMmZjY2M5ZD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9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0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1885</Words>
  <Application>WPS 演示</Application>
  <PresentationFormat>宽屏</PresentationFormat>
  <Paragraphs>317</Paragraphs>
  <Slides>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7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云峰飞云体</vt:lpstr>
      <vt:lpstr>思源黑体 CN Bold</vt:lpstr>
      <vt:lpstr>黑体</vt:lpstr>
      <vt:lpstr>字体圈欣意冠黑体</vt:lpstr>
      <vt:lpstr>优设标题黑</vt:lpstr>
      <vt:lpstr>思源宋体 CN Heavy</vt:lpstr>
      <vt:lpstr>Arial Unicode MS</vt:lpstr>
      <vt:lpstr>思源黑体 CN Bold</vt:lpstr>
      <vt:lpstr>方正大黑体_GBK</vt:lpstr>
      <vt:lpstr>Office 主题​​</vt:lpstr>
      <vt:lpstr>默认主题</vt:lpstr>
      <vt:lpstr>1_默认主题</vt:lpstr>
      <vt:lpstr>7_默认主题</vt:lpstr>
      <vt:lpstr>9_默认主题</vt:lpstr>
      <vt:lpstr>10_默认主题</vt:lpstr>
      <vt:lpstr>8_默认主题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菜菜猪</dc:creator>
  <cp:lastModifiedBy>PPTAgent</cp:lastModifiedBy>
  <cp:revision>8</cp:revision>
  <dcterms:created xsi:type="dcterms:W3CDTF">2026-03-23T10:57:00Z</dcterms:created>
  <dcterms:modified xsi:type="dcterms:W3CDTF">2026-04-13T14:56:45Z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84EBDB4078E04D208301AD0BA15A8072_13</vt:lpwstr>
  </property>
  <property fmtid="{D5CDD505-2E9C-101B-9397-08002B2CF9AE}" pid="3" name="KSOProductBuildVer">
    <vt:lpwstr>2052-12.1.0.25225</vt:lpwstr>
  </property>
</Properties>
</file>