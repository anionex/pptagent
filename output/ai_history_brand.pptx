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1"/>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7FB"/>
          </a:solidFill>
        </a:fill>
      </a:tcStyle>
    </a:wholeTbl>
    <a:band2H>
      <a:tcTxStyle b="def" i="def"/>
      <a:tcStyle>
        <a:tcBdr/>
        <a:fill>
          <a:solidFill>
            <a:srgbClr val="E6ECF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7FB"/>
          </a:solidFill>
        </a:fill>
      </a:tcStyle>
    </a:wholeTbl>
    <a:band2H>
      <a:tcTxStyle b="def" i="def"/>
      <a:tcStyle>
        <a:tcBdr/>
        <a:fill>
          <a:solidFill>
            <a:srgbClr val="E6ECF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E0FF"/>
          </a:solidFill>
        </a:fill>
      </a:tcStyle>
    </a:wholeTbl>
    <a:band2H>
      <a:tcTxStyle b="def" i="def"/>
      <a:tcStyle>
        <a:tcBdr/>
        <a:fill>
          <a:solidFill>
            <a:srgbClr val="E8F0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2"/>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2"/>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2"/>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72" name="Shape 72"/>
          <p:cNvSpPr/>
          <p:nvPr>
            <p:ph type="sldImg"/>
          </p:nvPr>
        </p:nvSpPr>
        <p:spPr>
          <a:xfrm>
            <a:off x="1143000" y="685800"/>
            <a:ext cx="4572000" cy="3429000"/>
          </a:xfrm>
          <a:prstGeom prst="rect">
            <a:avLst/>
          </a:prstGeom>
        </p:spPr>
        <p:txBody>
          <a:bodyPr/>
          <a:lstStyle/>
          <a:p>
            <a:pPr/>
          </a:p>
        </p:txBody>
      </p:sp>
      <p:sp>
        <p:nvSpPr>
          <p:cNvPr id="73" name="Shape 7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思源黑体 CN Normal"/>
      </a:defRPr>
    </a:lvl1pPr>
    <a:lvl2pPr indent="228600" latinLnBrk="0">
      <a:defRPr sz="1200">
        <a:latin typeface="+mn-lt"/>
        <a:ea typeface="+mn-ea"/>
        <a:cs typeface="+mn-cs"/>
        <a:sym typeface="思源黑体 CN Normal"/>
      </a:defRPr>
    </a:lvl2pPr>
    <a:lvl3pPr indent="457200" latinLnBrk="0">
      <a:defRPr sz="1200">
        <a:latin typeface="+mn-lt"/>
        <a:ea typeface="+mn-ea"/>
        <a:cs typeface="+mn-cs"/>
        <a:sym typeface="思源黑体 CN Normal"/>
      </a:defRPr>
    </a:lvl3pPr>
    <a:lvl4pPr indent="685800" latinLnBrk="0">
      <a:defRPr sz="1200">
        <a:latin typeface="+mn-lt"/>
        <a:ea typeface="+mn-ea"/>
        <a:cs typeface="+mn-cs"/>
        <a:sym typeface="思源黑体 CN Normal"/>
      </a:defRPr>
    </a:lvl4pPr>
    <a:lvl5pPr indent="914400" latinLnBrk="0">
      <a:defRPr sz="1200">
        <a:latin typeface="+mn-lt"/>
        <a:ea typeface="+mn-ea"/>
        <a:cs typeface="+mn-cs"/>
        <a:sym typeface="思源黑体 CN Normal"/>
      </a:defRPr>
    </a:lvl5pPr>
    <a:lvl6pPr indent="1143000" latinLnBrk="0">
      <a:defRPr sz="1200">
        <a:latin typeface="+mn-lt"/>
        <a:ea typeface="+mn-ea"/>
        <a:cs typeface="+mn-cs"/>
        <a:sym typeface="思源黑体 CN Normal"/>
      </a:defRPr>
    </a:lvl6pPr>
    <a:lvl7pPr indent="1371600" latinLnBrk="0">
      <a:defRPr sz="1200">
        <a:latin typeface="+mn-lt"/>
        <a:ea typeface="+mn-ea"/>
        <a:cs typeface="+mn-cs"/>
        <a:sym typeface="思源黑体 CN Normal"/>
      </a:defRPr>
    </a:lvl7pPr>
    <a:lvl8pPr indent="1600200" latinLnBrk="0">
      <a:defRPr sz="1200">
        <a:latin typeface="+mn-lt"/>
        <a:ea typeface="+mn-ea"/>
        <a:cs typeface="+mn-cs"/>
        <a:sym typeface="思源黑体 CN Normal"/>
      </a:defRPr>
    </a:lvl8pPr>
    <a:lvl9pPr indent="1828800" latinLnBrk="0">
      <a:defRPr sz="1200">
        <a:latin typeface="+mn-lt"/>
        <a:ea typeface="+mn-ea"/>
        <a:cs typeface="+mn-cs"/>
        <a:sym typeface="思源黑体 CN Norm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1ppt.com/xiazai/" TargetMode="Externa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标题幻灯片">
    <p:spTree>
      <p:nvGrpSpPr>
        <p:cNvPr id="1" name=""/>
        <p:cNvGrpSpPr/>
        <p:nvPr/>
      </p:nvGrpSpPr>
      <p:grpSpPr>
        <a:xfrm>
          <a:off x="0" y="0"/>
          <a:ext cx="0" cy="0"/>
          <a:chOff x="0" y="0"/>
          <a:chExt cx="0" cy="0"/>
        </a:xfrm>
      </p:grpSpPr>
      <p:sp>
        <p:nvSpPr>
          <p:cNvPr id="15"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自定义版式">
    <p:spTree>
      <p:nvGrpSpPr>
        <p:cNvPr id="1" name=""/>
        <p:cNvGrpSpPr/>
        <p:nvPr/>
      </p:nvGrpSpPr>
      <p:grpSpPr>
        <a:xfrm>
          <a:off x="0" y="0"/>
          <a:ext cx="0" cy="0"/>
          <a:chOff x="0" y="0"/>
          <a:chExt cx="0" cy="0"/>
        </a:xfrm>
      </p:grpSpPr>
      <p:sp>
        <p:nvSpPr>
          <p:cNvPr id="22"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自定义版式">
    <p:spTree>
      <p:nvGrpSpPr>
        <p:cNvPr id="1" name=""/>
        <p:cNvGrpSpPr/>
        <p:nvPr/>
      </p:nvGrpSpPr>
      <p:grpSpPr>
        <a:xfrm>
          <a:off x="0" y="0"/>
          <a:ext cx="0" cy="0"/>
          <a:chOff x="0" y="0"/>
          <a:chExt cx="0" cy="0"/>
        </a:xfrm>
      </p:grpSpPr>
      <p:pic>
        <p:nvPicPr>
          <p:cNvPr id="29" name="图片 11" descr="图片 11"/>
          <p:cNvPicPr>
            <a:picLocks noChangeAspect="1"/>
          </p:cNvPicPr>
          <p:nvPr/>
        </p:nvPicPr>
        <p:blipFill>
          <a:blip r:embed="rId2">
            <a:extLst/>
          </a:blip>
          <a:stretch>
            <a:fillRect/>
          </a:stretch>
        </p:blipFill>
        <p:spPr>
          <a:xfrm>
            <a:off x="0" y="12700"/>
            <a:ext cx="12192000" cy="6832600"/>
          </a:xfrm>
          <a:prstGeom prst="rect">
            <a:avLst/>
          </a:prstGeom>
          <a:ln w="12700">
            <a:miter lim="400000"/>
          </a:ln>
        </p:spPr>
      </p:pic>
      <p:sp>
        <p:nvSpPr>
          <p:cNvPr id="30" name="图形"/>
          <p:cNvSpPr/>
          <p:nvPr/>
        </p:nvSpPr>
        <p:spPr>
          <a:xfrm>
            <a:off x="267652" y="321945"/>
            <a:ext cx="11656696" cy="6214110"/>
          </a:xfrm>
          <a:prstGeom prst="roundRect">
            <a:avLst>
              <a:gd name="adj" fmla="val 4574"/>
            </a:avLst>
          </a:prstGeom>
          <a:gradFill>
            <a:gsLst>
              <a:gs pos="0">
                <a:srgbClr val="E1F2FF"/>
              </a:gs>
              <a:gs pos="100000">
                <a:srgbClr val="FFFFFF"/>
              </a:gs>
            </a:gsLst>
            <a:lin ang="16200000"/>
          </a:gradFill>
          <a:ln w="12700">
            <a:miter lim="400000"/>
          </a:ln>
          <a:effectLst>
            <a:outerShdw sx="100000" sy="100000" kx="0" ky="0" algn="b" rotWithShape="0" blurRad="50800" dist="38100" dir="5400000">
              <a:srgbClr val="000000">
                <a:alpha val="23000"/>
              </a:srgbClr>
            </a:outerShdw>
          </a:effectLst>
        </p:spPr>
        <p:txBody>
          <a:bodyPr lIns="45719" rIns="45719" anchor="ctr"/>
          <a:lstStyle/>
          <a:p>
            <a:pPr algn="ctr">
              <a:defRPr>
                <a:solidFill>
                  <a:srgbClr val="FFFFFF"/>
                </a:solidFill>
              </a:defRPr>
            </a:pPr>
          </a:p>
        </p:txBody>
      </p:sp>
      <p:sp>
        <p:nvSpPr>
          <p:cNvPr id="31" name="图形"/>
          <p:cNvSpPr txBox="1"/>
          <p:nvPr/>
        </p:nvSpPr>
        <p:spPr>
          <a:xfrm>
            <a:off x="313690" y="-12701"/>
            <a:ext cx="1666240" cy="1437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88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r>
              <a:t>02</a:t>
            </a:r>
          </a:p>
        </p:txBody>
      </p:sp>
      <p:sp>
        <p:nvSpPr>
          <p:cNvPr id="32" name="图形"/>
          <p:cNvSpPr txBox="1"/>
          <p:nvPr/>
        </p:nvSpPr>
        <p:spPr>
          <a:xfrm>
            <a:off x="722629" y="464819"/>
            <a:ext cx="3040382" cy="726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3600">
                <a:solidFill>
                  <a:srgbClr val="262626"/>
                </a:solidFill>
                <a:latin typeface="思源宋体 CN Heavy"/>
                <a:ea typeface="思源宋体 CN Heavy"/>
                <a:cs typeface="思源宋体 CN Heavy"/>
                <a:sym typeface="思源宋体 CN Heavy"/>
              </a:defRPr>
            </a:lvl1pPr>
          </a:lstStyle>
          <a:p>
            <a:pPr/>
            <a:r>
              <a:t>产品系列展示</a:t>
            </a:r>
          </a:p>
        </p:txBody>
      </p:sp>
      <p:sp>
        <p:nvSpPr>
          <p:cNvPr id="33"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2_自定义版式">
    <p:spTree>
      <p:nvGrpSpPr>
        <p:cNvPr id="1" name=""/>
        <p:cNvGrpSpPr/>
        <p:nvPr/>
      </p:nvGrpSpPr>
      <p:grpSpPr>
        <a:xfrm>
          <a:off x="0" y="0"/>
          <a:ext cx="0" cy="0"/>
          <a:chOff x="0" y="0"/>
          <a:chExt cx="0" cy="0"/>
        </a:xfrm>
      </p:grpSpPr>
      <p:pic>
        <p:nvPicPr>
          <p:cNvPr id="40" name="图片 11" descr="图片 11"/>
          <p:cNvPicPr>
            <a:picLocks noChangeAspect="1"/>
          </p:cNvPicPr>
          <p:nvPr/>
        </p:nvPicPr>
        <p:blipFill>
          <a:blip r:embed="rId2">
            <a:extLst/>
          </a:blip>
          <a:stretch>
            <a:fillRect/>
          </a:stretch>
        </p:blipFill>
        <p:spPr>
          <a:xfrm>
            <a:off x="0" y="12700"/>
            <a:ext cx="12192000" cy="6832600"/>
          </a:xfrm>
          <a:prstGeom prst="rect">
            <a:avLst/>
          </a:prstGeom>
          <a:ln w="12700">
            <a:miter lim="400000"/>
          </a:ln>
        </p:spPr>
      </p:pic>
      <p:sp>
        <p:nvSpPr>
          <p:cNvPr id="41" name="图形"/>
          <p:cNvSpPr/>
          <p:nvPr/>
        </p:nvSpPr>
        <p:spPr>
          <a:xfrm>
            <a:off x="267652" y="321945"/>
            <a:ext cx="11656696" cy="6214110"/>
          </a:xfrm>
          <a:prstGeom prst="roundRect">
            <a:avLst>
              <a:gd name="adj" fmla="val 4574"/>
            </a:avLst>
          </a:prstGeom>
          <a:gradFill>
            <a:gsLst>
              <a:gs pos="0">
                <a:srgbClr val="E1F2FF"/>
              </a:gs>
              <a:gs pos="100000">
                <a:srgbClr val="FFFFFF"/>
              </a:gs>
            </a:gsLst>
            <a:lin ang="16200000"/>
          </a:gradFill>
          <a:ln w="12700">
            <a:miter lim="400000"/>
          </a:ln>
          <a:effectLst>
            <a:outerShdw sx="100000" sy="100000" kx="0" ky="0" algn="b" rotWithShape="0" blurRad="50800" dist="38100" dir="5400000">
              <a:srgbClr val="000000">
                <a:alpha val="23000"/>
              </a:srgbClr>
            </a:outerShdw>
          </a:effectLst>
        </p:spPr>
        <p:txBody>
          <a:bodyPr lIns="45719" rIns="45719" anchor="ctr"/>
          <a:lstStyle/>
          <a:p>
            <a:pPr algn="ctr">
              <a:defRPr>
                <a:solidFill>
                  <a:srgbClr val="FFFFFF"/>
                </a:solidFill>
              </a:defRPr>
            </a:pPr>
          </a:p>
        </p:txBody>
      </p:sp>
      <p:sp>
        <p:nvSpPr>
          <p:cNvPr id="42" name="图形"/>
          <p:cNvSpPr txBox="1"/>
          <p:nvPr/>
        </p:nvSpPr>
        <p:spPr>
          <a:xfrm>
            <a:off x="313690" y="-12701"/>
            <a:ext cx="1666240" cy="1437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88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r>
              <a:t>03</a:t>
            </a:r>
          </a:p>
        </p:txBody>
      </p:sp>
      <p:sp>
        <p:nvSpPr>
          <p:cNvPr id="43" name="图形"/>
          <p:cNvSpPr txBox="1"/>
          <p:nvPr/>
        </p:nvSpPr>
        <p:spPr>
          <a:xfrm>
            <a:off x="722629" y="464819"/>
            <a:ext cx="3040382" cy="726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3600">
                <a:solidFill>
                  <a:srgbClr val="262626"/>
                </a:solidFill>
                <a:latin typeface="思源宋体 CN Heavy"/>
                <a:ea typeface="思源宋体 CN Heavy"/>
                <a:cs typeface="思源宋体 CN Heavy"/>
                <a:sym typeface="思源宋体 CN Heavy"/>
              </a:defRPr>
            </a:lvl1pPr>
          </a:lstStyle>
          <a:p>
            <a:pPr/>
            <a:r>
              <a:t>商业运营模式</a:t>
            </a:r>
          </a:p>
        </p:txBody>
      </p:sp>
      <p:sp>
        <p:nvSpPr>
          <p:cNvPr id="44"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3_自定义版式">
    <p:spTree>
      <p:nvGrpSpPr>
        <p:cNvPr id="1" name=""/>
        <p:cNvGrpSpPr/>
        <p:nvPr/>
      </p:nvGrpSpPr>
      <p:grpSpPr>
        <a:xfrm>
          <a:off x="0" y="0"/>
          <a:ext cx="0" cy="0"/>
          <a:chOff x="0" y="0"/>
          <a:chExt cx="0" cy="0"/>
        </a:xfrm>
      </p:grpSpPr>
      <p:sp>
        <p:nvSpPr>
          <p:cNvPr id="51"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标题幻灯片">
    <p:spTree>
      <p:nvGrpSpPr>
        <p:cNvPr id="1" name=""/>
        <p:cNvGrpSpPr/>
        <p:nvPr/>
      </p:nvGrpSpPr>
      <p:grpSpPr>
        <a:xfrm>
          <a:off x="0" y="0"/>
          <a:ext cx="0" cy="0"/>
          <a:chOff x="0" y="0"/>
          <a:chExt cx="0" cy="0"/>
        </a:xfrm>
      </p:grpSpPr>
      <p:sp>
        <p:nvSpPr>
          <p:cNvPr id="58" name="TextBox 9"/>
          <p:cNvSpPr txBox="1"/>
          <p:nvPr/>
        </p:nvSpPr>
        <p:spPr>
          <a:xfrm>
            <a:off x="11805670" y="-1"/>
            <a:ext cx="340610" cy="12700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200000"/>
              </a:lnSpc>
              <a:defRPr sz="100">
                <a:latin typeface="微软雅黑"/>
                <a:ea typeface="微软雅黑"/>
                <a:cs typeface="微软雅黑"/>
                <a:sym typeface="微软雅黑"/>
              </a:defRPr>
            </a:pPr>
            <a:r>
              <a:rPr u="sng">
                <a:solidFill>
                  <a:schemeClr val="accent1"/>
                </a:solidFill>
                <a:uFill>
                  <a:solidFill>
                    <a:schemeClr val="accent1"/>
                  </a:solidFill>
                </a:uFill>
                <a:hlinkClick r:id="rId2" invalidUrl="" action="" tgtFrame="" tooltip="" history="1" highlightClick="0" endSnd="0"/>
              </a:rPr>
              <a:t>PPT</a:t>
            </a:r>
            <a:r>
              <a:rPr u="sng">
                <a:solidFill>
                  <a:schemeClr val="accent1"/>
                </a:solidFill>
                <a:uFill>
                  <a:solidFill>
                    <a:schemeClr val="accent1"/>
                  </a:solidFill>
                </a:uFill>
                <a:hlinkClick r:id="rId2" invalidUrl="" action="" tgtFrame="" tooltip="" history="1" highlightClick="0" endSnd="0"/>
              </a:rPr>
              <a:t>下载</a:t>
            </a:r>
            <a:r>
              <a:t> </a:t>
            </a:r>
            <a:r>
              <a:t>http://www.1ppt.com/xiazai/</a:t>
            </a:r>
          </a:p>
        </p:txBody>
      </p:sp>
      <p:sp>
        <p:nvSpPr>
          <p:cNvPr id="59"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自定义版式">
    <p:spTree>
      <p:nvGrpSpPr>
        <p:cNvPr id="1" name=""/>
        <p:cNvGrpSpPr/>
        <p:nvPr/>
      </p:nvGrpSpPr>
      <p:grpSpPr>
        <a:xfrm>
          <a:off x="0" y="0"/>
          <a:ext cx="0" cy="0"/>
          <a:chOff x="0" y="0"/>
          <a:chExt cx="0" cy="0"/>
        </a:xfrm>
      </p:grpSpPr>
      <p:sp>
        <p:nvSpPr>
          <p:cNvPr id="66"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pic>
        <p:nvPicPr>
          <p:cNvPr id="2" name="图片 11" descr="图片 11"/>
          <p:cNvPicPr>
            <a:picLocks noChangeAspect="1"/>
          </p:cNvPicPr>
          <p:nvPr/>
        </p:nvPicPr>
        <p:blipFill>
          <a:blip r:embed="rId2">
            <a:extLst/>
          </a:blip>
          <a:stretch>
            <a:fillRect/>
          </a:stretch>
        </p:blipFill>
        <p:spPr>
          <a:xfrm>
            <a:off x="0" y="12700"/>
            <a:ext cx="12192000" cy="6832600"/>
          </a:xfrm>
          <a:prstGeom prst="rect">
            <a:avLst/>
          </a:prstGeom>
          <a:ln w="12700">
            <a:miter lim="400000"/>
          </a:ln>
        </p:spPr>
      </p:pic>
      <p:sp>
        <p:nvSpPr>
          <p:cNvPr id="3" name="图形"/>
          <p:cNvSpPr/>
          <p:nvPr/>
        </p:nvSpPr>
        <p:spPr>
          <a:xfrm>
            <a:off x="267652" y="321945"/>
            <a:ext cx="11656696" cy="6214110"/>
          </a:xfrm>
          <a:prstGeom prst="roundRect">
            <a:avLst>
              <a:gd name="adj" fmla="val 4574"/>
            </a:avLst>
          </a:prstGeom>
          <a:gradFill>
            <a:gsLst>
              <a:gs pos="0">
                <a:srgbClr val="E1F2FF"/>
              </a:gs>
              <a:gs pos="100000">
                <a:srgbClr val="FFFFFF"/>
              </a:gs>
            </a:gsLst>
            <a:lin ang="16200000"/>
          </a:gradFill>
          <a:ln w="12700">
            <a:miter lim="400000"/>
          </a:ln>
          <a:effectLst>
            <a:outerShdw sx="100000" sy="100000" kx="0" ky="0" algn="b" rotWithShape="0" blurRad="50800" dist="38100" dir="5400000">
              <a:srgbClr val="000000">
                <a:alpha val="23000"/>
              </a:srgbClr>
            </a:outerShdw>
          </a:effectLst>
        </p:spPr>
        <p:txBody>
          <a:bodyPr lIns="45719" rIns="45719" anchor="ctr"/>
          <a:lstStyle/>
          <a:p>
            <a:pPr algn="ctr">
              <a:defRPr>
                <a:solidFill>
                  <a:srgbClr val="FFFFFF"/>
                </a:solidFill>
              </a:defRPr>
            </a:pPr>
          </a:p>
        </p:txBody>
      </p:sp>
      <p:sp>
        <p:nvSpPr>
          <p:cNvPr id="4" name="图形"/>
          <p:cNvSpPr txBox="1"/>
          <p:nvPr/>
        </p:nvSpPr>
        <p:spPr>
          <a:xfrm>
            <a:off x="313690" y="-12701"/>
            <a:ext cx="1666240" cy="1437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88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r>
              <a:t>01</a:t>
            </a:r>
          </a:p>
        </p:txBody>
      </p:sp>
      <p:sp>
        <p:nvSpPr>
          <p:cNvPr id="5" name="图形"/>
          <p:cNvSpPr txBox="1"/>
          <p:nvPr/>
        </p:nvSpPr>
        <p:spPr>
          <a:xfrm>
            <a:off x="722629" y="464819"/>
            <a:ext cx="3040382" cy="726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3600">
                <a:solidFill>
                  <a:srgbClr val="262626"/>
                </a:solidFill>
                <a:latin typeface="思源宋体 CN Heavy"/>
                <a:ea typeface="思源宋体 CN Heavy"/>
                <a:cs typeface="思源宋体 CN Heavy"/>
                <a:sym typeface="思源宋体 CN Heavy"/>
              </a:defRPr>
            </a:lvl1pPr>
          </a:lstStyle>
          <a:p>
            <a:pPr/>
            <a:r>
              <a:t>企业品牌介绍</a:t>
            </a:r>
          </a:p>
        </p:txBody>
      </p:sp>
      <p:sp>
        <p:nvSpPr>
          <p:cNvPr id="6" name="标题文本"/>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标题文本</a:t>
            </a:r>
          </a:p>
        </p:txBody>
      </p:sp>
      <p:sp>
        <p:nvSpPr>
          <p:cNvPr id="7" name="正文级别 1…"/>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正文级别 1</a:t>
            </a:r>
          </a:p>
          <a:p>
            <a:pPr lvl="1"/>
            <a:r>
              <a:t>正文级别 2</a:t>
            </a:r>
          </a:p>
          <a:p>
            <a:pPr lvl="2"/>
            <a:r>
              <a:t>正文级别 3</a:t>
            </a:r>
          </a:p>
          <a:p>
            <a:pPr lvl="3"/>
            <a:r>
              <a:t>正文级别 4</a:t>
            </a:r>
          </a:p>
          <a:p>
            <a:pPr lvl="4"/>
            <a:r>
              <a:t>正文级别 5</a:t>
            </a:r>
          </a:p>
        </p:txBody>
      </p:sp>
      <p:sp>
        <p:nvSpPr>
          <p:cNvPr id="8" name="幻灯片编号"/>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1pPr>
      <a:lvl2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2pPr>
      <a:lvl3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3pPr>
      <a:lvl4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4pPr>
      <a:lvl5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5pPr>
      <a:lvl6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6pPr>
      <a:lvl7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7pPr>
      <a:lvl8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8pPr>
      <a:lvl9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9pPr>
    </p:titleStyle>
    <p:bodyStyle>
      <a:lvl1pPr marL="228600" marR="0" indent="-228600"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1pPr>
      <a:lvl2pPr marL="714375" marR="0" indent="-257175"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2pPr>
      <a:lvl3pPr marL="1171575" marR="0" indent="-257175"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3pPr>
      <a:lvl4pPr marL="1665514" marR="0" indent="-293914"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4pPr>
      <a:lvl5pPr marL="2122714" marR="0" indent="-293914"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5pPr>
      <a:lvl6pPr marL="2514600" marR="0" indent="-228600"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6pPr>
      <a:lvl7pPr marL="2971800" marR="0" indent="-228600"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7pPr>
      <a:lvl8pPr marL="3429000" marR="0" indent="-228600"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8pPr>
      <a:lvl9pPr marL="3886200" marR="0" indent="-228600"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形" descr="6b15b2b44a99abb9a7cb4a896242c5aaf878cd05.png"/>
          <p:cNvPicPr>
            <a:picLocks noChangeAspect="1"/>
          </p:cNvPicPr>
          <p:nvPr/>
        </p:nvPicPr>
        <p:blipFill>
          <a:blip r:embed="rId2"/>
          <a:srcRect l="7597" r="7596"/>
          <a:stretch>
            <a:fillRect/>
          </a:stretch>
        </p:blipFill>
        <p:spPr>
          <a:xfrm>
            <a:off x="0" y="12700"/>
            <a:ext cx="12192001" cy="6845300"/>
          </a:xfrm>
          <a:prstGeom prst="rect">
            <a:avLst/>
          </a:prstGeom>
        </p:spPr>
      </p:pic>
      <p:sp>
        <p:nvSpPr>
          <p:cNvPr id="3" name="图形"/>
          <p:cNvSpPr/>
          <p:nvPr/>
        </p:nvSpPr>
        <p:spPr xmlns:m="http://schemas.openxmlformats.org/officeDocument/2006/math" xmlns:a14="http://schemas.microsoft.com/office/drawing/2010/main">
          <a:xfrm>
            <a:off x="0" y="0"/>
            <a:ext cx="12192635" cy="6858000"/>
          </a:xfrm>
          <a:prstGeom prst="rect">
            <a:avLst/>
          </a:prstGeom>
          <a:gradFill>
            <a:gsLst>
              <a:gs pos="0">
                <a:srgbClr val="F2F6FE">
                  <a:alpha val="69000"/>
                </a:srgbClr>
              </a:gs>
              <a:gs pos="40000">
                <a:srgbClr val="F2F6FE">
                  <a:alpha val="0"/>
                </a:srgbClr>
              </a:gs>
            </a:gsLst>
            <a:lin ang="5400000"/>
          </a:gradFill>
          <a:ln w="12700">
            <a:miter lim="400000"/>
          </a:ln>
        </p:spPr>
        <p:txBody>
          <a:bodyPr lIns="45719" rIns="45719" anchor="ctr"/>
          <a:lstStyle>
            <a:lvl1pPr>
              <a:defRPr/>
            </a:lvl1pPr>
          </a:lstStyle>
          <a:p>
            <a:pPr algn="ctr">
              <a:defRPr>
                <a:solidFill>
                  <a:srgbClr val="FFFFFF"/>
                </a:solidFill>
              </a:defRPr>
            </a:pPr>
          </a:p>
        </p:txBody>
      </p:sp>
      <p:sp>
        <p:nvSpPr>
          <p:cNvPr id="4" name="图形"/>
          <p:cNvSpPr txBox="1"/>
          <p:nvPr/>
        </p:nvSpPr>
        <p:spPr>
          <a:xfrm>
            <a:off x="513079" y="763269"/>
            <a:ext cx="6514466" cy="1551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96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a:t>Artificial Intelligence</a:t>
            </a:r>
          </a:p>
        </p:txBody>
      </p:sp>
      <p:sp>
        <p:nvSpPr>
          <p:cNvPr id="5" name="图形"/>
          <p:cNvSpPr txBox="1"/>
          <p:nvPr/>
        </p:nvSpPr>
        <p:spPr>
          <a:xfrm>
            <a:off x="429260" y="1379219"/>
            <a:ext cx="8176895" cy="186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0000">
                <a:solidFill>
                  <a:srgbClr val="007EE8"/>
                </a:solidFill>
                <a:latin typeface="思源宋体 CN Heavy"/>
                <a:ea typeface="思源宋体 CN Heavy"/>
                <a:cs typeface="思源宋体 CN Heavy"/>
                <a:sym typeface="思源宋体 CN Heavy"/>
              </a:defRPr>
            </a:lvl1pPr>
          </a:lstStyle>
          <a:p>
            <a:pPr>
              <a:defRPr/>
            </a:pPr>
            <a:r>
              <a:rPr/>
              <a:t>人工智能</a:t>
            </a:r>
          </a:p>
        </p:txBody>
      </p:sp>
      <p:sp>
        <p:nvSpPr>
          <p:cNvPr id="6" name="图形"/>
          <p:cNvSpPr txBox="1"/>
          <p:nvPr/>
        </p:nvSpPr>
        <p:spPr>
          <a:xfrm>
            <a:off x="511809" y="3361054"/>
            <a:ext cx="6502401" cy="739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lvl1pPr>
          </a:lstStyle>
          <a:p>
            <a:pPr>
              <a:lnSpc>
                <a:spcPct val="200000"/>
              </a:lnSpc>
              <a:defRPr sz="1400">
                <a:solidFill>
                  <a:srgbClr val="808080"/>
                </a:solidFill>
                <a:latin typeface="思源宋体 SemiBold"/>
                <a:ea typeface="思源宋体 SemiBold"/>
                <a:cs typeface="思源宋体 SemiBold"/>
                <a:sym typeface="思源宋体 SemiBold"/>
              </a:defRPr>
            </a:pPr>
            <a:r>
              <a:rPr/>
              <a:t>回顾人工智能七十年发展历程，从符号主义的萌芽到深度学习的崛起，见证技术变革的每一个关键节点。</a:t>
            </a:r>
          </a:p>
          <a:p>
            <a:pPr>
              <a:lnSpc>
                <a:spcPct val="200000"/>
              </a:lnSpc>
              <a:defRPr sz="1400">
                <a:solidFill>
                  <a:srgbClr val="808080"/>
                </a:solidFill>
                <a:latin typeface="思源宋体 SemiBold"/>
                <a:ea typeface="思源宋体 SemiBold"/>
                <a:cs typeface="思源宋体 SemiBold"/>
                <a:sym typeface="思源宋体 SemiBold"/>
              </a:defRPr>
            </a:pPr>
            <a:r>
              <a:rPr/>
              <a:t>探索 LLM 时代的突破性进展，展望通用人工智能的未来图景与无限可能。</a:t>
            </a:r>
          </a:p>
        </p:txBody>
      </p:sp>
      <p:sp>
        <p:nvSpPr>
          <p:cNvPr id="7" name="图形"/>
          <p:cNvSpPr/>
          <p:nvPr/>
        </p:nvSpPr>
        <p:spPr xmlns:m="http://schemas.openxmlformats.org/officeDocument/2006/math" xmlns:a14="http://schemas.microsoft.com/office/drawing/2010/main">
          <a:xfrm>
            <a:off x="2371724" y="2976244"/>
            <a:ext cx="4533901" cy="4267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508" y="0"/>
                </a:lnTo>
                <a:lnTo>
                  <a:pt x="21600" y="0"/>
                </a:lnTo>
                <a:lnTo>
                  <a:pt x="21092" y="21600"/>
                </a:lnTo>
                <a:close/>
              </a:path>
            </a:pathLst>
          </a:custGeom>
          <a:gradFill flip="none" rotWithShape="1">
            <a:gsLst>
              <a:gs pos="0">
                <a:srgbClr val="76BEFC">
                  <a:alpha val="46000"/>
                </a:srgbClr>
              </a:gs>
              <a:gs pos="66000">
                <a:srgbClr val="34ACFD">
                  <a:alpha val="0"/>
                </a:srgbClr>
              </a:gs>
            </a:gsLst>
            <a:lin ang="108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8" name="图形"/>
          <p:cNvSpPr txBox="1"/>
          <p:nvPr/>
        </p:nvSpPr>
        <p:spPr>
          <a:xfrm>
            <a:off x="553719" y="2908935"/>
            <a:ext cx="6035675" cy="599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lvl1pPr>
          </a:lstStyle>
          <a:p>
            <a:pPr algn="just">
              <a:defRPr sz="2800">
                <a:latin typeface="思源宋体 CN Heavy"/>
                <a:ea typeface="思源宋体 CN Heavy"/>
                <a:cs typeface="思源宋体 CN Heavy"/>
                <a:sym typeface="思源宋体 CN Heavy"/>
              </a:defRPr>
            </a:pPr>
            <a:r>
              <a:rPr/>
              <a:t>人工智能发展史：七十年演进之路</a:t>
            </a:r>
          </a:p>
        </p:txBody>
      </p:sp>
      <p:sp>
        <p:nvSpPr>
          <p:cNvPr id="9" name="图形"/>
          <p:cNvSpPr/>
          <p:nvPr/>
        </p:nvSpPr>
        <p:spPr xmlns:m="http://schemas.openxmlformats.org/officeDocument/2006/math" xmlns:a14="http://schemas.microsoft.com/office/drawing/2010/main">
          <a:xfrm>
            <a:off x="727709" y="4528184"/>
            <a:ext cx="1925321" cy="4591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88" y="0"/>
                </a:lnTo>
                <a:lnTo>
                  <a:pt x="21600" y="0"/>
                </a:lnTo>
                <a:lnTo>
                  <a:pt x="20312" y="21600"/>
                </a:lnTo>
                <a:close/>
              </a:path>
            </a:pathLst>
          </a:custGeom>
          <a:solidFill>
            <a:srgbClr val="FFFFFF">
              <a:alpha val="21000"/>
            </a:srgbClr>
          </a:solidFill>
          <a:ln w="3175" cap="flat">
            <a:solidFill>
              <a:srgbClr val="9AD6FE"/>
            </a:solidFill>
            <a:prstDash val="solid"/>
            <a:miter lim="800000"/>
          </a:ln>
          <a:effectLst/>
        </p:spPr>
        <p:txBody>
          <a:bodyPr wrap="square" lIns="45719" tIns="45719" rIns="45719" bIns="45719" numCol="1" anchor="ctr">
            <a:noAutofit/>
          </a:bodyPr>
          <a:lstStyle>
            <a:lvl1pPr>
              <a:defRPr/>
            </a:lvl1pPr>
          </a:lstStyle>
          <a:p>
            <a:pPr algn="ctr">
              <a:defRPr sz="1200">
                <a:solidFill>
                  <a:srgbClr val="FDCFB8"/>
                </a:solidFill>
                <a:latin typeface="思源宋体 SemiBold"/>
                <a:ea typeface="思源宋体 SemiBold"/>
                <a:cs typeface="思源宋体 SemiBold"/>
                <a:sym typeface="思源宋体 SemiBold"/>
              </a:defRPr>
            </a:pPr>
          </a:p>
        </p:txBody>
      </p:sp>
      <p:sp>
        <p:nvSpPr>
          <p:cNvPr id="10" name="图形"/>
          <p:cNvSpPr/>
          <p:nvPr/>
        </p:nvSpPr>
        <p:spPr xmlns:m="http://schemas.openxmlformats.org/officeDocument/2006/math" xmlns:a14="http://schemas.microsoft.com/office/drawing/2010/main">
          <a:xfrm>
            <a:off x="3034030" y="4528184"/>
            <a:ext cx="1920875" cy="4591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91" y="0"/>
                </a:lnTo>
                <a:lnTo>
                  <a:pt x="21600" y="0"/>
                </a:lnTo>
                <a:lnTo>
                  <a:pt x="20309" y="21600"/>
                </a:lnTo>
                <a:close/>
              </a:path>
            </a:pathLst>
          </a:custGeom>
          <a:solidFill>
            <a:srgbClr val="FFFFFF">
              <a:alpha val="21000"/>
            </a:srgbClr>
          </a:solidFill>
          <a:ln w="3175" cap="flat">
            <a:solidFill>
              <a:srgbClr val="9AD6FE"/>
            </a:solidFill>
            <a:prstDash val="solid"/>
            <a:miter lim="800000"/>
          </a:ln>
          <a:effectLst/>
        </p:spPr>
        <p:txBody>
          <a:bodyPr wrap="square" lIns="45719" tIns="45719" rIns="45719" bIns="45719" numCol="1" anchor="ctr">
            <a:noAutofit/>
          </a:bodyPr>
          <a:lstStyle>
            <a:lvl1pPr>
              <a:defRPr/>
            </a:lvl1pPr>
          </a:lstStyle>
          <a:p>
            <a:pPr algn="ctr">
              <a:defRPr sz="1200">
                <a:solidFill>
                  <a:srgbClr val="FDCFB8"/>
                </a:solidFill>
                <a:latin typeface="思源宋体 SemiBold"/>
                <a:ea typeface="思源宋体 SemiBold"/>
                <a:cs typeface="思源宋体 SemiBold"/>
                <a:sym typeface="思源宋体 SemiBold"/>
              </a:defRPr>
            </a:pPr>
          </a:p>
        </p:txBody>
      </p:sp>
      <p:sp>
        <p:nvSpPr>
          <p:cNvPr id="11" name="图形"/>
          <p:cNvSpPr txBox="1"/>
          <p:nvPr/>
        </p:nvSpPr>
        <p:spPr>
          <a:xfrm>
            <a:off x="1219199" y="4568189"/>
            <a:ext cx="1132206" cy="3708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lvl1pPr>
          </a:lstStyle>
          <a:p>
            <a:pPr algn="just">
              <a:defRPr b="1" sz="1600">
                <a:solidFill>
                  <a:srgbClr val="262626"/>
                </a:solidFill>
                <a:latin typeface="思源宋体 CN Heavy"/>
                <a:ea typeface="思源宋体 CN Heavy"/>
                <a:cs typeface="思源宋体 CN Heavy"/>
                <a:sym typeface="思源宋体 CN Heavy"/>
              </a:defRPr>
            </a:pPr>
            <a:r>
              <a:rPr/>
              <a:t>AI Research</a:t>
            </a:r>
          </a:p>
        </p:txBody>
      </p:sp>
      <p:sp>
        <p:nvSpPr>
          <p:cNvPr id="12" name="图形"/>
          <p:cNvSpPr txBox="1"/>
          <p:nvPr/>
        </p:nvSpPr>
        <p:spPr>
          <a:xfrm>
            <a:off x="3438525" y="4587238"/>
            <a:ext cx="1354456" cy="3708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just">
              <a:defRPr b="1" sz="1600">
                <a:solidFill>
                  <a:srgbClr val="262626"/>
                </a:solidFill>
                <a:latin typeface="思源宋体 CN Heavy"/>
                <a:ea typeface="思源宋体 CN Heavy"/>
                <a:cs typeface="思源宋体 CN Heavy"/>
                <a:sym typeface="思源宋体 CN Heavy"/>
              </a:defRPr>
            </a:lvl1pPr>
          </a:lstStyle>
          <a:p>
            <a:pPr>
              <a:defRPr/>
            </a:pPr>
            <a:r>
              <a:rPr/>
              <a:t>从 1956 年至今的技术演变与展望</a:t>
            </a:r>
          </a:p>
        </p:txBody>
      </p:sp>
      <p:sp>
        <p:nvSpPr>
          <p:cNvPr id="13" name="图形"/>
          <p:cNvSpPr/>
          <p:nvPr/>
        </p:nvSpPr>
        <p:spPr xmlns:m="http://schemas.openxmlformats.org/officeDocument/2006/math" xmlns:a14="http://schemas.microsoft.com/office/drawing/2010/main">
          <a:xfrm>
            <a:off x="535304" y="4528184"/>
            <a:ext cx="636906" cy="4591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3893" y="0"/>
                </a:lnTo>
                <a:lnTo>
                  <a:pt x="21600" y="0"/>
                </a:lnTo>
                <a:lnTo>
                  <a:pt x="17707" y="21600"/>
                </a:lnTo>
                <a:close/>
              </a:path>
            </a:pathLst>
          </a:custGeom>
          <a:gradFill flip="none" rotWithShape="1">
            <a:gsLst>
              <a:gs pos="0">
                <a:schemeClr val="accent1"/>
              </a:gs>
              <a:gs pos="100000">
                <a:schemeClr val="accent2"/>
              </a:gs>
            </a:gsLst>
            <a:lin ang="10800000" scaled="0"/>
          </a:gradFill>
          <a:ln w="12700" cap="flat">
            <a:noFill/>
            <a:miter lim="400000"/>
          </a:ln>
          <a:effectLst>
            <a:outerShdw sx="100000" sy="100000" kx="0" ky="0" algn="b" rotWithShape="0" blurRad="355600" dist="0" dir="0">
              <a:srgbClr val="000000">
                <a:alpha val="10000"/>
              </a:srgbClr>
            </a:outerShdw>
          </a:effectLst>
        </p:spPr>
        <p:txBody>
          <a:bodyPr wrap="square" lIns="45719" tIns="45719" rIns="45719" bIns="45719" numCol="1" anchor="ctr">
            <a:noAutofit/>
          </a:bodyPr>
          <a:lstStyle>
            <a:lvl1pPr>
              <a:defRPr/>
            </a:lvl1pPr>
          </a:lstStyle>
          <a:p>
            <a:pPr algn="ctr">
              <a:defRPr sz="1200">
                <a:solidFill>
                  <a:srgbClr val="FFFFFF"/>
                </a:solidFill>
                <a:latin typeface="思源宋体 SemiBold"/>
                <a:ea typeface="思源宋体 SemiBold"/>
                <a:cs typeface="思源宋体 SemiBold"/>
                <a:sym typeface="思源宋体 SemiBold"/>
              </a:defRPr>
            </a:pPr>
          </a:p>
        </p:txBody>
      </p:sp>
      <p:sp>
        <p:nvSpPr>
          <p:cNvPr id="14" name="图形"/>
          <p:cNvSpPr/>
          <p:nvPr/>
        </p:nvSpPr>
        <p:spPr xmlns:m="http://schemas.openxmlformats.org/officeDocument/2006/math" xmlns:a14="http://schemas.microsoft.com/office/drawing/2010/main">
          <a:xfrm>
            <a:off x="2840990" y="4528184"/>
            <a:ext cx="636906" cy="4591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3893" y="0"/>
                </a:lnTo>
                <a:lnTo>
                  <a:pt x="21600" y="0"/>
                </a:lnTo>
                <a:lnTo>
                  <a:pt x="17707" y="21600"/>
                </a:lnTo>
                <a:close/>
              </a:path>
            </a:pathLst>
          </a:custGeom>
          <a:gradFill flip="none" rotWithShape="1">
            <a:gsLst>
              <a:gs pos="0">
                <a:schemeClr val="accent1"/>
              </a:gs>
              <a:gs pos="100000">
                <a:schemeClr val="accent2"/>
              </a:gs>
            </a:gsLst>
            <a:lin ang="10800000" scaled="0"/>
          </a:gradFill>
          <a:ln w="12700" cap="flat">
            <a:noFill/>
            <a:miter lim="400000"/>
          </a:ln>
          <a:effectLst>
            <a:outerShdw sx="100000" sy="100000" kx="0" ky="0" algn="b" rotWithShape="0" blurRad="355600" dist="0" dir="0">
              <a:srgbClr val="000000">
                <a:alpha val="10000"/>
              </a:srgbClr>
            </a:outerShdw>
          </a:effectLst>
        </p:spPr>
        <p:txBody>
          <a:bodyPr wrap="square" lIns="45719" tIns="45719" rIns="45719" bIns="45719" numCol="1" anchor="ctr">
            <a:noAutofit/>
          </a:bodyPr>
          <a:lstStyle>
            <a:lvl1pPr>
              <a:defRPr/>
            </a:lvl1pPr>
          </a:lstStyle>
          <a:p>
            <a:pPr algn="ctr">
              <a:defRPr sz="1200">
                <a:solidFill>
                  <a:srgbClr val="FFFFFF"/>
                </a:solidFill>
                <a:latin typeface="思源宋体 SemiBold"/>
                <a:ea typeface="思源宋体 SemiBold"/>
                <a:cs typeface="思源宋体 SemiBold"/>
                <a:sym typeface="思源宋体 SemiBold"/>
              </a:defRPr>
            </a:pPr>
          </a:p>
        </p:txBody>
      </p:sp>
      <p:sp>
        <p:nvSpPr>
          <p:cNvPr id="15" name="图形"/>
          <p:cNvSpPr/>
          <p:nvPr/>
        </p:nvSpPr>
        <p:spPr xmlns:m="http://schemas.openxmlformats.org/officeDocument/2006/math" xmlns:a14="http://schemas.microsoft.com/office/drawing/2010/main">
          <a:xfrm>
            <a:off x="3205676" y="4740412"/>
            <a:ext cx="102675" cy="811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200" y="0"/>
                </a:moveTo>
                <a:lnTo>
                  <a:pt x="8640" y="7104"/>
                </a:lnTo>
                <a:lnTo>
                  <a:pt x="1779" y="574"/>
                </a:lnTo>
                <a:lnTo>
                  <a:pt x="889" y="2225"/>
                </a:lnTo>
                <a:lnTo>
                  <a:pt x="0" y="3588"/>
                </a:lnTo>
                <a:lnTo>
                  <a:pt x="1525" y="5023"/>
                </a:lnTo>
                <a:lnTo>
                  <a:pt x="2986" y="6817"/>
                </a:lnTo>
                <a:lnTo>
                  <a:pt x="4320" y="8755"/>
                </a:lnTo>
                <a:lnTo>
                  <a:pt x="5336" y="10692"/>
                </a:lnTo>
                <a:lnTo>
                  <a:pt x="6289" y="12917"/>
                </a:lnTo>
                <a:lnTo>
                  <a:pt x="6925" y="15285"/>
                </a:lnTo>
                <a:lnTo>
                  <a:pt x="7306" y="17797"/>
                </a:lnTo>
                <a:lnTo>
                  <a:pt x="7433" y="20308"/>
                </a:lnTo>
                <a:lnTo>
                  <a:pt x="7306" y="21600"/>
                </a:lnTo>
                <a:lnTo>
                  <a:pt x="8640" y="21600"/>
                </a:lnTo>
                <a:lnTo>
                  <a:pt x="10609" y="21456"/>
                </a:lnTo>
                <a:lnTo>
                  <a:pt x="12706" y="21026"/>
                </a:lnTo>
                <a:lnTo>
                  <a:pt x="14802" y="20452"/>
                </a:lnTo>
                <a:lnTo>
                  <a:pt x="16899" y="19375"/>
                </a:lnTo>
                <a:lnTo>
                  <a:pt x="17915" y="18801"/>
                </a:lnTo>
                <a:lnTo>
                  <a:pt x="18741" y="18084"/>
                </a:lnTo>
                <a:lnTo>
                  <a:pt x="19504" y="17366"/>
                </a:lnTo>
                <a:lnTo>
                  <a:pt x="20266" y="16433"/>
                </a:lnTo>
                <a:lnTo>
                  <a:pt x="20838" y="15572"/>
                </a:lnTo>
                <a:lnTo>
                  <a:pt x="21219" y="14639"/>
                </a:lnTo>
                <a:lnTo>
                  <a:pt x="21473" y="13635"/>
                </a:lnTo>
                <a:lnTo>
                  <a:pt x="21600" y="12630"/>
                </a:lnTo>
                <a:lnTo>
                  <a:pt x="21473" y="10692"/>
                </a:lnTo>
                <a:lnTo>
                  <a:pt x="21219" y="8755"/>
                </a:lnTo>
                <a:lnTo>
                  <a:pt x="20838" y="6961"/>
                </a:lnTo>
                <a:lnTo>
                  <a:pt x="20139" y="5310"/>
                </a:lnTo>
                <a:lnTo>
                  <a:pt x="19376" y="3875"/>
                </a:lnTo>
                <a:lnTo>
                  <a:pt x="18424" y="2368"/>
                </a:lnTo>
                <a:lnTo>
                  <a:pt x="17407" y="1076"/>
                </a:lnTo>
                <a:lnTo>
                  <a:pt x="16200" y="0"/>
                </a:ln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16" name="图形"/>
          <p:cNvSpPr/>
          <p:nvPr/>
        </p:nvSpPr>
        <p:spPr xmlns:m="http://schemas.openxmlformats.org/officeDocument/2006/math" xmlns:a14="http://schemas.microsoft.com/office/drawing/2010/main">
          <a:xfrm>
            <a:off x="3206280" y="4657089"/>
            <a:ext cx="83952" cy="765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807" y="17113"/>
                </a:moveTo>
                <a:lnTo>
                  <a:pt x="3807" y="18177"/>
                </a:lnTo>
                <a:lnTo>
                  <a:pt x="3652" y="19394"/>
                </a:lnTo>
                <a:lnTo>
                  <a:pt x="5128" y="20383"/>
                </a:lnTo>
                <a:lnTo>
                  <a:pt x="6837" y="20992"/>
                </a:lnTo>
                <a:lnTo>
                  <a:pt x="8624" y="21448"/>
                </a:lnTo>
                <a:lnTo>
                  <a:pt x="10412" y="21600"/>
                </a:lnTo>
                <a:lnTo>
                  <a:pt x="11499" y="21600"/>
                </a:lnTo>
                <a:lnTo>
                  <a:pt x="12665" y="21448"/>
                </a:lnTo>
                <a:lnTo>
                  <a:pt x="13753" y="21144"/>
                </a:lnTo>
                <a:lnTo>
                  <a:pt x="14685" y="20839"/>
                </a:lnTo>
                <a:lnTo>
                  <a:pt x="15695" y="20383"/>
                </a:lnTo>
                <a:lnTo>
                  <a:pt x="16627" y="19775"/>
                </a:lnTo>
                <a:lnTo>
                  <a:pt x="17404" y="19090"/>
                </a:lnTo>
                <a:lnTo>
                  <a:pt x="18259" y="18482"/>
                </a:lnTo>
                <a:lnTo>
                  <a:pt x="19036" y="17721"/>
                </a:lnTo>
                <a:lnTo>
                  <a:pt x="19658" y="16885"/>
                </a:lnTo>
                <a:lnTo>
                  <a:pt x="20201" y="15972"/>
                </a:lnTo>
                <a:lnTo>
                  <a:pt x="20668" y="15059"/>
                </a:lnTo>
                <a:lnTo>
                  <a:pt x="21134" y="14070"/>
                </a:lnTo>
                <a:lnTo>
                  <a:pt x="21289" y="13006"/>
                </a:lnTo>
                <a:lnTo>
                  <a:pt x="21445" y="11865"/>
                </a:lnTo>
                <a:lnTo>
                  <a:pt x="21600" y="10800"/>
                </a:lnTo>
                <a:lnTo>
                  <a:pt x="21445" y="9735"/>
                </a:lnTo>
                <a:lnTo>
                  <a:pt x="21289" y="8594"/>
                </a:lnTo>
                <a:lnTo>
                  <a:pt x="21134" y="7530"/>
                </a:lnTo>
                <a:lnTo>
                  <a:pt x="20668" y="6541"/>
                </a:lnTo>
                <a:lnTo>
                  <a:pt x="20201" y="5628"/>
                </a:lnTo>
                <a:lnTo>
                  <a:pt x="19658" y="4715"/>
                </a:lnTo>
                <a:lnTo>
                  <a:pt x="19036" y="3879"/>
                </a:lnTo>
                <a:lnTo>
                  <a:pt x="18259" y="3118"/>
                </a:lnTo>
                <a:lnTo>
                  <a:pt x="17404" y="2358"/>
                </a:lnTo>
                <a:lnTo>
                  <a:pt x="16627" y="1673"/>
                </a:lnTo>
                <a:lnTo>
                  <a:pt x="15695" y="1217"/>
                </a:lnTo>
                <a:lnTo>
                  <a:pt x="14685" y="761"/>
                </a:lnTo>
                <a:lnTo>
                  <a:pt x="13753" y="456"/>
                </a:lnTo>
                <a:lnTo>
                  <a:pt x="12665" y="152"/>
                </a:lnTo>
                <a:lnTo>
                  <a:pt x="11499" y="0"/>
                </a:lnTo>
                <a:lnTo>
                  <a:pt x="8624" y="0"/>
                </a:lnTo>
                <a:lnTo>
                  <a:pt x="6993" y="456"/>
                </a:lnTo>
                <a:lnTo>
                  <a:pt x="5439" y="1065"/>
                </a:lnTo>
                <a:lnTo>
                  <a:pt x="3963" y="1825"/>
                </a:lnTo>
                <a:lnTo>
                  <a:pt x="2719" y="2966"/>
                </a:lnTo>
                <a:lnTo>
                  <a:pt x="1554" y="4183"/>
                </a:lnTo>
                <a:lnTo>
                  <a:pt x="777" y="5476"/>
                </a:lnTo>
                <a:lnTo>
                  <a:pt x="0" y="6997"/>
                </a:lnTo>
                <a:lnTo>
                  <a:pt x="932" y="8138"/>
                </a:lnTo>
                <a:lnTo>
                  <a:pt x="1554" y="9203"/>
                </a:lnTo>
                <a:lnTo>
                  <a:pt x="2176" y="10344"/>
                </a:lnTo>
                <a:lnTo>
                  <a:pt x="2875" y="11561"/>
                </a:lnTo>
                <a:lnTo>
                  <a:pt x="3341" y="12854"/>
                </a:lnTo>
                <a:lnTo>
                  <a:pt x="3652" y="14223"/>
                </a:lnTo>
                <a:lnTo>
                  <a:pt x="3807" y="15668"/>
                </a:lnTo>
                <a:lnTo>
                  <a:pt x="3807" y="17113"/>
                </a:ln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17" name="图形"/>
          <p:cNvSpPr/>
          <p:nvPr/>
        </p:nvSpPr>
        <p:spPr xmlns:m="http://schemas.openxmlformats.org/officeDocument/2006/math" xmlns:a14="http://schemas.microsoft.com/office/drawing/2010/main">
          <a:xfrm>
            <a:off x="3011804" y="4740412"/>
            <a:ext cx="103279" cy="811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884" y="21600"/>
                </a:moveTo>
                <a:lnTo>
                  <a:pt x="14211" y="21600"/>
                </a:lnTo>
                <a:lnTo>
                  <a:pt x="14211" y="20308"/>
                </a:lnTo>
                <a:lnTo>
                  <a:pt x="14337" y="17797"/>
                </a:lnTo>
                <a:lnTo>
                  <a:pt x="14716" y="15285"/>
                </a:lnTo>
                <a:lnTo>
                  <a:pt x="15347" y="12917"/>
                </a:lnTo>
                <a:lnTo>
                  <a:pt x="16168" y="10692"/>
                </a:lnTo>
                <a:lnTo>
                  <a:pt x="17179" y="8755"/>
                </a:lnTo>
                <a:lnTo>
                  <a:pt x="18505" y="6817"/>
                </a:lnTo>
                <a:lnTo>
                  <a:pt x="19958" y="5023"/>
                </a:lnTo>
                <a:lnTo>
                  <a:pt x="21600" y="3588"/>
                </a:lnTo>
                <a:lnTo>
                  <a:pt x="20589" y="2225"/>
                </a:lnTo>
                <a:lnTo>
                  <a:pt x="19768" y="574"/>
                </a:lnTo>
                <a:lnTo>
                  <a:pt x="12884" y="7104"/>
                </a:lnTo>
                <a:lnTo>
                  <a:pt x="5305" y="0"/>
                </a:lnTo>
                <a:lnTo>
                  <a:pt x="4168" y="1076"/>
                </a:lnTo>
                <a:lnTo>
                  <a:pt x="3095" y="2368"/>
                </a:lnTo>
                <a:lnTo>
                  <a:pt x="2211" y="3875"/>
                </a:lnTo>
                <a:lnTo>
                  <a:pt x="1453" y="5310"/>
                </a:lnTo>
                <a:lnTo>
                  <a:pt x="884" y="6961"/>
                </a:lnTo>
                <a:lnTo>
                  <a:pt x="379" y="8755"/>
                </a:lnTo>
                <a:lnTo>
                  <a:pt x="126" y="10692"/>
                </a:lnTo>
                <a:lnTo>
                  <a:pt x="0" y="12630"/>
                </a:lnTo>
                <a:lnTo>
                  <a:pt x="126" y="13635"/>
                </a:lnTo>
                <a:lnTo>
                  <a:pt x="379" y="14639"/>
                </a:lnTo>
                <a:lnTo>
                  <a:pt x="758" y="15572"/>
                </a:lnTo>
                <a:lnTo>
                  <a:pt x="1453" y="16433"/>
                </a:lnTo>
                <a:lnTo>
                  <a:pt x="2084" y="17366"/>
                </a:lnTo>
                <a:lnTo>
                  <a:pt x="2842" y="18084"/>
                </a:lnTo>
                <a:lnTo>
                  <a:pt x="3789" y="18801"/>
                </a:lnTo>
                <a:lnTo>
                  <a:pt x="4674" y="19375"/>
                </a:lnTo>
                <a:lnTo>
                  <a:pt x="6758" y="20452"/>
                </a:lnTo>
                <a:lnTo>
                  <a:pt x="8842" y="21026"/>
                </a:lnTo>
                <a:lnTo>
                  <a:pt x="10926" y="21456"/>
                </a:lnTo>
                <a:lnTo>
                  <a:pt x="12884" y="21600"/>
                </a:ln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18" name="图形"/>
          <p:cNvSpPr/>
          <p:nvPr/>
        </p:nvSpPr>
        <p:spPr xmlns:m="http://schemas.openxmlformats.org/officeDocument/2006/math" xmlns:a14="http://schemas.microsoft.com/office/drawing/2010/main">
          <a:xfrm>
            <a:off x="3030527" y="4657089"/>
            <a:ext cx="83348" cy="765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113" y="21600"/>
                </a:moveTo>
                <a:lnTo>
                  <a:pt x="13070" y="21448"/>
                </a:lnTo>
                <a:lnTo>
                  <a:pt x="14870" y="20992"/>
                </a:lnTo>
                <a:lnTo>
                  <a:pt x="16435" y="20383"/>
                </a:lnTo>
                <a:lnTo>
                  <a:pt x="17922" y="19394"/>
                </a:lnTo>
                <a:lnTo>
                  <a:pt x="17922" y="18177"/>
                </a:lnTo>
                <a:lnTo>
                  <a:pt x="17765" y="17113"/>
                </a:lnTo>
                <a:lnTo>
                  <a:pt x="18078" y="14223"/>
                </a:lnTo>
                <a:lnTo>
                  <a:pt x="18391" y="12854"/>
                </a:lnTo>
                <a:lnTo>
                  <a:pt x="18861" y="11561"/>
                </a:lnTo>
                <a:lnTo>
                  <a:pt x="19330" y="10344"/>
                </a:lnTo>
                <a:lnTo>
                  <a:pt x="20035" y="9203"/>
                </a:lnTo>
                <a:lnTo>
                  <a:pt x="20817" y="8138"/>
                </a:lnTo>
                <a:lnTo>
                  <a:pt x="21600" y="6997"/>
                </a:lnTo>
                <a:lnTo>
                  <a:pt x="20974" y="5476"/>
                </a:lnTo>
                <a:lnTo>
                  <a:pt x="20035" y="4183"/>
                </a:lnTo>
                <a:lnTo>
                  <a:pt x="18861" y="2966"/>
                </a:lnTo>
                <a:lnTo>
                  <a:pt x="17609" y="1825"/>
                </a:lnTo>
                <a:lnTo>
                  <a:pt x="16122" y="1065"/>
                </a:lnTo>
                <a:lnTo>
                  <a:pt x="14478" y="456"/>
                </a:lnTo>
                <a:lnTo>
                  <a:pt x="12913" y="0"/>
                </a:lnTo>
                <a:lnTo>
                  <a:pt x="10017" y="0"/>
                </a:lnTo>
                <a:lnTo>
                  <a:pt x="8843" y="152"/>
                </a:lnTo>
                <a:lnTo>
                  <a:pt x="7748" y="456"/>
                </a:lnTo>
                <a:lnTo>
                  <a:pt x="6730" y="761"/>
                </a:lnTo>
                <a:lnTo>
                  <a:pt x="4852" y="1673"/>
                </a:lnTo>
                <a:lnTo>
                  <a:pt x="3991" y="2358"/>
                </a:lnTo>
                <a:lnTo>
                  <a:pt x="2426" y="3879"/>
                </a:lnTo>
                <a:lnTo>
                  <a:pt x="1722" y="4715"/>
                </a:lnTo>
                <a:lnTo>
                  <a:pt x="783" y="6541"/>
                </a:lnTo>
                <a:lnTo>
                  <a:pt x="470" y="7530"/>
                </a:lnTo>
                <a:lnTo>
                  <a:pt x="157" y="8594"/>
                </a:lnTo>
                <a:lnTo>
                  <a:pt x="0" y="9735"/>
                </a:lnTo>
                <a:lnTo>
                  <a:pt x="0" y="11865"/>
                </a:lnTo>
                <a:lnTo>
                  <a:pt x="157" y="13006"/>
                </a:lnTo>
                <a:lnTo>
                  <a:pt x="470" y="14070"/>
                </a:lnTo>
                <a:lnTo>
                  <a:pt x="783" y="15059"/>
                </a:lnTo>
                <a:lnTo>
                  <a:pt x="1722" y="16885"/>
                </a:lnTo>
                <a:lnTo>
                  <a:pt x="2426" y="17721"/>
                </a:lnTo>
                <a:lnTo>
                  <a:pt x="3209" y="18482"/>
                </a:lnTo>
                <a:lnTo>
                  <a:pt x="3991" y="19090"/>
                </a:lnTo>
                <a:lnTo>
                  <a:pt x="4852" y="19775"/>
                </a:lnTo>
                <a:lnTo>
                  <a:pt x="5791" y="20383"/>
                </a:lnTo>
                <a:lnTo>
                  <a:pt x="6730" y="20839"/>
                </a:lnTo>
                <a:lnTo>
                  <a:pt x="7748" y="21144"/>
                </a:lnTo>
                <a:lnTo>
                  <a:pt x="8843" y="21448"/>
                </a:lnTo>
                <a:lnTo>
                  <a:pt x="10017" y="21600"/>
                </a:lnTo>
                <a:lnTo>
                  <a:pt x="11113" y="21600"/>
                </a:ln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19" name="图形"/>
          <p:cNvSpPr/>
          <p:nvPr/>
        </p:nvSpPr>
        <p:spPr xmlns:m="http://schemas.openxmlformats.org/officeDocument/2006/math" xmlns:a14="http://schemas.microsoft.com/office/drawing/2010/main">
          <a:xfrm>
            <a:off x="3093943" y="4765490"/>
            <a:ext cx="132873" cy="884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2512"/>
                </a:moveTo>
                <a:lnTo>
                  <a:pt x="21502" y="10602"/>
                </a:lnTo>
                <a:lnTo>
                  <a:pt x="21158" y="8824"/>
                </a:lnTo>
                <a:lnTo>
                  <a:pt x="20864" y="7046"/>
                </a:lnTo>
                <a:lnTo>
                  <a:pt x="20275" y="5466"/>
                </a:lnTo>
                <a:lnTo>
                  <a:pt x="19636" y="3820"/>
                </a:lnTo>
                <a:lnTo>
                  <a:pt x="18851" y="2437"/>
                </a:lnTo>
                <a:lnTo>
                  <a:pt x="17918" y="1054"/>
                </a:lnTo>
                <a:lnTo>
                  <a:pt x="17035" y="0"/>
                </a:lnTo>
                <a:lnTo>
                  <a:pt x="10751" y="6915"/>
                </a:lnTo>
                <a:lnTo>
                  <a:pt x="4565" y="0"/>
                </a:lnTo>
                <a:lnTo>
                  <a:pt x="3535" y="1054"/>
                </a:lnTo>
                <a:lnTo>
                  <a:pt x="2651" y="2437"/>
                </a:lnTo>
                <a:lnTo>
                  <a:pt x="1915" y="3820"/>
                </a:lnTo>
                <a:lnTo>
                  <a:pt x="1227" y="5466"/>
                </a:lnTo>
                <a:lnTo>
                  <a:pt x="736" y="7046"/>
                </a:lnTo>
                <a:lnTo>
                  <a:pt x="295" y="8824"/>
                </a:lnTo>
                <a:lnTo>
                  <a:pt x="98" y="10602"/>
                </a:lnTo>
                <a:lnTo>
                  <a:pt x="0" y="12512"/>
                </a:lnTo>
                <a:lnTo>
                  <a:pt x="0" y="13566"/>
                </a:lnTo>
                <a:lnTo>
                  <a:pt x="295" y="14685"/>
                </a:lnTo>
                <a:lnTo>
                  <a:pt x="638" y="15607"/>
                </a:lnTo>
                <a:lnTo>
                  <a:pt x="1129" y="16463"/>
                </a:lnTo>
                <a:lnTo>
                  <a:pt x="1718" y="17254"/>
                </a:lnTo>
                <a:lnTo>
                  <a:pt x="2356" y="18044"/>
                </a:lnTo>
                <a:lnTo>
                  <a:pt x="3142" y="18768"/>
                </a:lnTo>
                <a:lnTo>
                  <a:pt x="3878" y="19295"/>
                </a:lnTo>
                <a:lnTo>
                  <a:pt x="4762" y="19822"/>
                </a:lnTo>
                <a:lnTo>
                  <a:pt x="5695" y="20349"/>
                </a:lnTo>
                <a:lnTo>
                  <a:pt x="7413" y="21073"/>
                </a:lnTo>
                <a:lnTo>
                  <a:pt x="9229" y="21468"/>
                </a:lnTo>
                <a:lnTo>
                  <a:pt x="10751" y="21600"/>
                </a:lnTo>
                <a:lnTo>
                  <a:pt x="12371" y="21468"/>
                </a:lnTo>
                <a:lnTo>
                  <a:pt x="14089" y="21073"/>
                </a:lnTo>
                <a:lnTo>
                  <a:pt x="15905" y="20349"/>
                </a:lnTo>
                <a:lnTo>
                  <a:pt x="16838" y="19822"/>
                </a:lnTo>
                <a:lnTo>
                  <a:pt x="17624" y="19295"/>
                </a:lnTo>
                <a:lnTo>
                  <a:pt x="18458" y="18768"/>
                </a:lnTo>
                <a:lnTo>
                  <a:pt x="19145" y="18044"/>
                </a:lnTo>
                <a:lnTo>
                  <a:pt x="19882" y="17254"/>
                </a:lnTo>
                <a:lnTo>
                  <a:pt x="20373" y="16463"/>
                </a:lnTo>
                <a:lnTo>
                  <a:pt x="20864" y="15607"/>
                </a:lnTo>
                <a:lnTo>
                  <a:pt x="21256" y="14685"/>
                </a:lnTo>
                <a:lnTo>
                  <a:pt x="21502" y="13566"/>
                </a:lnTo>
                <a:lnTo>
                  <a:pt x="21600" y="12512"/>
                </a:ln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20" name="图形"/>
          <p:cNvSpPr/>
          <p:nvPr/>
        </p:nvSpPr>
        <p:spPr xmlns:m="http://schemas.openxmlformats.org/officeDocument/2006/math" xmlns:a14="http://schemas.microsoft.com/office/drawing/2010/main">
          <a:xfrm>
            <a:off x="3113270" y="4675964"/>
            <a:ext cx="93615" cy="827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9755" y="0"/>
                </a:lnTo>
                <a:lnTo>
                  <a:pt x="8640" y="141"/>
                </a:lnTo>
                <a:lnTo>
                  <a:pt x="7595" y="422"/>
                </a:lnTo>
                <a:lnTo>
                  <a:pt x="6619" y="844"/>
                </a:lnTo>
                <a:lnTo>
                  <a:pt x="5783" y="1266"/>
                </a:lnTo>
                <a:lnTo>
                  <a:pt x="4738" y="1900"/>
                </a:lnTo>
                <a:lnTo>
                  <a:pt x="4041" y="2463"/>
                </a:lnTo>
                <a:lnTo>
                  <a:pt x="3205" y="3166"/>
                </a:lnTo>
                <a:lnTo>
                  <a:pt x="2439" y="3940"/>
                </a:lnTo>
                <a:lnTo>
                  <a:pt x="1324" y="5629"/>
                </a:lnTo>
                <a:lnTo>
                  <a:pt x="906" y="6684"/>
                </a:lnTo>
                <a:lnTo>
                  <a:pt x="557" y="7528"/>
                </a:lnTo>
                <a:lnTo>
                  <a:pt x="279" y="8724"/>
                </a:lnTo>
                <a:lnTo>
                  <a:pt x="139" y="9709"/>
                </a:lnTo>
                <a:lnTo>
                  <a:pt x="0" y="10906"/>
                </a:lnTo>
                <a:lnTo>
                  <a:pt x="139" y="11891"/>
                </a:lnTo>
                <a:lnTo>
                  <a:pt x="279" y="13016"/>
                </a:lnTo>
                <a:lnTo>
                  <a:pt x="557" y="14072"/>
                </a:lnTo>
                <a:lnTo>
                  <a:pt x="906" y="15057"/>
                </a:lnTo>
                <a:lnTo>
                  <a:pt x="1324" y="15971"/>
                </a:lnTo>
                <a:lnTo>
                  <a:pt x="1881" y="16956"/>
                </a:lnTo>
                <a:lnTo>
                  <a:pt x="2439" y="17730"/>
                </a:lnTo>
                <a:lnTo>
                  <a:pt x="3205" y="18575"/>
                </a:lnTo>
                <a:lnTo>
                  <a:pt x="4041" y="19137"/>
                </a:lnTo>
                <a:lnTo>
                  <a:pt x="4738" y="19841"/>
                </a:lnTo>
                <a:lnTo>
                  <a:pt x="5783" y="20334"/>
                </a:lnTo>
                <a:lnTo>
                  <a:pt x="6619" y="20896"/>
                </a:lnTo>
                <a:lnTo>
                  <a:pt x="7595" y="21178"/>
                </a:lnTo>
                <a:lnTo>
                  <a:pt x="8640" y="21459"/>
                </a:lnTo>
                <a:lnTo>
                  <a:pt x="9755" y="21600"/>
                </a:lnTo>
                <a:lnTo>
                  <a:pt x="11915" y="21600"/>
                </a:lnTo>
                <a:lnTo>
                  <a:pt x="12960" y="21459"/>
                </a:lnTo>
                <a:lnTo>
                  <a:pt x="13935" y="21178"/>
                </a:lnTo>
                <a:lnTo>
                  <a:pt x="14981" y="20896"/>
                </a:lnTo>
                <a:lnTo>
                  <a:pt x="15956" y="20334"/>
                </a:lnTo>
                <a:lnTo>
                  <a:pt x="16862" y="19841"/>
                </a:lnTo>
                <a:lnTo>
                  <a:pt x="17698" y="19137"/>
                </a:lnTo>
                <a:lnTo>
                  <a:pt x="18395" y="18575"/>
                </a:lnTo>
                <a:lnTo>
                  <a:pt x="19161" y="17730"/>
                </a:lnTo>
                <a:lnTo>
                  <a:pt x="19719" y="16956"/>
                </a:lnTo>
                <a:lnTo>
                  <a:pt x="20276" y="15971"/>
                </a:lnTo>
                <a:lnTo>
                  <a:pt x="20694" y="15057"/>
                </a:lnTo>
                <a:lnTo>
                  <a:pt x="21112" y="14072"/>
                </a:lnTo>
                <a:lnTo>
                  <a:pt x="21321" y="13016"/>
                </a:lnTo>
                <a:lnTo>
                  <a:pt x="21600" y="11891"/>
                </a:lnTo>
                <a:lnTo>
                  <a:pt x="21600" y="9709"/>
                </a:lnTo>
                <a:lnTo>
                  <a:pt x="21321" y="8724"/>
                </a:lnTo>
                <a:lnTo>
                  <a:pt x="21112" y="7528"/>
                </a:lnTo>
                <a:lnTo>
                  <a:pt x="20694" y="6684"/>
                </a:lnTo>
                <a:lnTo>
                  <a:pt x="20276" y="5629"/>
                </a:lnTo>
                <a:lnTo>
                  <a:pt x="19161" y="3940"/>
                </a:lnTo>
                <a:lnTo>
                  <a:pt x="18395" y="3166"/>
                </a:lnTo>
                <a:lnTo>
                  <a:pt x="17698" y="2463"/>
                </a:lnTo>
                <a:lnTo>
                  <a:pt x="16862" y="1900"/>
                </a:lnTo>
                <a:lnTo>
                  <a:pt x="15956" y="1266"/>
                </a:lnTo>
                <a:lnTo>
                  <a:pt x="14981" y="844"/>
                </a:lnTo>
                <a:lnTo>
                  <a:pt x="13935" y="422"/>
                </a:lnTo>
                <a:lnTo>
                  <a:pt x="12960" y="141"/>
                </a:lnTo>
                <a:lnTo>
                  <a:pt x="11915" y="0"/>
                </a:lnTo>
                <a:lnTo>
                  <a:pt x="10800" y="0"/>
                </a:ln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pic>
        <p:nvPicPr>
          <p:cNvPr id="21" name="图形" descr="3b8add963136f361ab5c80602bd6fe9fa41541a5.png"/>
          <p:cNvPicPr>
            <a:picLocks noChangeAspect="1"/>
          </p:cNvPicPr>
          <p:nvPr/>
        </p:nvPicPr>
        <p:blipFill>
          <a:blip r:embed="rId3"/>
          <a:srcRect/>
          <a:stretch>
            <a:fillRect/>
          </a:stretch>
        </p:blipFill>
        <p:spPr>
          <a:xfrm>
            <a:off x="688974" y="4612639"/>
            <a:ext cx="290831" cy="29083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形" descr="image.png"/>
          <p:cNvPicPr>
            <a:picLocks noChangeAspect="1"/>
          </p:cNvPicPr>
          <p:nvPr/>
        </p:nvPicPr>
        <p:blipFill>
          <a:blip r:embed="rId2"/>
          <a:srcRect/>
          <a:stretch>
            <a:fillRect/>
          </a:stretch>
        </p:blipFill>
        <p:spPr>
          <a:xfrm>
            <a:off x="0" y="24731"/>
            <a:ext cx="12192000" cy="6832601"/>
          </a:xfrm>
          <a:prstGeom prst="rect">
            <a:avLst/>
          </a:prstGeom>
        </p:spPr>
      </p:pic>
      <p:sp>
        <p:nvSpPr>
          <p:cNvPr id="3" name="图形"/>
          <p:cNvSpPr txBox="1"/>
          <p:nvPr/>
        </p:nvSpPr>
        <p:spPr>
          <a:xfrm>
            <a:off x="722630" y="464819"/>
            <a:ext cx="1783715" cy="1158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6000">
                <a:solidFill>
                  <a:schemeClr val="accent1"/>
                </a:solidFill>
                <a:latin typeface="思源宋体 CN Heavy"/>
                <a:ea typeface="思源宋体 CN Heavy"/>
                <a:cs typeface="思源宋体 CN Heavy"/>
                <a:sym typeface="思源宋体 CN Heavy"/>
              </a:defRPr>
            </a:lvl1pPr>
          </a:lstStyle>
          <a:p>
            <a:pPr>
              <a:defRPr/>
            </a:pPr>
            <a:r>
              <a:rPr/>
              <a:t>目录</a:t>
            </a:r>
          </a:p>
        </p:txBody>
      </p:sp>
      <p:sp>
        <p:nvSpPr>
          <p:cNvPr id="4" name="图形"/>
          <p:cNvSpPr txBox="1"/>
          <p:nvPr/>
        </p:nvSpPr>
        <p:spPr>
          <a:xfrm>
            <a:off x="2577465" y="770890"/>
            <a:ext cx="2245361" cy="523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800">
                <a:solidFill>
                  <a:srgbClr val="262626"/>
                </a:solidFill>
                <a:latin typeface="思源宋体 CN Heavy"/>
                <a:ea typeface="思源宋体 CN Heavy"/>
                <a:cs typeface="思源宋体 CN Heavy"/>
                <a:sym typeface="思源宋体 CN Heavy"/>
              </a:defRPr>
            </a:lvl1pPr>
          </a:lstStyle>
          <a:p>
            <a:pPr>
              <a:defRPr/>
            </a:pPr>
            <a:r>
              <a:rPr/>
              <a:t>内容概览</a:t>
            </a:r>
          </a:p>
        </p:txBody>
      </p:sp>
      <p:sp>
        <p:nvSpPr>
          <p:cNvPr id="5" name="TextBox 9"/>
          <p:cNvSpPr txBox="1"/>
          <p:nvPr/>
        </p:nvSpPr>
        <p:spPr>
          <a:xfrm>
            <a:off x="95622" y="36763"/>
            <a:ext cx="362211" cy="12700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lvl1pPr>
          </a:lstStyle>
          <a:p>
            <a:pPr>
              <a:lnSpc>
                <a:spcPct val="200000"/>
              </a:lnSpc>
              <a:defRPr sz="100">
                <a:noFill/>
                <a:latin typeface="微软雅黑"/>
                <a:ea typeface="微软雅黑"/>
                <a:cs typeface="微软雅黑"/>
                <a:sym typeface="微软雅黑"/>
              </a:defRPr>
            </a:pPr>
            <a:r>
              <a:rPr/>
              <a:t>2026-04-14</a:t>
            </a:r>
          </a:p>
        </p:txBody>
      </p:sp>
      <p:sp>
        <p:nvSpPr>
          <p:cNvPr id="6" name="图形"/>
          <p:cNvSpPr/>
          <p:nvPr/>
        </p:nvSpPr>
        <p:spPr xmlns:m="http://schemas.openxmlformats.org/officeDocument/2006/math" xmlns:a14="http://schemas.microsoft.com/office/drawing/2010/main">
          <a:xfrm rot="540000">
            <a:off x="930752" y="1766646"/>
            <a:ext cx="1839681" cy="1251117"/>
          </a:xfrm>
          <a:prstGeom prst="roundRect">
            <a:avLst>
              <a:gd name="adj" fmla="val 4574"/>
            </a:avLst>
          </a:prstGeom>
          <a:gradFill flip="none" rotWithShape="1">
            <a:gsLst>
              <a:gs pos="0">
                <a:srgbClr val="007EE8"/>
              </a:gs>
              <a:gs pos="100000">
                <a:schemeClr val="accent2"/>
              </a:gs>
            </a:gsLst>
            <a:lin ang="16200000" scaled="0"/>
          </a:gradFill>
          <a:ln w="12700" cap="flat">
            <a:noFill/>
            <a:miter lim="400000"/>
          </a:ln>
          <a:effectLst>
            <a:outerShdw sx="100000" sy="100000" kx="0" ky="0" algn="b" rotWithShape="0" blurRad="50800" dist="38100" dir="5400000">
              <a:srgbClr val="000000">
                <a:alpha val="23000"/>
              </a:srgbClr>
            </a:outerShdw>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7" name="图形"/>
          <p:cNvSpPr/>
          <p:nvPr/>
        </p:nvSpPr>
        <p:spPr xmlns:m="http://schemas.openxmlformats.org/officeDocument/2006/math" xmlns:a14="http://schemas.microsoft.com/office/drawing/2010/main">
          <a:xfrm>
            <a:off x="666749" y="1982541"/>
            <a:ext cx="2626996" cy="3886129"/>
          </a:xfrm>
          <a:prstGeom prst="roundRect">
            <a:avLst>
              <a:gd name="adj" fmla="val 4574"/>
            </a:avLst>
          </a:prstGeom>
          <a:gradFill flip="none" rotWithShape="1">
            <a:gsLst>
              <a:gs pos="0">
                <a:srgbClr val="E1F2FF"/>
              </a:gs>
              <a:gs pos="100000">
                <a:srgbClr val="FFFFFF"/>
              </a:gs>
            </a:gsLst>
            <a:lin ang="16200000" scaled="0"/>
          </a:gradFill>
          <a:ln w="12700" cap="flat">
            <a:noFill/>
            <a:miter lim="400000"/>
          </a:ln>
          <a:effectLst>
            <a:outerShdw sx="100000" sy="100000" kx="0" ky="0" algn="b" rotWithShape="0" blurRad="50800" dist="38100" dir="5400000">
              <a:srgbClr val="000000">
                <a:alpha val="23000"/>
              </a:srgbClr>
            </a:outerShdw>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8" name="图形"/>
          <p:cNvSpPr txBox="1"/>
          <p:nvPr/>
        </p:nvSpPr>
        <p:spPr>
          <a:xfrm>
            <a:off x="1167763" y="2335530"/>
            <a:ext cx="2011682" cy="1551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96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a:t>01</a:t>
            </a:r>
          </a:p>
        </p:txBody>
      </p:sp>
      <p:sp>
        <p:nvSpPr>
          <p:cNvPr id="9" name="图形"/>
          <p:cNvSpPr/>
          <p:nvPr/>
        </p:nvSpPr>
        <p:spPr xmlns:m="http://schemas.openxmlformats.org/officeDocument/2006/math" xmlns:a14="http://schemas.microsoft.com/office/drawing/2010/main">
          <a:xfrm rot="540000">
            <a:off x="3700967" y="1766762"/>
            <a:ext cx="1838192" cy="1251083"/>
          </a:xfrm>
          <a:prstGeom prst="roundRect">
            <a:avLst>
              <a:gd name="adj" fmla="val 4574"/>
            </a:avLst>
          </a:prstGeom>
          <a:gradFill flip="none" rotWithShape="1">
            <a:gsLst>
              <a:gs pos="0">
                <a:srgbClr val="007EE8"/>
              </a:gs>
              <a:gs pos="100000">
                <a:schemeClr val="accent2"/>
              </a:gs>
            </a:gsLst>
            <a:lin ang="16200000" scaled="0"/>
          </a:gradFill>
          <a:ln w="12700" cap="flat">
            <a:noFill/>
            <a:miter lim="400000"/>
          </a:ln>
          <a:effectLst>
            <a:outerShdw sx="100000" sy="100000" kx="0" ky="0" algn="b" rotWithShape="0" blurRad="50800" dist="38100" dir="5400000">
              <a:srgbClr val="000000">
                <a:alpha val="23000"/>
              </a:srgbClr>
            </a:outerShdw>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0" name="图形"/>
          <p:cNvSpPr/>
          <p:nvPr/>
        </p:nvSpPr>
        <p:spPr xmlns:m="http://schemas.openxmlformats.org/officeDocument/2006/math" xmlns:a14="http://schemas.microsoft.com/office/drawing/2010/main">
          <a:xfrm>
            <a:off x="3435984" y="1982652"/>
            <a:ext cx="2626361" cy="3886017"/>
          </a:xfrm>
          <a:prstGeom prst="roundRect">
            <a:avLst>
              <a:gd name="adj" fmla="val 4574"/>
            </a:avLst>
          </a:prstGeom>
          <a:gradFill flip="none" rotWithShape="1">
            <a:gsLst>
              <a:gs pos="0">
                <a:srgbClr val="E1F2FF"/>
              </a:gs>
              <a:gs pos="100000">
                <a:srgbClr val="FFFFFF"/>
              </a:gs>
            </a:gsLst>
            <a:lin ang="16200000" scaled="0"/>
          </a:gradFill>
          <a:ln w="12700" cap="flat">
            <a:noFill/>
            <a:miter lim="400000"/>
          </a:ln>
          <a:effectLst>
            <a:outerShdw sx="100000" sy="100000" kx="0" ky="0" algn="b" rotWithShape="0" blurRad="50800" dist="38100" dir="5400000">
              <a:srgbClr val="000000">
                <a:alpha val="23000"/>
              </a:srgbClr>
            </a:outerShdw>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1" name="图形"/>
          <p:cNvSpPr txBox="1"/>
          <p:nvPr/>
        </p:nvSpPr>
        <p:spPr>
          <a:xfrm>
            <a:off x="3943348" y="2335529"/>
            <a:ext cx="1699261" cy="1551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96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a:t>02</a:t>
            </a:r>
          </a:p>
        </p:txBody>
      </p:sp>
      <p:sp>
        <p:nvSpPr>
          <p:cNvPr id="12" name="图形"/>
          <p:cNvSpPr/>
          <p:nvPr/>
        </p:nvSpPr>
        <p:spPr xmlns:m="http://schemas.openxmlformats.org/officeDocument/2006/math" xmlns:a14="http://schemas.microsoft.com/office/drawing/2010/main">
          <a:xfrm rot="540000">
            <a:off x="6469567" y="1766762"/>
            <a:ext cx="1838192" cy="1251083"/>
          </a:xfrm>
          <a:prstGeom prst="roundRect">
            <a:avLst>
              <a:gd name="adj" fmla="val 4574"/>
            </a:avLst>
          </a:prstGeom>
          <a:gradFill flip="none" rotWithShape="1">
            <a:gsLst>
              <a:gs pos="0">
                <a:srgbClr val="007EE8"/>
              </a:gs>
              <a:gs pos="100000">
                <a:schemeClr val="accent2"/>
              </a:gs>
            </a:gsLst>
            <a:lin ang="16200000" scaled="0"/>
          </a:gradFill>
          <a:ln w="12700" cap="flat">
            <a:noFill/>
            <a:miter lim="400000"/>
          </a:ln>
          <a:effectLst>
            <a:outerShdw sx="100000" sy="100000" kx="0" ky="0" algn="b" rotWithShape="0" blurRad="50800" dist="38100" dir="5400000">
              <a:srgbClr val="000000">
                <a:alpha val="23000"/>
              </a:srgbClr>
            </a:outerShdw>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3" name="图形"/>
          <p:cNvSpPr/>
          <p:nvPr/>
        </p:nvSpPr>
        <p:spPr xmlns:m="http://schemas.openxmlformats.org/officeDocument/2006/math" xmlns:a14="http://schemas.microsoft.com/office/drawing/2010/main">
          <a:xfrm>
            <a:off x="6204584" y="1982652"/>
            <a:ext cx="2626361" cy="3886017"/>
          </a:xfrm>
          <a:prstGeom prst="roundRect">
            <a:avLst>
              <a:gd name="adj" fmla="val 4574"/>
            </a:avLst>
          </a:prstGeom>
          <a:gradFill flip="none" rotWithShape="1">
            <a:gsLst>
              <a:gs pos="0">
                <a:srgbClr val="E1F2FF"/>
              </a:gs>
              <a:gs pos="100000">
                <a:srgbClr val="FFFFFF"/>
              </a:gs>
            </a:gsLst>
            <a:lin ang="16200000" scaled="0"/>
          </a:gradFill>
          <a:ln w="12700" cap="flat">
            <a:noFill/>
            <a:miter lim="400000"/>
          </a:ln>
          <a:effectLst>
            <a:outerShdw sx="100000" sy="100000" kx="0" ky="0" algn="b" rotWithShape="0" blurRad="50800" dist="38100" dir="5400000">
              <a:srgbClr val="000000">
                <a:alpha val="23000"/>
              </a:srgbClr>
            </a:outerShdw>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4" name="图形"/>
          <p:cNvSpPr txBox="1"/>
          <p:nvPr/>
        </p:nvSpPr>
        <p:spPr>
          <a:xfrm>
            <a:off x="6753223" y="2335529"/>
            <a:ext cx="1699261" cy="1551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96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a:t>03</a:t>
            </a:r>
          </a:p>
        </p:txBody>
      </p:sp>
      <p:sp>
        <p:nvSpPr>
          <p:cNvPr id="15" name="图形"/>
          <p:cNvSpPr/>
          <p:nvPr/>
        </p:nvSpPr>
        <p:spPr xmlns:m="http://schemas.openxmlformats.org/officeDocument/2006/math" xmlns:a14="http://schemas.microsoft.com/office/drawing/2010/main">
          <a:xfrm rot="540000">
            <a:off x="9238167" y="1766762"/>
            <a:ext cx="1838192" cy="1251083"/>
          </a:xfrm>
          <a:prstGeom prst="roundRect">
            <a:avLst>
              <a:gd name="adj" fmla="val 4574"/>
            </a:avLst>
          </a:prstGeom>
          <a:gradFill flip="none" rotWithShape="1">
            <a:gsLst>
              <a:gs pos="0">
                <a:srgbClr val="007EE8"/>
              </a:gs>
              <a:gs pos="100000">
                <a:schemeClr val="accent2"/>
              </a:gs>
            </a:gsLst>
            <a:lin ang="16200000" scaled="0"/>
          </a:gradFill>
          <a:ln w="12700" cap="flat">
            <a:noFill/>
            <a:miter lim="400000"/>
          </a:ln>
          <a:effectLst>
            <a:outerShdw sx="100000" sy="100000" kx="0" ky="0" algn="b" rotWithShape="0" blurRad="50800" dist="38100" dir="5400000">
              <a:srgbClr val="000000">
                <a:alpha val="23000"/>
              </a:srgbClr>
            </a:outerShdw>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6" name="图形"/>
          <p:cNvSpPr/>
          <p:nvPr/>
        </p:nvSpPr>
        <p:spPr xmlns:m="http://schemas.openxmlformats.org/officeDocument/2006/math" xmlns:a14="http://schemas.microsoft.com/office/drawing/2010/main">
          <a:xfrm>
            <a:off x="8973184" y="1982652"/>
            <a:ext cx="2626361" cy="3886017"/>
          </a:xfrm>
          <a:prstGeom prst="roundRect">
            <a:avLst>
              <a:gd name="adj" fmla="val 4574"/>
            </a:avLst>
          </a:prstGeom>
          <a:gradFill flip="none" rotWithShape="1">
            <a:gsLst>
              <a:gs pos="0">
                <a:srgbClr val="E1F2FF"/>
              </a:gs>
              <a:gs pos="100000">
                <a:srgbClr val="FFFFFF"/>
              </a:gs>
            </a:gsLst>
            <a:lin ang="16200000" scaled="0"/>
          </a:gradFill>
          <a:ln w="12700" cap="flat">
            <a:noFill/>
            <a:miter lim="400000"/>
          </a:ln>
          <a:effectLst>
            <a:outerShdw sx="100000" sy="100000" kx="0" ky="0" algn="b" rotWithShape="0" blurRad="50800" dist="38100" dir="5400000">
              <a:srgbClr val="000000">
                <a:alpha val="23000"/>
              </a:srgbClr>
            </a:outerShdw>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7" name="图形"/>
          <p:cNvSpPr txBox="1"/>
          <p:nvPr/>
        </p:nvSpPr>
        <p:spPr>
          <a:xfrm>
            <a:off x="9478008" y="2335529"/>
            <a:ext cx="1699261" cy="1551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96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a:t>04</a:t>
            </a:r>
          </a:p>
        </p:txBody>
      </p:sp>
      <p:sp>
        <p:nvSpPr>
          <p:cNvPr id="18" name="图形"/>
          <p:cNvSpPr/>
          <p:nvPr/>
        </p:nvSpPr>
        <p:spPr xmlns:m="http://schemas.openxmlformats.org/officeDocument/2006/math" xmlns:a14="http://schemas.microsoft.com/office/drawing/2010/main">
          <a:xfrm>
            <a:off x="969009" y="3248660"/>
            <a:ext cx="1948816" cy="49403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rgbClr val="3B4B9F">
                <a:alpha val="40000"/>
              </a:srgbClr>
            </a:outerShdw>
          </a:effectLst>
        </p:spPr>
        <p:txBody>
          <a:bodyPr wrap="square" lIns="45719" tIns="45719" rIns="45719" bIns="45719" numCol="1" anchor="ctr">
            <a:noAutofit/>
          </a:bodyPr>
          <a:lstStyle>
            <a:lvl1pPr>
              <a:defRPr/>
            </a:lvl1pPr>
          </a:lstStyle>
          <a:p>
            <a:pPr algn="ctr">
              <a:defRPr b="1">
                <a:solidFill>
                  <a:srgbClr val="FFFFFF"/>
                </a:solidFill>
                <a:latin typeface="思源宋体 CN Heavy"/>
                <a:ea typeface="思源宋体 CN Heavy"/>
                <a:cs typeface="思源宋体 CN Heavy"/>
                <a:sym typeface="思源宋体 CN Heavy"/>
              </a:defRPr>
            </a:pPr>
          </a:p>
        </p:txBody>
      </p:sp>
      <p:sp>
        <p:nvSpPr>
          <p:cNvPr id="19" name="图形"/>
          <p:cNvSpPr/>
          <p:nvPr/>
        </p:nvSpPr>
        <p:spPr xmlns:m="http://schemas.openxmlformats.org/officeDocument/2006/math" xmlns:a14="http://schemas.microsoft.com/office/drawing/2010/main">
          <a:xfrm>
            <a:off x="3772534" y="3248660"/>
            <a:ext cx="1948815" cy="49403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rgbClr val="3B4B9F">
                <a:alpha val="40000"/>
              </a:srgbClr>
            </a:outerShdw>
          </a:effectLst>
        </p:spPr>
        <p:txBody>
          <a:bodyPr wrap="square" lIns="45719" tIns="45719" rIns="45719" bIns="45719" numCol="1" anchor="ctr">
            <a:noAutofit/>
          </a:bodyPr>
          <a:lstStyle>
            <a:lvl1pPr>
              <a:defRPr/>
            </a:lvl1pPr>
          </a:lstStyle>
          <a:p>
            <a:pPr algn="ctr">
              <a:defRPr b="1">
                <a:solidFill>
                  <a:srgbClr val="FFFFFF"/>
                </a:solidFill>
                <a:latin typeface="思源宋体 CN Heavy"/>
                <a:ea typeface="思源宋体 CN Heavy"/>
                <a:cs typeface="思源宋体 CN Heavy"/>
                <a:sym typeface="思源宋体 CN Heavy"/>
              </a:defRPr>
            </a:pPr>
          </a:p>
        </p:txBody>
      </p:sp>
      <p:sp>
        <p:nvSpPr>
          <p:cNvPr id="20" name="图形"/>
          <p:cNvSpPr/>
          <p:nvPr/>
        </p:nvSpPr>
        <p:spPr xmlns:m="http://schemas.openxmlformats.org/officeDocument/2006/math" xmlns:a14="http://schemas.microsoft.com/office/drawing/2010/main">
          <a:xfrm>
            <a:off x="6572249" y="3248660"/>
            <a:ext cx="1948815" cy="49403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rgbClr val="3B4B9F">
                <a:alpha val="40000"/>
              </a:srgbClr>
            </a:outerShdw>
          </a:effectLst>
        </p:spPr>
        <p:txBody>
          <a:bodyPr wrap="square" lIns="45719" tIns="45719" rIns="45719" bIns="45719" numCol="1" anchor="ctr">
            <a:noAutofit/>
          </a:bodyPr>
          <a:lstStyle>
            <a:lvl1pPr>
              <a:defRPr/>
            </a:lvl1pPr>
          </a:lstStyle>
          <a:p>
            <a:pPr algn="ctr">
              <a:defRPr b="1">
                <a:solidFill>
                  <a:srgbClr val="FFFFFF"/>
                </a:solidFill>
                <a:latin typeface="思源宋体 CN Heavy"/>
                <a:ea typeface="思源宋体 CN Heavy"/>
                <a:cs typeface="思源宋体 CN Heavy"/>
                <a:sym typeface="思源宋体 CN Heavy"/>
              </a:defRPr>
            </a:pPr>
          </a:p>
        </p:txBody>
      </p:sp>
      <p:sp>
        <p:nvSpPr>
          <p:cNvPr id="21" name="图形"/>
          <p:cNvSpPr/>
          <p:nvPr/>
        </p:nvSpPr>
        <p:spPr xmlns:m="http://schemas.openxmlformats.org/officeDocument/2006/math" xmlns:a14="http://schemas.microsoft.com/office/drawing/2010/main">
          <a:xfrm>
            <a:off x="9350374" y="3248660"/>
            <a:ext cx="1948815" cy="49403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rgbClr val="3B4B9F">
                <a:alpha val="40000"/>
              </a:srgbClr>
            </a:outerShdw>
          </a:effectLst>
        </p:spPr>
        <p:txBody>
          <a:bodyPr wrap="square" lIns="45719" tIns="45719" rIns="45719" bIns="45719" numCol="1" anchor="ctr">
            <a:noAutofit/>
          </a:bodyPr>
          <a:lstStyle>
            <a:lvl1pPr>
              <a:defRPr/>
            </a:lvl1pPr>
          </a:lstStyle>
          <a:p>
            <a:pPr algn="ctr">
              <a:defRPr b="1">
                <a:solidFill>
                  <a:srgbClr val="FFFFFF"/>
                </a:solidFill>
                <a:latin typeface="思源宋体 CN Heavy"/>
                <a:ea typeface="思源宋体 CN Heavy"/>
                <a:cs typeface="思源宋体 CN Heavy"/>
                <a:sym typeface="思源宋体 CN Heavy"/>
              </a:defRPr>
            </a:pPr>
          </a:p>
        </p:txBody>
      </p:sp>
      <p:sp>
        <p:nvSpPr>
          <p:cNvPr id="22" name="图形"/>
          <p:cNvSpPr txBox="1"/>
          <p:nvPr/>
        </p:nvSpPr>
        <p:spPr>
          <a:xfrm>
            <a:off x="984884" y="4620260"/>
            <a:ext cx="1854201"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defRPr/>
            </a:lvl1pPr>
          </a:lstStyle>
          <a:p>
            <a:pPr algn="ctr">
              <a:lnSpc>
                <a:spcPct val="150000"/>
              </a:lnSpc>
              <a:defRPr sz="1200">
                <a:latin typeface="思源宋体 SemiBold"/>
                <a:ea typeface="思源宋体 SemiBold"/>
                <a:cs typeface="思源宋体 SemiBold"/>
                <a:sym typeface="思源宋体 SemiBold"/>
              </a:defRPr>
            </a:pPr>
            <a:r>
              <a:rPr/>
              <a:t>回顾人工智能70年发展历程</a:t>
            </a:r>
          </a:p>
          <a:p>
            <a:pPr algn="ctr">
              <a:lnSpc>
                <a:spcPct val="150000"/>
              </a:lnSpc>
              <a:defRPr sz="1200">
                <a:latin typeface="思源宋体 SemiBold"/>
                <a:ea typeface="思源宋体 SemiBold"/>
                <a:cs typeface="思源宋体 SemiBold"/>
                <a:sym typeface="思源宋体 SemiBold"/>
              </a:defRPr>
            </a:pPr>
            <a:r>
              <a:rPr/>
              <a:t>梳理从1956年至今的关键阶段与整体格局</a:t>
            </a:r>
          </a:p>
        </p:txBody>
      </p:sp>
      <p:sp>
        <p:nvSpPr>
          <p:cNvPr id="23" name="图形"/>
          <p:cNvSpPr txBox="1"/>
          <p:nvPr/>
        </p:nvSpPr>
        <p:spPr>
          <a:xfrm>
            <a:off x="988693" y="3954145"/>
            <a:ext cx="1846582" cy="701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sz="3400">
                <a:solidFill>
                  <a:srgbClr val="404040"/>
                </a:solidFill>
                <a:latin typeface="思源宋体 CN Heavy"/>
                <a:ea typeface="思源宋体 CN Heavy"/>
                <a:cs typeface="思源宋体 CN Heavy"/>
                <a:sym typeface="思源宋体 CN Heavy"/>
              </a:defRPr>
            </a:lvl1pPr>
          </a:lstStyle>
          <a:p>
            <a:pPr>
              <a:defRPr/>
            </a:pPr>
            <a:r>
              <a:rPr/>
              <a:t>简介</a:t>
            </a:r>
          </a:p>
        </p:txBody>
      </p:sp>
      <p:sp>
        <p:nvSpPr>
          <p:cNvPr id="24" name="图形"/>
          <p:cNvSpPr txBox="1"/>
          <p:nvPr/>
        </p:nvSpPr>
        <p:spPr>
          <a:xfrm>
            <a:off x="3822064" y="4620260"/>
            <a:ext cx="1854201"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defRPr/>
            </a:lvl1pPr>
          </a:lstStyle>
          <a:p>
            <a:pPr algn="ctr">
              <a:lnSpc>
                <a:spcPct val="150000"/>
              </a:lnSpc>
              <a:defRPr sz="1200">
                <a:latin typeface="思源宋体 SemiBold"/>
                <a:ea typeface="思源宋体 SemiBold"/>
                <a:cs typeface="思源宋体 SemiBold"/>
                <a:sym typeface="思源宋体 SemiBold"/>
              </a:defRPr>
            </a:pPr>
            <a:r>
              <a:rPr/>
              <a:t>探索符号主义 AI 的起源与 Dartmouth 会议等奠基性里程碑</a:t>
            </a:r>
          </a:p>
          <a:p>
            <a:pPr algn="ctr">
              <a:lnSpc>
                <a:spcPct val="150000"/>
              </a:lnSpc>
              <a:defRPr sz="1200">
                <a:latin typeface="思源宋体 SemiBold"/>
                <a:ea typeface="思源宋体 SemiBold"/>
                <a:cs typeface="思源宋体 SemiBold"/>
                <a:sym typeface="思源宋体 SemiBold"/>
              </a:defRPr>
            </a:pPr>
            <a:r>
              <a:rPr/>
              <a:t>了解早期电子计算为人工智能发展奠定的基础</a:t>
            </a:r>
          </a:p>
        </p:txBody>
      </p:sp>
      <p:sp>
        <p:nvSpPr>
          <p:cNvPr id="25" name="图形"/>
          <p:cNvSpPr txBox="1"/>
          <p:nvPr/>
        </p:nvSpPr>
        <p:spPr>
          <a:xfrm>
            <a:off x="3825873" y="3954145"/>
            <a:ext cx="1846582" cy="701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sz="3400">
                <a:solidFill>
                  <a:srgbClr val="404040"/>
                </a:solidFill>
                <a:latin typeface="思源宋体 CN Heavy"/>
                <a:ea typeface="思源宋体 CN Heavy"/>
                <a:cs typeface="思源宋体 CN Heavy"/>
                <a:sym typeface="思源宋体 CN Heavy"/>
              </a:defRPr>
            </a:lvl1pPr>
          </a:lstStyle>
          <a:p>
            <a:pPr>
              <a:defRPr/>
            </a:pPr>
            <a:r>
              <a:rPr/>
              <a:t>早期 AI 与符号主义时代</a:t>
            </a:r>
          </a:p>
        </p:txBody>
      </p:sp>
      <p:sp>
        <p:nvSpPr>
          <p:cNvPr id="26" name="图形"/>
          <p:cNvSpPr txBox="1"/>
          <p:nvPr/>
        </p:nvSpPr>
        <p:spPr>
          <a:xfrm>
            <a:off x="6622414" y="4570095"/>
            <a:ext cx="1854201"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defRPr/>
            </a:lvl1pPr>
          </a:lstStyle>
          <a:p>
            <a:pPr algn="ctr">
              <a:lnSpc>
                <a:spcPct val="150000"/>
              </a:lnSpc>
              <a:defRPr sz="1200">
                <a:latin typeface="思源宋体 SemiBold"/>
                <a:ea typeface="思源宋体 SemiBold"/>
                <a:cs typeface="思源宋体 SemiBold"/>
                <a:sym typeface="思源宋体 SemiBold"/>
              </a:defRPr>
            </a:pPr>
            <a:r>
              <a:rPr/>
              <a:t>审视专家系统的实际价值与两次 AI 寒冬的成因</a:t>
            </a:r>
          </a:p>
          <a:p>
            <a:pPr algn="ctr">
              <a:lnSpc>
                <a:spcPct val="150000"/>
              </a:lnSpc>
              <a:defRPr sz="1200">
                <a:latin typeface="思源宋体 SemiBold"/>
                <a:ea typeface="思源宋体 SemiBold"/>
                <a:cs typeface="思源宋体 SemiBold"/>
                <a:sym typeface="思源宋体 SemiBold"/>
              </a:defRPr>
            </a:pPr>
            <a:r>
              <a:rPr/>
              <a:t>回顾 Deep Blue 击败 Kasparov 的里程碑事件</a:t>
            </a:r>
          </a:p>
        </p:txBody>
      </p:sp>
      <p:sp>
        <p:nvSpPr>
          <p:cNvPr id="27" name="图形"/>
          <p:cNvSpPr txBox="1"/>
          <p:nvPr/>
        </p:nvSpPr>
        <p:spPr>
          <a:xfrm>
            <a:off x="6626223" y="3903980"/>
            <a:ext cx="1846582" cy="701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sz="3400">
                <a:solidFill>
                  <a:srgbClr val="404040"/>
                </a:solidFill>
                <a:latin typeface="思源宋体 CN Heavy"/>
                <a:ea typeface="思源宋体 CN Heavy"/>
                <a:cs typeface="思源宋体 CN Heavy"/>
                <a:sym typeface="思源宋体 CN Heavy"/>
              </a:defRPr>
            </a:lvl1pPr>
          </a:lstStyle>
          <a:p>
            <a:pPr>
              <a:defRPr/>
            </a:pPr>
            <a:r>
              <a:rPr/>
              <a:t>AI 寒冬与专家系统</a:t>
            </a:r>
          </a:p>
        </p:txBody>
      </p:sp>
      <p:sp>
        <p:nvSpPr>
          <p:cNvPr id="28" name="图形"/>
          <p:cNvSpPr txBox="1"/>
          <p:nvPr/>
        </p:nvSpPr>
        <p:spPr>
          <a:xfrm>
            <a:off x="9459594" y="4570095"/>
            <a:ext cx="1854201"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defRPr/>
            </a:lvl1pPr>
          </a:lstStyle>
          <a:p>
            <a:pPr algn="ctr">
              <a:lnSpc>
                <a:spcPct val="150000"/>
              </a:lnSpc>
              <a:defRPr sz="1200">
                <a:latin typeface="思源宋体 SemiBold"/>
                <a:ea typeface="思源宋体 SemiBold"/>
                <a:cs typeface="思源宋体 SemiBold"/>
                <a:sym typeface="思源宋体 SemiBold"/>
              </a:defRPr>
            </a:pPr>
            <a:r>
              <a:rPr/>
              <a:t>描述向数据驱动机器学习范式转变的关键技术突破</a:t>
            </a:r>
          </a:p>
          <a:p>
            <a:pPr algn="ctr">
              <a:lnSpc>
                <a:spcPct val="150000"/>
              </a:lnSpc>
              <a:defRPr sz="1200">
                <a:latin typeface="思源宋体 SemiBold"/>
                <a:ea typeface="思源宋体 SemiBold"/>
                <a:cs typeface="思源宋体 SemiBold"/>
                <a:sym typeface="思源宋体 SemiBold"/>
              </a:defRPr>
            </a:pPr>
            <a:r>
              <a:rPr/>
              <a:t>回顾定义这一时代的标志性应用案例</a:t>
            </a:r>
          </a:p>
        </p:txBody>
      </p:sp>
      <p:sp>
        <p:nvSpPr>
          <p:cNvPr id="29" name="图形"/>
          <p:cNvSpPr txBox="1"/>
          <p:nvPr/>
        </p:nvSpPr>
        <p:spPr>
          <a:xfrm>
            <a:off x="9463403" y="3903980"/>
            <a:ext cx="1846582" cy="701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sz="3400">
                <a:solidFill>
                  <a:srgbClr val="404040"/>
                </a:solidFill>
                <a:latin typeface="思源宋体 CN Heavy"/>
                <a:ea typeface="思源宋体 CN Heavy"/>
                <a:cs typeface="思源宋体 CN Heavy"/>
                <a:sym typeface="思源宋体 CN Heavy"/>
              </a:defRPr>
            </a:lvl1pPr>
          </a:lstStyle>
          <a:p>
            <a:pPr>
              <a:defRPr/>
            </a:pPr>
            <a:r>
              <a:rPr/>
              <a:t>机器学习的崛起</a:t>
            </a:r>
          </a:p>
        </p:txBody>
      </p:sp>
      <p:sp>
        <p:nvSpPr>
          <p:cNvPr id="30" name="图形"/>
          <p:cNvSpPr txBox="1"/>
          <p:nvPr/>
        </p:nvSpPr>
        <p:spPr>
          <a:xfrm>
            <a:off x="1225549" y="3305810"/>
            <a:ext cx="1385571"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000">
                <a:solidFill>
                  <a:srgbClr val="FFFFFF"/>
                </a:solidFill>
                <a:latin typeface="阿里巴巴普惠体 Heavy"/>
                <a:ea typeface="阿里巴巴普惠体 Heavy"/>
                <a:cs typeface="阿里巴巴普惠体 Heavy"/>
                <a:sym typeface="阿里巴巴普惠体 Heavy"/>
              </a:defRPr>
            </a:lvl1pPr>
          </a:lstStyle>
          <a:p>
            <a:pPr>
              <a:defRPr/>
            </a:pPr>
            <a:r>
              <a:rPr/>
              <a:t>Introduction</a:t>
            </a:r>
          </a:p>
        </p:txBody>
      </p:sp>
      <p:sp>
        <p:nvSpPr>
          <p:cNvPr id="31" name="图形"/>
          <p:cNvSpPr txBox="1"/>
          <p:nvPr/>
        </p:nvSpPr>
        <p:spPr>
          <a:xfrm>
            <a:off x="3816349" y="3305810"/>
            <a:ext cx="1865631"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000">
                <a:solidFill>
                  <a:srgbClr val="FFFFFF"/>
                </a:solidFill>
                <a:latin typeface="阿里巴巴普惠体 Heavy"/>
                <a:ea typeface="阿里巴巴普惠体 Heavy"/>
                <a:cs typeface="阿里巴巴普惠体 Heavy"/>
                <a:sym typeface="阿里巴巴普惠体 Heavy"/>
              </a:defRPr>
            </a:lvl1pPr>
          </a:lstStyle>
          <a:p>
            <a:pPr>
              <a:defRPr/>
            </a:pPr>
            <a:r>
              <a:rPr/>
              <a:t>Early AI &amp; Symbolic Era</a:t>
            </a:r>
          </a:p>
        </p:txBody>
      </p:sp>
      <p:sp>
        <p:nvSpPr>
          <p:cNvPr id="32" name="图形"/>
          <p:cNvSpPr txBox="1"/>
          <p:nvPr/>
        </p:nvSpPr>
        <p:spPr>
          <a:xfrm>
            <a:off x="6620508" y="3305810"/>
            <a:ext cx="1834516"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000">
                <a:solidFill>
                  <a:srgbClr val="FFFFFF"/>
                </a:solidFill>
                <a:latin typeface="阿里巴巴普惠体 Heavy"/>
                <a:ea typeface="阿里巴巴普惠体 Heavy"/>
                <a:cs typeface="阿里巴巴普惠体 Heavy"/>
                <a:sym typeface="阿里巴巴普惠体 Heavy"/>
              </a:defRPr>
            </a:lvl1pPr>
          </a:lstStyle>
          <a:p>
            <a:pPr>
              <a:defRPr/>
            </a:pPr>
            <a:r>
              <a:rPr/>
              <a:t>AI Winters &amp; Expert Systems</a:t>
            </a:r>
          </a:p>
        </p:txBody>
      </p:sp>
      <p:sp>
        <p:nvSpPr>
          <p:cNvPr id="33" name="图形"/>
          <p:cNvSpPr txBox="1"/>
          <p:nvPr/>
        </p:nvSpPr>
        <p:spPr>
          <a:xfrm>
            <a:off x="9451339" y="3305810"/>
            <a:ext cx="1734186"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000">
                <a:solidFill>
                  <a:srgbClr val="FFFFFF"/>
                </a:solidFill>
                <a:latin typeface="阿里巴巴普惠体 Heavy"/>
                <a:ea typeface="阿里巴巴普惠体 Heavy"/>
                <a:cs typeface="阿里巴巴普惠体 Heavy"/>
                <a:sym typeface="阿里巴巴普惠体 Heavy"/>
              </a:defRPr>
            </a:lvl1pPr>
          </a:lstStyle>
          <a:p>
            <a:pPr>
              <a:defRPr/>
            </a:pPr>
            <a:r>
              <a:rPr/>
              <a:t>Machine Learning Rise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形" descr="078a9cc3774e889b39144edb12e9acd2cf5a0859.png"/>
          <p:cNvPicPr>
            <a:picLocks noChangeAspect="1"/>
          </p:cNvPicPr>
          <p:nvPr/>
        </p:nvPicPr>
        <p:blipFill>
          <a:blip r:embed="rId2"/>
          <a:srcRect/>
          <a:stretch>
            <a:fillRect/>
          </a:stretch>
        </p:blipFill>
        <p:spPr>
          <a:xfrm flipH="1">
            <a:off x="0" y="-38735"/>
            <a:ext cx="12192000" cy="6896735"/>
          </a:xfrm>
          <a:prstGeom prst="rect">
            <a:avLst/>
          </a:prstGeom>
        </p:spPr>
      </p:pic>
      <p:sp>
        <p:nvSpPr>
          <p:cNvPr id="3" name="图形"/>
          <p:cNvSpPr/>
          <p:nvPr/>
        </p:nvSpPr>
        <p:spPr xmlns:m="http://schemas.openxmlformats.org/officeDocument/2006/math" xmlns:a14="http://schemas.microsoft.com/office/drawing/2010/main">
          <a:xfrm flipH="1">
            <a:off x="-1" y="-26704"/>
            <a:ext cx="12192636" cy="6858001"/>
          </a:xfrm>
          <a:prstGeom prst="rect">
            <a:avLst/>
          </a:prstGeom>
          <a:gradFill>
            <a:gsLst>
              <a:gs pos="0">
                <a:srgbClr val="F2F6FE"/>
              </a:gs>
              <a:gs pos="47000">
                <a:srgbClr val="F2F6FE">
                  <a:alpha val="0"/>
                </a:srgbClr>
              </a:gs>
            </a:gsLst>
            <a:lin ang="5400000"/>
          </a:gradFill>
          <a:ln w="12700">
            <a:miter lim="400000"/>
          </a:ln>
        </p:spPr>
        <p:txBody>
          <a:bodyPr lIns="45719" rIns="45719" anchor="ctr"/>
          <a:lstStyle>
            <a:lvl1pPr>
              <a:defRPr/>
            </a:lvl1pPr>
          </a:lstStyle>
          <a:p>
            <a:pPr algn="ctr">
              <a:defRPr>
                <a:solidFill>
                  <a:srgbClr val="FFFFFF"/>
                </a:solidFill>
              </a:defRPr>
            </a:pPr>
          </a:p>
        </p:txBody>
      </p:sp>
      <p:sp>
        <p:nvSpPr>
          <p:cNvPr id="4" name="图形"/>
          <p:cNvSpPr txBox="1"/>
          <p:nvPr/>
        </p:nvSpPr>
        <p:spPr>
          <a:xfrm>
            <a:off x="8037829" y="1853564"/>
            <a:ext cx="3493770" cy="184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15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a:t>引言</a:t>
            </a:r>
          </a:p>
        </p:txBody>
      </p:sp>
      <p:sp>
        <p:nvSpPr>
          <p:cNvPr id="5" name="图形"/>
          <p:cNvSpPr txBox="1"/>
          <p:nvPr/>
        </p:nvSpPr>
        <p:spPr>
          <a:xfrm>
            <a:off x="5264150" y="2703195"/>
            <a:ext cx="6296025" cy="1361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7200">
                <a:solidFill>
                  <a:srgbClr val="262626"/>
                </a:solidFill>
                <a:latin typeface="思源宋体 CN Heavy"/>
                <a:ea typeface="思源宋体 CN Heavy"/>
                <a:cs typeface="思源宋体 CN Heavy"/>
                <a:sym typeface="思源宋体 CN Heavy"/>
              </a:defRPr>
            </a:lvl1pPr>
          </a:lstStyle>
          <a:p>
            <a:pPr>
              <a:defRPr/>
            </a:pPr>
            <a:r>
              <a:rPr/>
              <a:t>人工智能发展史</a:t>
            </a:r>
          </a:p>
        </p:txBody>
      </p:sp>
      <p:sp>
        <p:nvSpPr>
          <p:cNvPr id="6" name="图形"/>
          <p:cNvSpPr txBox="1"/>
          <p:nvPr/>
        </p:nvSpPr>
        <p:spPr>
          <a:xfrm>
            <a:off x="5317490" y="3714750"/>
            <a:ext cx="6502401" cy="7391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lvl1pPr>
          </a:lstStyle>
          <a:p>
            <a:pPr>
              <a:lnSpc>
                <a:spcPct val="200000"/>
              </a:lnSpc>
              <a:defRPr sz="1400">
                <a:solidFill>
                  <a:srgbClr val="262626"/>
                </a:solidFill>
                <a:latin typeface="思源宋体 SemiBold"/>
                <a:ea typeface="思源宋体 SemiBold"/>
                <a:cs typeface="思源宋体 SemiBold"/>
                <a:sym typeface="思源宋体 SemiBold"/>
              </a:defRPr>
            </a:pPr>
            <a:r>
              <a:rPr/>
              <a:t>回顾AI自1956年诞生至今七十年的完整发展脉络，呈现从理论构思到工业革命核心驱动力的蜕变历程。</a:t>
            </a:r>
          </a:p>
          <a:p>
            <a:pPr>
              <a:lnSpc>
                <a:spcPct val="200000"/>
              </a:lnSpc>
              <a:defRPr sz="1400">
                <a:solidFill>
                  <a:srgbClr val="262626"/>
                </a:solidFill>
                <a:latin typeface="思源宋体 SemiBold"/>
                <a:ea typeface="思源宋体 SemiBold"/>
                <a:cs typeface="思源宋体 SemiBold"/>
                <a:sym typeface="思源宋体 SemiBold"/>
              </a:defRPr>
            </a:pPr>
            <a:r>
              <a:rPr/>
              <a:t>梳理六个关键时代的全景时间线，从符号主义的初步探索，到大语言模型引领的通用人工智能时代。</a:t>
            </a:r>
          </a:p>
        </p:txBody>
      </p:sp>
      <p:sp>
        <p:nvSpPr>
          <p:cNvPr id="7" name="图形"/>
          <p:cNvSpPr/>
          <p:nvPr/>
        </p:nvSpPr>
        <p:spPr xmlns:m="http://schemas.openxmlformats.org/officeDocument/2006/math" xmlns:a14="http://schemas.microsoft.com/office/drawing/2010/main">
          <a:xfrm>
            <a:off x="7016115" y="5141595"/>
            <a:ext cx="4533901" cy="1035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3" y="0"/>
                </a:lnTo>
                <a:lnTo>
                  <a:pt x="21600" y="0"/>
                </a:lnTo>
                <a:lnTo>
                  <a:pt x="21477" y="21600"/>
                </a:lnTo>
                <a:close/>
              </a:path>
            </a:pathLst>
          </a:custGeom>
          <a:gradFill>
            <a:gsLst>
              <a:gs pos="0">
                <a:srgbClr val="76BEFC">
                  <a:alpha val="46000"/>
                </a:srgbClr>
              </a:gs>
              <a:gs pos="66000">
                <a:srgbClr val="34ACFD">
                  <a:alpha val="0"/>
                </a:srgbClr>
              </a:gs>
            </a:gsLst>
            <a:lin ang="10800000"/>
          </a:gradFill>
          <a:ln w="12700">
            <a:miter lim="400000"/>
          </a:ln>
        </p:spPr>
        <p:txBody>
          <a:bodyPr lIns="45719" rIns="45719" anchor="ctr"/>
          <a:lstStyle>
            <a:lvl1pPr>
              <a:defRPr/>
            </a:lvl1pPr>
          </a:lstStyle>
          <a:p>
            <a:pPr algn="ctr">
              <a:defRPr>
                <a:solidFill>
                  <a:srgbClr val="FFFFFF"/>
                </a:solidFill>
              </a:defRPr>
            </a:pPr>
          </a:p>
        </p:txBody>
      </p:sp>
      <p:sp>
        <p:nvSpPr>
          <p:cNvPr id="8" name="图形"/>
          <p:cNvSpPr txBox="1"/>
          <p:nvPr/>
        </p:nvSpPr>
        <p:spPr>
          <a:xfrm>
            <a:off x="3891915" y="151129"/>
            <a:ext cx="4828540" cy="37363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39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a:t>01</a:t>
            </a:r>
          </a:p>
        </p:txBody>
      </p:sp>
      <p:sp>
        <p:nvSpPr>
          <p:cNvPr id="9" name="图形"/>
          <p:cNvSpPr/>
          <p:nvPr/>
        </p:nvSpPr>
        <p:spPr xmlns:m="http://schemas.openxmlformats.org/officeDocument/2006/math" xmlns:a14="http://schemas.microsoft.com/office/drawing/2010/main">
          <a:xfrm>
            <a:off x="4286249" y="1922143"/>
            <a:ext cx="2729866" cy="74168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chemeClr val="accent1">
                <a:alpha val="40000"/>
              </a:schemeClr>
            </a:outerShdw>
          </a:effectLst>
        </p:spPr>
        <p:txBody>
          <a:bodyPr wrap="square" lIns="45719" tIns="45719" rIns="45719" bIns="45719" numCol="1" anchor="ctr">
            <a:noAutofit/>
          </a:bodyPr>
          <a:lstStyle>
            <a:lvl1pPr>
              <a:defRPr/>
            </a:lvl1pPr>
          </a:lstStyle>
          <a:p>
            <a:pPr algn="ctr">
              <a:defRPr b="1">
                <a:solidFill>
                  <a:srgbClr val="FFFFFF"/>
                </a:solidFill>
                <a:latin typeface="思源宋体 CN Heavy"/>
                <a:ea typeface="思源宋体 CN Heavy"/>
                <a:cs typeface="思源宋体 CN Heavy"/>
                <a:sym typeface="思源宋体 CN Heavy"/>
              </a:defRPr>
            </a:pPr>
          </a:p>
        </p:txBody>
      </p:sp>
      <p:sp>
        <p:nvSpPr>
          <p:cNvPr id="10" name="图形"/>
          <p:cNvSpPr txBox="1"/>
          <p:nvPr/>
        </p:nvSpPr>
        <p:spPr>
          <a:xfrm>
            <a:off x="4641214" y="2060574"/>
            <a:ext cx="1991996"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800">
                <a:solidFill>
                  <a:srgbClr val="FFFFFF"/>
                </a:solidFill>
                <a:latin typeface="阿里巴巴普惠体 Heavy"/>
                <a:ea typeface="阿里巴巴普惠体 Heavy"/>
                <a:cs typeface="阿里巴巴普惠体 Heavy"/>
                <a:sym typeface="阿里巴巴普惠体 Heavy"/>
              </a:defRPr>
            </a:lvl1pPr>
          </a:lstStyle>
          <a:p>
            <a:pPr>
              <a:defRPr/>
            </a:pPr>
            <a:r>
              <a:rPr/>
              <a:t>Introduction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形" descr="ai_timeline.png"/>
          <p:cNvPicPr>
            <a:picLocks noChangeAspect="1"/>
          </p:cNvPicPr>
          <p:nvPr/>
        </p:nvPicPr>
        <p:blipFill>
          <a:blip r:embed="rId2"/>
          <a:srcRect/>
          <a:stretch>
            <a:fillRect/>
          </a:stretch>
        </p:blipFill>
        <p:spPr>
          <a:xfrm>
            <a:off x="952500" y="1722647"/>
            <a:ext cx="5562599" cy="3463505"/>
          </a:xfrm>
          <a:prstGeom prst="rect">
            <a:avLst/>
          </a:prstGeom>
        </p:spPr>
      </p:pic>
      <p:sp>
        <p:nvSpPr>
          <p:cNvPr id="3" name="图形"/>
          <p:cNvSpPr/>
          <p:nvPr/>
        </p:nvSpPr>
        <p:spPr xmlns:m="http://schemas.openxmlformats.org/officeDocument/2006/math" xmlns:a14="http://schemas.microsoft.com/office/drawing/2010/main">
          <a:xfrm>
            <a:off x="1386204" y="3837305"/>
            <a:ext cx="675006" cy="1456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775" y="21600"/>
                </a:moveTo>
                <a:lnTo>
                  <a:pt x="4825" y="21600"/>
                </a:lnTo>
                <a:lnTo>
                  <a:pt x="4825" y="5067"/>
                </a:lnTo>
                <a:lnTo>
                  <a:pt x="0" y="5067"/>
                </a:lnTo>
                <a:lnTo>
                  <a:pt x="10667" y="0"/>
                </a:lnTo>
                <a:lnTo>
                  <a:pt x="21600" y="5067"/>
                </a:lnTo>
                <a:lnTo>
                  <a:pt x="16775" y="5067"/>
                </a:lnTo>
                <a:lnTo>
                  <a:pt x="16775" y="21600"/>
                </a:lnTo>
                <a:close/>
              </a:path>
            </a:pathLst>
          </a:custGeom>
          <a:solidFill>
            <a:srgbClr val="F2F2F2"/>
          </a:solidFill>
          <a:ln w="12700" cap="flat">
            <a:noFill/>
            <a:miter lim="400000"/>
          </a:ln>
          <a:effectLst/>
        </p:spPr>
        <p:txBody>
          <a:bodyPr wrap="square" lIns="45719" tIns="45719" rIns="45719" bIns="45719" numCol="1" anchor="t">
            <a:noAutofit/>
          </a:bodyPr>
          <a:lstStyle>
            <a:lvl1pPr>
              <a:defRPr/>
            </a:lvl1pPr>
          </a:lstStyle>
          <a:p>
            <a:pPr algn="just">
              <a:lnSpc>
                <a:spcPct val="120000"/>
              </a:lnSpc>
              <a:defRPr sz="800"/>
            </a:pPr>
          </a:p>
        </p:txBody>
      </p:sp>
      <p:sp>
        <p:nvSpPr>
          <p:cNvPr id="4" name="图形"/>
          <p:cNvSpPr/>
          <p:nvPr/>
        </p:nvSpPr>
        <p:spPr xmlns:m="http://schemas.openxmlformats.org/officeDocument/2006/math" xmlns:a14="http://schemas.microsoft.com/office/drawing/2010/main">
          <a:xfrm>
            <a:off x="2771139" y="2990849"/>
            <a:ext cx="675006" cy="12496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090" y="0"/>
                </a:moveTo>
                <a:lnTo>
                  <a:pt x="16775" y="0"/>
                </a:lnTo>
                <a:lnTo>
                  <a:pt x="16775" y="15835"/>
                </a:lnTo>
                <a:lnTo>
                  <a:pt x="21600" y="15835"/>
                </a:lnTo>
                <a:lnTo>
                  <a:pt x="10933" y="21600"/>
                </a:lnTo>
                <a:lnTo>
                  <a:pt x="0" y="15835"/>
                </a:lnTo>
                <a:lnTo>
                  <a:pt x="5090" y="15835"/>
                </a:lnTo>
                <a:lnTo>
                  <a:pt x="5090" y="0"/>
                </a:lnTo>
                <a:close/>
              </a:path>
            </a:pathLst>
          </a:custGeom>
          <a:solidFill>
            <a:srgbClr val="F2F2F2"/>
          </a:solidFill>
          <a:ln w="12700" cap="flat">
            <a:noFill/>
            <a:miter lim="400000"/>
          </a:ln>
          <a:effectLst/>
        </p:spPr>
        <p:txBody>
          <a:bodyPr wrap="square" lIns="45719" tIns="45719" rIns="45719" bIns="45719" numCol="1" anchor="t">
            <a:noAutofit/>
          </a:bodyPr>
          <a:lstStyle>
            <a:lvl1pPr>
              <a:defRPr/>
            </a:lvl1pPr>
          </a:lstStyle>
          <a:p>
            <a:pPr algn="just">
              <a:lnSpc>
                <a:spcPct val="120000"/>
              </a:lnSpc>
              <a:defRPr sz="800"/>
            </a:pPr>
          </a:p>
        </p:txBody>
      </p:sp>
      <p:sp>
        <p:nvSpPr>
          <p:cNvPr id="5" name="图形"/>
          <p:cNvSpPr/>
          <p:nvPr/>
        </p:nvSpPr>
        <p:spPr xmlns:m="http://schemas.openxmlformats.org/officeDocument/2006/math" xmlns:a14="http://schemas.microsoft.com/office/drawing/2010/main">
          <a:xfrm>
            <a:off x="4153534" y="3837305"/>
            <a:ext cx="673736" cy="1456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544" y="21600"/>
                </a:moveTo>
                <a:lnTo>
                  <a:pt x="4834" y="21600"/>
                </a:lnTo>
                <a:lnTo>
                  <a:pt x="4834" y="5067"/>
                </a:lnTo>
                <a:lnTo>
                  <a:pt x="0" y="5067"/>
                </a:lnTo>
                <a:lnTo>
                  <a:pt x="10689" y="0"/>
                </a:lnTo>
                <a:lnTo>
                  <a:pt x="21600" y="5067"/>
                </a:lnTo>
                <a:lnTo>
                  <a:pt x="16544" y="5067"/>
                </a:lnTo>
                <a:lnTo>
                  <a:pt x="16544" y="21600"/>
                </a:lnTo>
                <a:close/>
              </a:path>
            </a:pathLst>
          </a:custGeom>
          <a:solidFill>
            <a:srgbClr val="F2F2F2"/>
          </a:solidFill>
          <a:ln w="12700" cap="flat">
            <a:noFill/>
            <a:miter lim="400000"/>
          </a:ln>
          <a:effectLst/>
        </p:spPr>
        <p:txBody>
          <a:bodyPr wrap="square" lIns="45719" tIns="45719" rIns="45719" bIns="45719" numCol="1" anchor="t">
            <a:noAutofit/>
          </a:bodyPr>
          <a:lstStyle>
            <a:lvl1pPr>
              <a:defRPr/>
            </a:lvl1pPr>
          </a:lstStyle>
          <a:p>
            <a:pPr algn="just">
              <a:lnSpc>
                <a:spcPct val="120000"/>
              </a:lnSpc>
              <a:defRPr sz="800"/>
            </a:pPr>
          </a:p>
        </p:txBody>
      </p:sp>
      <p:sp>
        <p:nvSpPr>
          <p:cNvPr id="6" name="图形"/>
          <p:cNvSpPr/>
          <p:nvPr/>
        </p:nvSpPr>
        <p:spPr xmlns:m="http://schemas.openxmlformats.org/officeDocument/2006/math" xmlns:a14="http://schemas.microsoft.com/office/drawing/2010/main">
          <a:xfrm>
            <a:off x="5538469" y="2527935"/>
            <a:ext cx="675006" cy="16630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090" y="0"/>
                </a:moveTo>
                <a:lnTo>
                  <a:pt x="16775" y="0"/>
                </a:lnTo>
                <a:lnTo>
                  <a:pt x="16775" y="17161"/>
                </a:lnTo>
                <a:lnTo>
                  <a:pt x="21600" y="17161"/>
                </a:lnTo>
                <a:lnTo>
                  <a:pt x="10933" y="21600"/>
                </a:lnTo>
                <a:lnTo>
                  <a:pt x="0" y="17161"/>
                </a:lnTo>
                <a:lnTo>
                  <a:pt x="5090" y="17161"/>
                </a:lnTo>
                <a:lnTo>
                  <a:pt x="5090" y="0"/>
                </a:lnTo>
                <a:close/>
              </a:path>
            </a:pathLst>
          </a:custGeom>
          <a:solidFill>
            <a:srgbClr val="F2F2F2"/>
          </a:solidFill>
          <a:ln w="12700" cap="flat">
            <a:noFill/>
            <a:miter lim="400000"/>
          </a:ln>
          <a:effectLst/>
        </p:spPr>
        <p:txBody>
          <a:bodyPr wrap="square" lIns="45719" tIns="45719" rIns="45719" bIns="45719" numCol="1" anchor="t">
            <a:noAutofit/>
          </a:bodyPr>
          <a:lstStyle>
            <a:lvl1pPr>
              <a:defRPr/>
            </a:lvl1pPr>
          </a:lstStyle>
          <a:p>
            <a:pPr algn="just">
              <a:lnSpc>
                <a:spcPct val="120000"/>
              </a:lnSpc>
              <a:defRPr sz="800"/>
            </a:pPr>
          </a:p>
        </p:txBody>
      </p:sp>
      <p:sp>
        <p:nvSpPr>
          <p:cNvPr id="7" name="图形"/>
          <p:cNvSpPr txBox="1"/>
          <p:nvPr/>
        </p:nvSpPr>
        <p:spPr>
          <a:xfrm>
            <a:off x="5485129" y="5354320"/>
            <a:ext cx="78168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nSpc>
                <a:spcPct val="120000"/>
              </a:lnSpc>
              <a:defRPr sz="1100">
                <a:solidFill>
                  <a:srgbClr val="A6A6A6"/>
                </a:solidFill>
              </a:defRPr>
            </a:lvl1pPr>
          </a:lstStyle>
          <a:p>
            <a:pPr>
              <a:defRPr/>
            </a:pPr>
            <a:r>
              <a:rPr/>
              <a:t>深度学习 &amp; LLM时代（2012–今）</a:t>
            </a:r>
          </a:p>
        </p:txBody>
      </p:sp>
      <p:sp>
        <p:nvSpPr>
          <p:cNvPr id="8" name="图形"/>
          <p:cNvSpPr txBox="1"/>
          <p:nvPr/>
        </p:nvSpPr>
        <p:spPr>
          <a:xfrm>
            <a:off x="4098924" y="5354320"/>
            <a:ext cx="78168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nSpc>
                <a:spcPct val="120000"/>
              </a:lnSpc>
              <a:defRPr sz="1100">
                <a:solidFill>
                  <a:srgbClr val="A6A6A6"/>
                </a:solidFill>
              </a:defRPr>
            </a:lvl1pPr>
          </a:lstStyle>
          <a:p>
            <a:pPr>
              <a:defRPr/>
            </a:pPr>
            <a:r>
              <a:rPr/>
              <a:t>时间跨度：1956年至2026年</a:t>
            </a:r>
          </a:p>
        </p:txBody>
      </p:sp>
      <p:sp>
        <p:nvSpPr>
          <p:cNvPr id="9" name="图形"/>
          <p:cNvSpPr txBox="1"/>
          <p:nvPr/>
        </p:nvSpPr>
        <p:spPr>
          <a:xfrm>
            <a:off x="2717799" y="5354320"/>
            <a:ext cx="78168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nSpc>
                <a:spcPct val="120000"/>
              </a:lnSpc>
              <a:defRPr sz="1100">
                <a:solidFill>
                  <a:srgbClr val="A6A6A6"/>
                </a:solidFill>
              </a:defRPr>
            </a:lvl1pPr>
          </a:lstStyle>
          <a:p>
            <a:pPr>
              <a:defRPr/>
            </a:pPr>
            <a:r>
              <a:rPr/>
              <a:t>从符号主义发展至大语言模型</a:t>
            </a:r>
          </a:p>
        </p:txBody>
      </p:sp>
      <p:sp>
        <p:nvSpPr>
          <p:cNvPr id="10" name="图形"/>
          <p:cNvSpPr txBox="1"/>
          <p:nvPr/>
        </p:nvSpPr>
        <p:spPr>
          <a:xfrm>
            <a:off x="1332864" y="5354320"/>
            <a:ext cx="78168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nSpc>
                <a:spcPct val="120000"/>
              </a:lnSpc>
              <a:defRPr sz="1100">
                <a:solidFill>
                  <a:srgbClr val="A6A6A6"/>
                </a:solidFill>
              </a:defRPr>
            </a:lvl1pPr>
          </a:lstStyle>
          <a:p>
            <a:pPr>
              <a:defRPr/>
            </a:pPr>
            <a:r>
              <a:rPr/>
              <a:t>探索智能本质，重塑人类文明</a:t>
            </a:r>
          </a:p>
        </p:txBody>
      </p:sp>
      <p:sp>
        <p:nvSpPr>
          <p:cNvPr id="11" name="图形"/>
          <p:cNvSpPr/>
          <p:nvPr/>
        </p:nvSpPr>
        <p:spPr xmlns:m="http://schemas.openxmlformats.org/officeDocument/2006/math" xmlns:a14="http://schemas.microsoft.com/office/drawing/2010/main">
          <a:xfrm>
            <a:off x="6995159" y="4541519"/>
            <a:ext cx="447675" cy="447677"/>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2" name="图形"/>
          <p:cNvSpPr txBox="1"/>
          <p:nvPr/>
        </p:nvSpPr>
        <p:spPr>
          <a:xfrm>
            <a:off x="7539989" y="2068829"/>
            <a:ext cx="3848735"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latin typeface="思源黑体旧字形 Light"/>
                <a:ea typeface="思源黑体旧字形 Light"/>
                <a:cs typeface="思源黑体旧字形 Light"/>
                <a:sym typeface="思源黑体旧字形 Light"/>
              </a:defRPr>
            </a:lvl1pPr>
          </a:lstStyle>
          <a:p>
            <a:pPr>
              <a:defRPr/>
            </a:pPr>
            <a:r>
              <a:rPr/>
              <a:t>符号AI时代（1953–1973）</a:t>
            </a:r>
          </a:p>
        </p:txBody>
      </p:sp>
      <p:sp>
        <p:nvSpPr>
          <p:cNvPr id="13" name="图形"/>
          <p:cNvSpPr txBox="1"/>
          <p:nvPr/>
        </p:nvSpPr>
        <p:spPr>
          <a:xfrm>
            <a:off x="7539989" y="3241039"/>
            <a:ext cx="3848735"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latin typeface="思源黑体旧字形 Light"/>
                <a:ea typeface="思源黑体旧字形 Light"/>
                <a:cs typeface="思源黑体旧字形 Light"/>
                <a:sym typeface="思源黑体旧字形 Light"/>
              </a:defRPr>
            </a:lvl1pPr>
          </a:lstStyle>
          <a:p>
            <a:pPr>
              <a:defRPr/>
            </a:pPr>
            <a:r>
              <a:rPr/>
              <a:t>AI寒冬（1974–1996）</a:t>
            </a:r>
          </a:p>
        </p:txBody>
      </p:sp>
      <p:sp>
        <p:nvSpPr>
          <p:cNvPr id="14" name="图形"/>
          <p:cNvSpPr txBox="1"/>
          <p:nvPr/>
        </p:nvSpPr>
        <p:spPr>
          <a:xfrm>
            <a:off x="7539989" y="4413250"/>
            <a:ext cx="3848735"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latin typeface="思源黑体旧字形 Light"/>
                <a:ea typeface="思源黑体旧字形 Light"/>
                <a:cs typeface="思源黑体旧字形 Light"/>
                <a:sym typeface="思源黑体旧字形 Light"/>
              </a:defRPr>
            </a:lvl1pPr>
          </a:lstStyle>
          <a:p>
            <a:pPr>
              <a:defRPr/>
            </a:pPr>
            <a:r>
              <a:rPr/>
              <a:t>机器学习时代（1997–2011）</a:t>
            </a:r>
          </a:p>
        </p:txBody>
      </p:sp>
      <p:sp>
        <p:nvSpPr>
          <p:cNvPr id="15" name="图形"/>
          <p:cNvSpPr/>
          <p:nvPr/>
        </p:nvSpPr>
        <p:spPr xmlns:m="http://schemas.openxmlformats.org/officeDocument/2006/math" xmlns:a14="http://schemas.microsoft.com/office/drawing/2010/main">
          <a:xfrm>
            <a:off x="6995794" y="2189479"/>
            <a:ext cx="447675" cy="447677"/>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6" name="图形"/>
          <p:cNvSpPr/>
          <p:nvPr/>
        </p:nvSpPr>
        <p:spPr xmlns:m="http://schemas.openxmlformats.org/officeDocument/2006/math" xmlns:a14="http://schemas.microsoft.com/office/drawing/2010/main">
          <a:xfrm>
            <a:off x="6995794" y="3386455"/>
            <a:ext cx="447675" cy="447677"/>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7" name="图形"/>
          <p:cNvSpPr/>
          <p:nvPr/>
        </p:nvSpPr>
        <p:spPr xmlns:m="http://schemas.openxmlformats.org/officeDocument/2006/math" xmlns:a14="http://schemas.microsoft.com/office/drawing/2010/main">
          <a:xfrm>
            <a:off x="7097394" y="4640580"/>
            <a:ext cx="242571" cy="242571"/>
          </a:xfrm>
          <a:prstGeom prst="ellipse">
            <a:avLst/>
          </a:prstGeom>
          <a:solidFill>
            <a:srgbClr val="FFFFFF"/>
          </a:soli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8" name="图形"/>
          <p:cNvSpPr/>
          <p:nvPr/>
        </p:nvSpPr>
        <p:spPr xmlns:m="http://schemas.openxmlformats.org/officeDocument/2006/math" xmlns:a14="http://schemas.microsoft.com/office/drawing/2010/main">
          <a:xfrm>
            <a:off x="7098664" y="2273299"/>
            <a:ext cx="242571" cy="242571"/>
          </a:xfrm>
          <a:prstGeom prst="ellipse">
            <a:avLst/>
          </a:prstGeom>
          <a:solidFill>
            <a:srgbClr val="FFFFFF"/>
          </a:soli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9" name="图形"/>
          <p:cNvSpPr/>
          <p:nvPr/>
        </p:nvSpPr>
        <p:spPr xmlns:m="http://schemas.openxmlformats.org/officeDocument/2006/math" xmlns:a14="http://schemas.microsoft.com/office/drawing/2010/main">
          <a:xfrm>
            <a:off x="7098664" y="3462019"/>
            <a:ext cx="242571" cy="242571"/>
          </a:xfrm>
          <a:prstGeom prst="ellipse">
            <a:avLst/>
          </a:prstGeom>
          <a:solidFill>
            <a:srgbClr val="FFFFFF"/>
          </a:soli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形" descr="078a9cc3774e889b39144edb12e9acd2cf5a0859.png"/>
          <p:cNvPicPr>
            <a:picLocks noChangeAspect="1"/>
          </p:cNvPicPr>
          <p:nvPr/>
        </p:nvPicPr>
        <p:blipFill>
          <a:blip r:embed="rId2"/>
          <a:srcRect/>
          <a:stretch>
            <a:fillRect/>
          </a:stretch>
        </p:blipFill>
        <p:spPr>
          <a:xfrm flipH="1">
            <a:off x="0" y="-38735"/>
            <a:ext cx="12192000" cy="6896735"/>
          </a:xfrm>
          <a:prstGeom prst="rect">
            <a:avLst/>
          </a:prstGeom>
        </p:spPr>
      </p:pic>
      <p:sp>
        <p:nvSpPr>
          <p:cNvPr id="3" name="图形"/>
          <p:cNvSpPr/>
          <p:nvPr/>
        </p:nvSpPr>
        <p:spPr xmlns:m="http://schemas.openxmlformats.org/officeDocument/2006/math" xmlns:a14="http://schemas.microsoft.com/office/drawing/2010/main">
          <a:xfrm flipH="1">
            <a:off x="-1" y="-26704"/>
            <a:ext cx="12192636" cy="6858001"/>
          </a:xfrm>
          <a:prstGeom prst="rect">
            <a:avLst/>
          </a:prstGeom>
          <a:gradFill>
            <a:gsLst>
              <a:gs pos="0">
                <a:srgbClr val="F2F6FE"/>
              </a:gs>
              <a:gs pos="47000">
                <a:srgbClr val="F2F6FE">
                  <a:alpha val="0"/>
                </a:srgbClr>
              </a:gs>
            </a:gsLst>
            <a:lin ang="5400000"/>
          </a:gradFill>
          <a:ln w="12700">
            <a:miter lim="400000"/>
          </a:ln>
        </p:spPr>
        <p:txBody>
          <a:bodyPr lIns="45719" rIns="45719" anchor="ctr"/>
          <a:lstStyle>
            <a:lvl1pPr>
              <a:defRPr/>
            </a:lvl1pPr>
          </a:lstStyle>
          <a:p>
            <a:pPr algn="ctr">
              <a:defRPr>
                <a:solidFill>
                  <a:srgbClr val="FFFFFF"/>
                </a:solidFill>
              </a:defRPr>
            </a:pPr>
          </a:p>
        </p:txBody>
      </p:sp>
      <p:sp>
        <p:nvSpPr>
          <p:cNvPr id="4" name="图形"/>
          <p:cNvSpPr txBox="1"/>
          <p:nvPr/>
        </p:nvSpPr>
        <p:spPr>
          <a:xfrm>
            <a:off x="8037829" y="1853564"/>
            <a:ext cx="3493770" cy="184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15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a:t>早期AI与符号主义时代</a:t>
            </a:r>
          </a:p>
        </p:txBody>
      </p:sp>
      <p:sp>
        <p:nvSpPr>
          <p:cNvPr id="5" name="图形"/>
          <p:cNvSpPr txBox="1"/>
          <p:nvPr/>
        </p:nvSpPr>
        <p:spPr>
          <a:xfrm>
            <a:off x="5264150" y="2703195"/>
            <a:ext cx="6296025" cy="1361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7200">
                <a:solidFill>
                  <a:srgbClr val="262626"/>
                </a:solidFill>
                <a:latin typeface="思源宋体 CN Heavy"/>
                <a:ea typeface="思源宋体 CN Heavy"/>
                <a:cs typeface="思源宋体 CN Heavy"/>
                <a:sym typeface="思源宋体 CN Heavy"/>
              </a:defRPr>
            </a:lvl1pPr>
          </a:lstStyle>
          <a:p>
            <a:pPr>
              <a:defRPr/>
            </a:pPr>
            <a:r>
              <a:rPr/>
              <a:t>人工智能发展史</a:t>
            </a:r>
          </a:p>
        </p:txBody>
      </p:sp>
      <p:sp>
        <p:nvSpPr>
          <p:cNvPr id="6" name="图形"/>
          <p:cNvSpPr txBox="1"/>
          <p:nvPr/>
        </p:nvSpPr>
        <p:spPr>
          <a:xfrm>
            <a:off x="5317490" y="3714750"/>
            <a:ext cx="6502401" cy="7391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lvl1pPr>
          </a:lstStyle>
          <a:p>
            <a:pPr>
              <a:lnSpc>
                <a:spcPct val="200000"/>
              </a:lnSpc>
              <a:defRPr sz="1400">
                <a:solidFill>
                  <a:srgbClr val="262626"/>
                </a:solidFill>
                <a:latin typeface="思源宋体 SemiBold"/>
                <a:ea typeface="思源宋体 SemiBold"/>
                <a:cs typeface="思源宋体 SemiBold"/>
                <a:sym typeface="思源宋体 SemiBold"/>
              </a:defRPr>
            </a:pPr>
            <a:r>
              <a:rPr/>
              <a:t>探索符号主义AI的起源与达特茅斯会议等奠基性里程碑，回顾电子计算早期时代为人工智能奠定的理论基础。</a:t>
            </a:r>
          </a:p>
          <a:p>
            <a:pPr>
              <a:lnSpc>
                <a:spcPct val="200000"/>
              </a:lnSpc>
              <a:defRPr sz="1400">
                <a:solidFill>
                  <a:srgbClr val="262626"/>
                </a:solidFill>
                <a:latin typeface="思源宋体 SemiBold"/>
                <a:ea typeface="思源宋体 SemiBold"/>
                <a:cs typeface="思源宋体 SemiBold"/>
                <a:sym typeface="思源宋体 SemiBold"/>
              </a:defRPr>
            </a:pPr>
            <a:r>
              <a:rPr/>
              <a:t>从感知机的发明到早期神经网络研究的兴起，梳理符号主义如何塑造了AI学科的雏形与发展方向。</a:t>
            </a:r>
          </a:p>
        </p:txBody>
      </p:sp>
      <p:sp>
        <p:nvSpPr>
          <p:cNvPr id="7" name="图形"/>
          <p:cNvSpPr/>
          <p:nvPr/>
        </p:nvSpPr>
        <p:spPr xmlns:m="http://schemas.openxmlformats.org/officeDocument/2006/math" xmlns:a14="http://schemas.microsoft.com/office/drawing/2010/main">
          <a:xfrm>
            <a:off x="7016115" y="5141595"/>
            <a:ext cx="4533901" cy="1035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3" y="0"/>
                </a:lnTo>
                <a:lnTo>
                  <a:pt x="21600" y="0"/>
                </a:lnTo>
                <a:lnTo>
                  <a:pt x="21477" y="21600"/>
                </a:lnTo>
                <a:close/>
              </a:path>
            </a:pathLst>
          </a:custGeom>
          <a:gradFill>
            <a:gsLst>
              <a:gs pos="0">
                <a:srgbClr val="76BEFC">
                  <a:alpha val="46000"/>
                </a:srgbClr>
              </a:gs>
              <a:gs pos="66000">
                <a:srgbClr val="34ACFD">
                  <a:alpha val="0"/>
                </a:srgbClr>
              </a:gs>
            </a:gsLst>
            <a:lin ang="10800000"/>
          </a:gradFill>
          <a:ln w="12700">
            <a:miter lim="400000"/>
          </a:ln>
        </p:spPr>
        <p:txBody>
          <a:bodyPr lIns="45719" rIns="45719" anchor="ctr"/>
          <a:lstStyle>
            <a:lvl1pPr>
              <a:defRPr/>
            </a:lvl1pPr>
          </a:lstStyle>
          <a:p>
            <a:pPr algn="ctr">
              <a:defRPr>
                <a:solidFill>
                  <a:srgbClr val="FFFFFF"/>
                </a:solidFill>
              </a:defRPr>
            </a:pPr>
          </a:p>
        </p:txBody>
      </p:sp>
      <p:sp>
        <p:nvSpPr>
          <p:cNvPr id="8" name="图形"/>
          <p:cNvSpPr txBox="1"/>
          <p:nvPr/>
        </p:nvSpPr>
        <p:spPr>
          <a:xfrm>
            <a:off x="3891915" y="151129"/>
            <a:ext cx="4828540" cy="37363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39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a:t>02</a:t>
            </a:r>
          </a:p>
        </p:txBody>
      </p:sp>
      <p:sp>
        <p:nvSpPr>
          <p:cNvPr id="9" name="图形"/>
          <p:cNvSpPr/>
          <p:nvPr/>
        </p:nvSpPr>
        <p:spPr xmlns:m="http://schemas.openxmlformats.org/officeDocument/2006/math" xmlns:a14="http://schemas.microsoft.com/office/drawing/2010/main">
          <a:xfrm>
            <a:off x="4286249" y="1922143"/>
            <a:ext cx="2729866" cy="74168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chemeClr val="accent1">
                <a:alpha val="40000"/>
              </a:schemeClr>
            </a:outerShdw>
          </a:effectLst>
        </p:spPr>
        <p:txBody>
          <a:bodyPr wrap="square" lIns="45719" tIns="45719" rIns="45719" bIns="45719" numCol="1" anchor="ctr">
            <a:noAutofit/>
          </a:bodyPr>
          <a:lstStyle>
            <a:lvl1pPr>
              <a:defRPr/>
            </a:lvl1pPr>
          </a:lstStyle>
          <a:p>
            <a:pPr algn="ctr">
              <a:defRPr b="1">
                <a:solidFill>
                  <a:srgbClr val="FFFFFF"/>
                </a:solidFill>
                <a:latin typeface="思源宋体 CN Heavy"/>
                <a:ea typeface="思源宋体 CN Heavy"/>
                <a:cs typeface="思源宋体 CN Heavy"/>
                <a:sym typeface="思源宋体 CN Heavy"/>
              </a:defRPr>
            </a:pPr>
          </a:p>
        </p:txBody>
      </p:sp>
      <p:sp>
        <p:nvSpPr>
          <p:cNvPr id="10" name="图形"/>
          <p:cNvSpPr txBox="1"/>
          <p:nvPr/>
        </p:nvSpPr>
        <p:spPr>
          <a:xfrm>
            <a:off x="4641214" y="2060574"/>
            <a:ext cx="1991996"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800">
                <a:solidFill>
                  <a:srgbClr val="FFFFFF"/>
                </a:solidFill>
                <a:latin typeface="阿里巴巴普惠体 Heavy"/>
                <a:ea typeface="阿里巴巴普惠体 Heavy"/>
                <a:cs typeface="阿里巴巴普惠体 Heavy"/>
                <a:sym typeface="阿里巴巴普惠体 Heavy"/>
              </a:defRPr>
            </a:lvl1pPr>
          </a:lstStyle>
          <a:p>
            <a:pPr>
              <a:defRPr/>
            </a:pPr>
            <a:r>
              <a:rPr/>
              <a:t>Early AI &amp; Symbolic 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图形"/>
          <p:cNvSpPr txBox="1"/>
          <p:nvPr/>
        </p:nvSpPr>
        <p:spPr>
          <a:xfrm>
            <a:off x="775335" y="1616074"/>
            <a:ext cx="5361304" cy="147828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lvl1pPr>
          </a:lstStyle>
          <a:p>
            <a:pPr>
              <a:lnSpc>
                <a:spcPct val="90000"/>
              </a:lnSpc>
              <a:spcBef>
                <a:spcPts val="1000"/>
              </a:spcBef>
              <a:defRPr b="1" sz="4000">
                <a:solidFill>
                  <a:srgbClr val="262626"/>
                </a:solidFill>
                <a:latin typeface="思源宋体 CN Heavy"/>
                <a:ea typeface="思源宋体 CN Heavy"/>
                <a:cs typeface="思源宋体 CN Heavy"/>
                <a:sym typeface="思源宋体 CN Heavy"/>
              </a:defRPr>
            </a:pPr>
            <a:r>
              <a:rPr/>
              <a:t>AI发展史</a:t>
            </a:r>
            <a:endParaRPr sz="2400"/>
          </a:p>
          <a:p>
            <a:pPr>
              <a:lnSpc>
                <a:spcPct val="90000"/>
              </a:lnSpc>
              <a:spcBef>
                <a:spcPts val="1000"/>
              </a:spcBef>
              <a:defRPr sz="4000">
                <a:solidFill>
                  <a:schemeClr val="accent1"/>
                </a:solidFill>
                <a:latin typeface="思源宋体 CN Heavy"/>
                <a:ea typeface="思源宋体 CN Heavy"/>
                <a:cs typeface="思源宋体 CN Heavy"/>
                <a:sym typeface="思源宋体 CN Heavy"/>
              </a:defRPr>
            </a:pPr>
            <a:r>
              <a:rPr/>
              <a:t>符号主义起源与早期里程碑</a:t>
            </a:r>
          </a:p>
        </p:txBody>
      </p:sp>
      <p:sp>
        <p:nvSpPr>
          <p:cNvPr id="3" name="图形"/>
          <p:cNvSpPr txBox="1"/>
          <p:nvPr/>
        </p:nvSpPr>
        <p:spPr>
          <a:xfrm>
            <a:off x="775335" y="3041014"/>
            <a:ext cx="5361939" cy="1107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defRPr/>
            </a:pPr>
            <a:r>
              <a:rPr/>
              <a:t>1956年达特茅斯会议首次提出"人工智能"术语，确立符号主义范式</a:t>
            </a:r>
          </a:p>
        </p:txBody>
      </p:sp>
      <p:pic>
        <p:nvPicPr>
          <p:cNvPr id="4" name="图形" descr="eniac.jpg"/>
          <p:cNvPicPr>
            <a:picLocks noChangeAspect="1"/>
          </p:cNvPicPr>
          <p:nvPr/>
        </p:nvPicPr>
        <p:blipFill>
          <a:blip r:embed="rId2"/>
          <a:srcRect/>
          <a:stretch>
            <a:fillRect/>
          </a:stretch>
        </p:blipFill>
        <p:spPr>
          <a:xfrm>
            <a:off x="6182994" y="1687469"/>
            <a:ext cx="5156200" cy="3940260"/>
          </a:xfrm>
          <a:prstGeom prst="rect">
            <a:avLst/>
          </a:prstGeom>
        </p:spPr>
      </p:pic>
      <p:sp>
        <p:nvSpPr>
          <p:cNvPr id="5" name="图形"/>
          <p:cNvSpPr txBox="1"/>
          <p:nvPr/>
        </p:nvSpPr>
        <p:spPr>
          <a:xfrm>
            <a:off x="848359" y="4662169"/>
            <a:ext cx="2112646"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电子计算机为AI发展奠定硬件基础</a:t>
            </a:r>
          </a:p>
        </p:txBody>
      </p:sp>
      <p:sp>
        <p:nvSpPr>
          <p:cNvPr id="6" name="矩形"/>
          <p:cNvSpPr/>
          <p:nvPr/>
        </p:nvSpPr>
        <p:spPr xmlns:m="http://schemas.openxmlformats.org/officeDocument/2006/math" xmlns:a14="http://schemas.microsoft.com/office/drawing/2010/main">
          <a:xfrm>
            <a:off x="900429" y="4328159"/>
            <a:ext cx="1520826" cy="307341"/>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sz="1400">
                <a:solidFill>
                  <a:srgbClr val="FFFFFF"/>
                </a:solidFill>
                <a:latin typeface="思源黑体旧字形 Light"/>
                <a:ea typeface="思源黑体旧字形 Light"/>
                <a:cs typeface="思源黑体旧字形 Light"/>
                <a:sym typeface="思源黑体旧字形 Light"/>
              </a:defRPr>
            </a:pPr>
          </a:p>
        </p:txBody>
      </p:sp>
      <p:sp>
        <p:nvSpPr>
          <p:cNvPr id="7" name="预设标题文本"/>
          <p:cNvSpPr txBox="1"/>
          <p:nvPr/>
        </p:nvSpPr>
        <p:spPr>
          <a:xfrm>
            <a:off x="900429" y="4354829"/>
            <a:ext cx="1520826" cy="2540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FFFFFF"/>
                </a:solidFill>
                <a:latin typeface="思源宋体 CN Heavy"/>
                <a:ea typeface="思源宋体 CN Heavy"/>
                <a:cs typeface="思源宋体 CN Heavy"/>
                <a:sym typeface="思源宋体 CN Heavy"/>
              </a:defRPr>
            </a:lvl1pPr>
          </a:lstStyle>
          <a:p>
            <a:pPr>
              <a:defRPr/>
            </a:pPr>
            <a:r>
              <a:rPr/>
              <a:t>感知机</a:t>
            </a:r>
          </a:p>
        </p:txBody>
      </p:sp>
      <p:sp>
        <p:nvSpPr>
          <p:cNvPr id="8" name="图形"/>
          <p:cNvSpPr txBox="1"/>
          <p:nvPr/>
        </p:nvSpPr>
        <p:spPr>
          <a:xfrm>
            <a:off x="3380104" y="4662169"/>
            <a:ext cx="2112645"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1958年Rosenblatt发明感知机，首个可学习神经元模型</a:t>
            </a:r>
          </a:p>
        </p:txBody>
      </p:sp>
      <p:sp>
        <p:nvSpPr>
          <p:cNvPr id="9" name="矩形"/>
          <p:cNvSpPr/>
          <p:nvPr/>
        </p:nvSpPr>
        <p:spPr xmlns:m="http://schemas.openxmlformats.org/officeDocument/2006/math" xmlns:a14="http://schemas.microsoft.com/office/drawing/2010/main">
          <a:xfrm>
            <a:off x="3432174" y="4328159"/>
            <a:ext cx="1520825" cy="307341"/>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sz="1400">
                <a:solidFill>
                  <a:srgbClr val="FFFFFF"/>
                </a:solidFill>
                <a:latin typeface="思源黑体旧字形 Light"/>
                <a:ea typeface="思源黑体旧字形 Light"/>
                <a:cs typeface="思源黑体旧字形 Light"/>
                <a:sym typeface="思源黑体旧字形 Light"/>
              </a:defRPr>
            </a:pPr>
          </a:p>
        </p:txBody>
      </p:sp>
      <p:sp>
        <p:nvSpPr>
          <p:cNvPr id="10" name="预设标题文本"/>
          <p:cNvSpPr txBox="1"/>
          <p:nvPr/>
        </p:nvSpPr>
        <p:spPr>
          <a:xfrm>
            <a:off x="3432174" y="4354829"/>
            <a:ext cx="1520825" cy="2540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FFFFFF"/>
                </a:solidFill>
                <a:latin typeface="思源宋体 CN Heavy"/>
                <a:ea typeface="思源宋体 CN Heavy"/>
                <a:cs typeface="思源宋体 CN Heavy"/>
                <a:sym typeface="思源宋体 CN Heavy"/>
              </a:defRPr>
            </a:lvl1pPr>
          </a:lstStyle>
          <a:p>
            <a:pPr>
              <a:defRPr/>
            </a:pPr>
            <a:r>
              <a:rPr/>
              <a:t>局限性</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形" descr="078a9cc3774e889b39144edb12e9acd2cf5a0859.png"/>
          <p:cNvPicPr>
            <a:picLocks noChangeAspect="1"/>
          </p:cNvPicPr>
          <p:nvPr/>
        </p:nvPicPr>
        <p:blipFill>
          <a:blip r:embed="rId2"/>
          <a:srcRect/>
          <a:stretch>
            <a:fillRect/>
          </a:stretch>
        </p:blipFill>
        <p:spPr>
          <a:xfrm flipH="1">
            <a:off x="0" y="-38735"/>
            <a:ext cx="12192000" cy="6896735"/>
          </a:xfrm>
          <a:prstGeom prst="rect">
            <a:avLst/>
          </a:prstGeom>
        </p:spPr>
      </p:pic>
      <p:sp>
        <p:nvSpPr>
          <p:cNvPr id="3" name="图形"/>
          <p:cNvSpPr/>
          <p:nvPr/>
        </p:nvSpPr>
        <p:spPr xmlns:m="http://schemas.openxmlformats.org/officeDocument/2006/math" xmlns:a14="http://schemas.microsoft.com/office/drawing/2010/main">
          <a:xfrm flipH="1">
            <a:off x="-1" y="-26704"/>
            <a:ext cx="12192636" cy="6858001"/>
          </a:xfrm>
          <a:prstGeom prst="rect">
            <a:avLst/>
          </a:prstGeom>
          <a:gradFill>
            <a:gsLst>
              <a:gs pos="0">
                <a:srgbClr val="F2F6FE"/>
              </a:gs>
              <a:gs pos="47000">
                <a:srgbClr val="F2F6FE">
                  <a:alpha val="0"/>
                </a:srgbClr>
              </a:gs>
            </a:gsLst>
            <a:lin ang="5400000"/>
          </a:gradFill>
          <a:ln w="12700">
            <a:miter lim="400000"/>
          </a:ln>
        </p:spPr>
        <p:txBody>
          <a:bodyPr lIns="45719" rIns="45719" anchor="ctr"/>
          <a:lstStyle>
            <a:lvl1pPr>
              <a:defRPr/>
            </a:lvl1pPr>
          </a:lstStyle>
          <a:p>
            <a:pPr algn="ctr">
              <a:defRPr>
                <a:solidFill>
                  <a:srgbClr val="FFFFFF"/>
                </a:solidFill>
              </a:defRPr>
            </a:pPr>
          </a:p>
        </p:txBody>
      </p:sp>
      <p:sp>
        <p:nvSpPr>
          <p:cNvPr id="4" name="图形"/>
          <p:cNvSpPr txBox="1"/>
          <p:nvPr/>
        </p:nvSpPr>
        <p:spPr>
          <a:xfrm>
            <a:off x="8037829" y="1853564"/>
            <a:ext cx="3493770" cy="184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15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a:t>AI寒冬与专家系统</a:t>
            </a:r>
          </a:p>
        </p:txBody>
      </p:sp>
      <p:sp>
        <p:nvSpPr>
          <p:cNvPr id="5" name="图形"/>
          <p:cNvSpPr txBox="1"/>
          <p:nvPr/>
        </p:nvSpPr>
        <p:spPr>
          <a:xfrm>
            <a:off x="5264150" y="2703195"/>
            <a:ext cx="6296025" cy="1361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7200">
                <a:solidFill>
                  <a:srgbClr val="262626"/>
                </a:solidFill>
                <a:latin typeface="思源宋体 CN Heavy"/>
                <a:ea typeface="思源宋体 CN Heavy"/>
                <a:cs typeface="思源宋体 CN Heavy"/>
                <a:sym typeface="思源宋体 CN Heavy"/>
              </a:defRPr>
            </a:lvl1pPr>
          </a:lstStyle>
          <a:p>
            <a:pPr>
              <a:defRPr/>
            </a:pPr>
            <a:r>
              <a:rPr/>
              <a:t>人工智能发展史</a:t>
            </a:r>
          </a:p>
        </p:txBody>
      </p:sp>
      <p:sp>
        <p:nvSpPr>
          <p:cNvPr id="6" name="图形"/>
          <p:cNvSpPr txBox="1"/>
          <p:nvPr/>
        </p:nvSpPr>
        <p:spPr>
          <a:xfrm>
            <a:off x="5317490" y="3714750"/>
            <a:ext cx="6502401" cy="7391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lvl1pPr>
          </a:lstStyle>
          <a:p>
            <a:pPr>
              <a:lnSpc>
                <a:spcPct val="200000"/>
              </a:lnSpc>
              <a:defRPr sz="1400">
                <a:solidFill>
                  <a:srgbClr val="262626"/>
                </a:solidFill>
                <a:latin typeface="思源宋体 SemiBold"/>
                <a:ea typeface="思源宋体 SemiBold"/>
                <a:cs typeface="思源宋体 SemiBold"/>
                <a:sym typeface="思源宋体 SemiBold"/>
              </a:defRPr>
            </a:pPr>
            <a:r>
              <a:rPr/>
              <a:t>回顾两次AI寒冬的成因：技术瓶颈、资金断裂与专家系统维护困难，探讨理想与现实的碰撞。</a:t>
            </a:r>
          </a:p>
          <a:p>
            <a:pPr>
              <a:lnSpc>
                <a:spcPct val="200000"/>
              </a:lnSpc>
              <a:defRPr sz="1400">
                <a:solidFill>
                  <a:srgbClr val="262626"/>
                </a:solidFill>
                <a:latin typeface="思源宋体 SemiBold"/>
                <a:ea typeface="思源宋体 SemiBold"/>
                <a:cs typeface="思源宋体 SemiBold"/>
                <a:sym typeface="思源宋体 SemiBold"/>
              </a:defRPr>
            </a:pPr>
            <a:r>
              <a:rPr/>
              <a:t>专家系统证明了AI的实用价值，1997年IBM深蓝战胜卡斯帕罗夫，重新提振了公众对AI的信心。</a:t>
            </a:r>
          </a:p>
        </p:txBody>
      </p:sp>
      <p:sp>
        <p:nvSpPr>
          <p:cNvPr id="7" name="图形"/>
          <p:cNvSpPr/>
          <p:nvPr/>
        </p:nvSpPr>
        <p:spPr xmlns:m="http://schemas.openxmlformats.org/officeDocument/2006/math" xmlns:a14="http://schemas.microsoft.com/office/drawing/2010/main">
          <a:xfrm>
            <a:off x="7016115" y="5141595"/>
            <a:ext cx="4533901" cy="1035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3" y="0"/>
                </a:lnTo>
                <a:lnTo>
                  <a:pt x="21600" y="0"/>
                </a:lnTo>
                <a:lnTo>
                  <a:pt x="21477" y="21600"/>
                </a:lnTo>
                <a:close/>
              </a:path>
            </a:pathLst>
          </a:custGeom>
          <a:gradFill>
            <a:gsLst>
              <a:gs pos="0">
                <a:srgbClr val="76BEFC">
                  <a:alpha val="46000"/>
                </a:srgbClr>
              </a:gs>
              <a:gs pos="66000">
                <a:srgbClr val="34ACFD">
                  <a:alpha val="0"/>
                </a:srgbClr>
              </a:gs>
            </a:gsLst>
            <a:lin ang="10800000"/>
          </a:gradFill>
          <a:ln w="12700">
            <a:miter lim="400000"/>
          </a:ln>
        </p:spPr>
        <p:txBody>
          <a:bodyPr lIns="45719" rIns="45719" anchor="ctr"/>
          <a:lstStyle>
            <a:lvl1pPr>
              <a:defRPr/>
            </a:lvl1pPr>
          </a:lstStyle>
          <a:p>
            <a:pPr algn="ctr">
              <a:defRPr>
                <a:solidFill>
                  <a:srgbClr val="FFFFFF"/>
                </a:solidFill>
              </a:defRPr>
            </a:pPr>
          </a:p>
        </p:txBody>
      </p:sp>
      <p:sp>
        <p:nvSpPr>
          <p:cNvPr id="8" name="图形"/>
          <p:cNvSpPr txBox="1"/>
          <p:nvPr/>
        </p:nvSpPr>
        <p:spPr>
          <a:xfrm>
            <a:off x="3891915" y="151129"/>
            <a:ext cx="4828540" cy="37363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39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a:t>3</a:t>
            </a:r>
          </a:p>
        </p:txBody>
      </p:sp>
      <p:sp>
        <p:nvSpPr>
          <p:cNvPr id="9" name="图形"/>
          <p:cNvSpPr/>
          <p:nvPr/>
        </p:nvSpPr>
        <p:spPr xmlns:m="http://schemas.openxmlformats.org/officeDocument/2006/math" xmlns:a14="http://schemas.microsoft.com/office/drawing/2010/main">
          <a:xfrm>
            <a:off x="4286249" y="1922143"/>
            <a:ext cx="2729866" cy="74168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chemeClr val="accent1">
                <a:alpha val="40000"/>
              </a:schemeClr>
            </a:outerShdw>
          </a:effectLst>
        </p:spPr>
        <p:txBody>
          <a:bodyPr wrap="square" lIns="45719" tIns="45719" rIns="45719" bIns="45719" numCol="1" anchor="ctr">
            <a:noAutofit/>
          </a:bodyPr>
          <a:lstStyle>
            <a:lvl1pPr>
              <a:defRPr/>
            </a:lvl1pPr>
          </a:lstStyle>
          <a:p>
            <a:pPr algn="ctr">
              <a:defRPr b="1">
                <a:solidFill>
                  <a:srgbClr val="FFFFFF"/>
                </a:solidFill>
                <a:latin typeface="思源宋体 CN Heavy"/>
                <a:ea typeface="思源宋体 CN Heavy"/>
                <a:cs typeface="思源宋体 CN Heavy"/>
                <a:sym typeface="思源宋体 CN Heavy"/>
              </a:defRPr>
            </a:pPr>
          </a:p>
        </p:txBody>
      </p:sp>
      <p:sp>
        <p:nvSpPr>
          <p:cNvPr id="10" name="图形"/>
          <p:cNvSpPr txBox="1"/>
          <p:nvPr/>
        </p:nvSpPr>
        <p:spPr>
          <a:xfrm>
            <a:off x="4641214" y="2060574"/>
            <a:ext cx="1991996"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800">
                <a:solidFill>
                  <a:srgbClr val="FFFFFF"/>
                </a:solidFill>
                <a:latin typeface="阿里巴巴普惠体 Heavy"/>
                <a:ea typeface="阿里巴巴普惠体 Heavy"/>
                <a:cs typeface="阿里巴巴普惠体 Heavy"/>
                <a:sym typeface="阿里巴巴普惠体 Heavy"/>
              </a:defRPr>
            </a:lvl1pPr>
          </a:lstStyle>
          <a:p>
            <a:pPr>
              <a:defRPr/>
            </a:pPr>
            <a:r>
              <a:rPr/>
              <a:t>专家系统的实用价值 · 两次AI寒冬的成因 · 深蓝战胜卡斯帕罗夫</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图形"/>
          <p:cNvSpPr txBox="1"/>
          <p:nvPr/>
        </p:nvSpPr>
        <p:spPr>
          <a:xfrm>
            <a:off x="775335" y="1616074"/>
            <a:ext cx="5361304" cy="147828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lvl1pPr>
          </a:lstStyle>
          <a:p>
            <a:pPr>
              <a:lnSpc>
                <a:spcPct val="90000"/>
              </a:lnSpc>
              <a:spcBef>
                <a:spcPts val="1000"/>
              </a:spcBef>
              <a:defRPr b="1" sz="4000">
                <a:solidFill>
                  <a:srgbClr val="262626"/>
                </a:solidFill>
                <a:latin typeface="思源宋体 CN Heavy"/>
                <a:ea typeface="思源宋体 CN Heavy"/>
                <a:cs typeface="思源宋体 CN Heavy"/>
                <a:sym typeface="思源宋体 CN Heavy"/>
              </a:defRPr>
            </a:pPr>
            <a:r>
              <a:rPr/>
              <a:t>AI发展史</a:t>
            </a:r>
            <a:endParaRPr sz="2400"/>
          </a:p>
          <a:p>
            <a:pPr>
              <a:lnSpc>
                <a:spcPct val="90000"/>
              </a:lnSpc>
              <a:spcBef>
                <a:spcPts val="1000"/>
              </a:spcBef>
              <a:defRPr sz="4000">
                <a:solidFill>
                  <a:schemeClr val="accent1"/>
                </a:solidFill>
                <a:latin typeface="思源宋体 CN Heavy"/>
                <a:ea typeface="思源宋体 CN Heavy"/>
                <a:cs typeface="思源宋体 CN Heavy"/>
                <a:sym typeface="思源宋体 CN Heavy"/>
              </a:defRPr>
            </a:pPr>
            <a:r>
              <a:rPr/>
              <a:t>AI寒冬与专家系统</a:t>
            </a:r>
          </a:p>
        </p:txBody>
      </p:sp>
      <p:sp>
        <p:nvSpPr>
          <p:cNvPr id="3" name="图形"/>
          <p:cNvSpPr txBox="1"/>
          <p:nvPr/>
        </p:nvSpPr>
        <p:spPr>
          <a:xfrm>
            <a:off x="775335" y="3041014"/>
            <a:ext cx="5361939" cy="1107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defRPr/>
            </a:pPr>
            <a:r>
              <a:rPr/>
              <a:t>专家系统短暂辉煌，证明了AI的实用价值，为后续研究奠定基础。</a:t>
            </a:r>
          </a:p>
        </p:txBody>
      </p:sp>
      <p:pic>
        <p:nvPicPr>
          <p:cNvPr id="4" name="图形" descr="ai_funding_curve.png"/>
          <p:cNvPicPr>
            <a:picLocks noChangeAspect="1"/>
          </p:cNvPicPr>
          <p:nvPr/>
        </p:nvPicPr>
        <p:blipFill>
          <a:blip r:embed="rId2"/>
          <a:srcRect/>
          <a:stretch>
            <a:fillRect/>
          </a:stretch>
        </p:blipFill>
        <p:spPr>
          <a:xfrm>
            <a:off x="6182994" y="2005637"/>
            <a:ext cx="5156200" cy="3303924"/>
          </a:xfrm>
          <a:prstGeom prst="rect">
            <a:avLst/>
          </a:prstGeom>
        </p:spPr>
      </p:pic>
      <p:sp>
        <p:nvSpPr>
          <p:cNvPr id="5" name="图形"/>
          <p:cNvSpPr txBox="1"/>
          <p:nvPr/>
        </p:nvSpPr>
        <p:spPr>
          <a:xfrm>
            <a:off x="848359" y="4662169"/>
            <a:ext cx="2112646"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IBM Deep Blue击败卡斯帕罗夫，重燃公众信心。</a:t>
            </a:r>
          </a:p>
        </p:txBody>
      </p:sp>
      <p:sp>
        <p:nvSpPr>
          <p:cNvPr id="6" name="矩形"/>
          <p:cNvSpPr/>
          <p:nvPr/>
        </p:nvSpPr>
        <p:spPr xmlns:m="http://schemas.openxmlformats.org/officeDocument/2006/math" xmlns:a14="http://schemas.microsoft.com/office/drawing/2010/main">
          <a:xfrm>
            <a:off x="900429" y="4328159"/>
            <a:ext cx="1520826" cy="307341"/>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sz="1400">
                <a:solidFill>
                  <a:srgbClr val="FFFFFF"/>
                </a:solidFill>
                <a:latin typeface="思源黑体旧字形 Light"/>
                <a:ea typeface="思源黑体旧字形 Light"/>
                <a:cs typeface="思源黑体旧字形 Light"/>
                <a:sym typeface="思源黑体旧字形 Light"/>
              </a:defRPr>
            </a:pPr>
          </a:p>
        </p:txBody>
      </p:sp>
      <p:sp>
        <p:nvSpPr>
          <p:cNvPr id="7" name="预设标题文本"/>
          <p:cNvSpPr txBox="1"/>
          <p:nvPr/>
        </p:nvSpPr>
        <p:spPr>
          <a:xfrm>
            <a:off x="900429" y="4354829"/>
            <a:ext cx="1520826" cy="2540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FFFFFF"/>
                </a:solidFill>
                <a:latin typeface="思源宋体 CN Heavy"/>
                <a:ea typeface="思源宋体 CN Heavy"/>
                <a:cs typeface="思源宋体 CN Heavy"/>
                <a:sym typeface="思源宋体 CN Heavy"/>
              </a:defRPr>
            </a:lvl1pPr>
          </a:lstStyle>
          <a:p>
            <a:pPr>
              <a:defRPr/>
            </a:pPr>
            <a:r>
              <a:rPr/>
              <a:t>第一次寒冬</a:t>
            </a:r>
          </a:p>
        </p:txBody>
      </p:sp>
      <p:sp>
        <p:nvSpPr>
          <p:cNvPr id="8" name="图形"/>
          <p:cNvSpPr txBox="1"/>
          <p:nvPr/>
        </p:nvSpPr>
        <p:spPr>
          <a:xfrm>
            <a:off x="3380104" y="4662169"/>
            <a:ext cx="2112645"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计算能力不足，DARPA削减预算，组合爆炸难题无解。</a:t>
            </a:r>
          </a:p>
        </p:txBody>
      </p:sp>
      <p:sp>
        <p:nvSpPr>
          <p:cNvPr id="9" name="矩形"/>
          <p:cNvSpPr/>
          <p:nvPr/>
        </p:nvSpPr>
        <p:spPr xmlns:m="http://schemas.openxmlformats.org/officeDocument/2006/math" xmlns:a14="http://schemas.microsoft.com/office/drawing/2010/main">
          <a:xfrm>
            <a:off x="3432174" y="4328159"/>
            <a:ext cx="1520825" cy="307341"/>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sz="1400">
                <a:solidFill>
                  <a:srgbClr val="FFFFFF"/>
                </a:solidFill>
                <a:latin typeface="思源黑体旧字形 Light"/>
                <a:ea typeface="思源黑体旧字形 Light"/>
                <a:cs typeface="思源黑体旧字形 Light"/>
                <a:sym typeface="思源黑体旧字形 Light"/>
              </a:defRPr>
            </a:pPr>
          </a:p>
        </p:txBody>
      </p:sp>
      <p:sp>
        <p:nvSpPr>
          <p:cNvPr id="10" name="预设标题文本"/>
          <p:cNvSpPr txBox="1"/>
          <p:nvPr/>
        </p:nvSpPr>
        <p:spPr>
          <a:xfrm>
            <a:off x="3432174" y="4354829"/>
            <a:ext cx="1520825" cy="2540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FFFFFF"/>
                </a:solidFill>
                <a:latin typeface="思源宋体 CN Heavy"/>
                <a:ea typeface="思源宋体 CN Heavy"/>
                <a:cs typeface="思源宋体 CN Heavy"/>
                <a:sym typeface="思源宋体 CN Heavy"/>
              </a:defRPr>
            </a:lvl1pPr>
          </a:lstStyle>
          <a:p>
            <a:pPr>
              <a:defRPr/>
            </a:pPr>
            <a:r>
              <a:rPr/>
              <a:t>第二次寒冬</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形" descr="078a9cc3774e889b39144edb12e9acd2cf5a0859.png"/>
          <p:cNvPicPr>
            <a:picLocks noChangeAspect="1"/>
          </p:cNvPicPr>
          <p:nvPr/>
        </p:nvPicPr>
        <p:blipFill>
          <a:blip r:embed="rId2"/>
          <a:srcRect/>
          <a:stretch>
            <a:fillRect/>
          </a:stretch>
        </p:blipFill>
        <p:spPr>
          <a:xfrm flipH="1">
            <a:off x="0" y="-38735"/>
            <a:ext cx="12192000" cy="6896735"/>
          </a:xfrm>
          <a:prstGeom prst="rect">
            <a:avLst/>
          </a:prstGeom>
        </p:spPr>
      </p:pic>
      <p:sp>
        <p:nvSpPr>
          <p:cNvPr id="3" name="图形"/>
          <p:cNvSpPr/>
          <p:nvPr/>
        </p:nvSpPr>
        <p:spPr xmlns:m="http://schemas.openxmlformats.org/officeDocument/2006/math" xmlns:a14="http://schemas.microsoft.com/office/drawing/2010/main">
          <a:xfrm flipH="1">
            <a:off x="-1" y="-26704"/>
            <a:ext cx="12192636" cy="6858001"/>
          </a:xfrm>
          <a:prstGeom prst="rect">
            <a:avLst/>
          </a:prstGeom>
          <a:gradFill>
            <a:gsLst>
              <a:gs pos="0">
                <a:srgbClr val="F2F6FE"/>
              </a:gs>
              <a:gs pos="47000">
                <a:srgbClr val="F2F6FE">
                  <a:alpha val="0"/>
                </a:srgbClr>
              </a:gs>
            </a:gsLst>
            <a:lin ang="5400000"/>
          </a:gradFill>
          <a:ln w="12700">
            <a:miter lim="400000"/>
          </a:ln>
        </p:spPr>
        <p:txBody>
          <a:bodyPr lIns="45719" rIns="45719" anchor="ctr"/>
          <a:lstStyle>
            <a:lvl1pPr>
              <a:defRPr/>
            </a:lvl1pPr>
          </a:lstStyle>
          <a:p>
            <a:pPr algn="ctr">
              <a:defRPr>
                <a:solidFill>
                  <a:srgbClr val="FFFFFF"/>
                </a:solidFill>
              </a:defRPr>
            </a:pPr>
          </a:p>
        </p:txBody>
      </p:sp>
      <p:sp>
        <p:nvSpPr>
          <p:cNvPr id="4" name="图形"/>
          <p:cNvSpPr txBox="1"/>
          <p:nvPr/>
        </p:nvSpPr>
        <p:spPr>
          <a:xfrm>
            <a:off x="8037829" y="1853564"/>
            <a:ext cx="3493770" cy="184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15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a:t>机器学习崛起</a:t>
            </a:r>
          </a:p>
        </p:txBody>
      </p:sp>
      <p:sp>
        <p:nvSpPr>
          <p:cNvPr id="5" name="图形"/>
          <p:cNvSpPr txBox="1"/>
          <p:nvPr/>
        </p:nvSpPr>
        <p:spPr>
          <a:xfrm>
            <a:off x="5264150" y="2703195"/>
            <a:ext cx="6296025" cy="1361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7200">
                <a:solidFill>
                  <a:srgbClr val="262626"/>
                </a:solidFill>
                <a:latin typeface="思源宋体 CN Heavy"/>
                <a:ea typeface="思源宋体 CN Heavy"/>
                <a:cs typeface="思源宋体 CN Heavy"/>
                <a:sym typeface="思源宋体 CN Heavy"/>
              </a:defRPr>
            </a:lvl1pPr>
          </a:lstStyle>
          <a:p>
            <a:pPr>
              <a:defRPr/>
            </a:pPr>
            <a:r>
              <a:rPr/>
              <a:t>数据驱动的范式转移</a:t>
            </a:r>
          </a:p>
        </p:txBody>
      </p:sp>
      <p:sp>
        <p:nvSpPr>
          <p:cNvPr id="6" name="图形"/>
          <p:cNvSpPr txBox="1"/>
          <p:nvPr/>
        </p:nvSpPr>
        <p:spPr>
          <a:xfrm>
            <a:off x="5317490" y="3714750"/>
            <a:ext cx="6502401" cy="7391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lvl1pPr>
          </a:lstStyle>
          <a:p>
            <a:pPr>
              <a:lnSpc>
                <a:spcPct val="200000"/>
              </a:lnSpc>
              <a:defRPr sz="1400">
                <a:solidFill>
                  <a:srgbClr val="262626"/>
                </a:solidFill>
                <a:latin typeface="思源宋体 SemiBold"/>
                <a:ea typeface="思源宋体 SemiBold"/>
                <a:cs typeface="思源宋体 SemiBold"/>
                <a:sym typeface="思源宋体 SemiBold"/>
              </a:defRPr>
            </a:pPr>
            <a:r>
              <a:rPr/>
              <a:t>从手工编码规则转向数据驱动学习，SVM、随机森林与深度信念网络（DBN）等技术相继突破，深刻影响工业界与后续研究。</a:t>
            </a:r>
          </a:p>
          <a:p>
            <a:pPr>
              <a:lnSpc>
                <a:spcPct val="200000"/>
              </a:lnSpc>
              <a:defRPr sz="1400">
                <a:solidFill>
                  <a:srgbClr val="262626"/>
                </a:solidFill>
                <a:latin typeface="思源宋体 SemiBold"/>
                <a:ea typeface="思源宋体 SemiBold"/>
                <a:cs typeface="思源宋体 SemiBold"/>
                <a:sym typeface="思源宋体 SemiBold"/>
              </a:defRPr>
            </a:pPr>
            <a:r>
              <a:rPr/>
              <a:t>Netflix推荐系统与IBM Watson的成功，展示了机器学习在大规模商业应用与复杂自然语言理解中的显著能力，为AI复兴奠定基础。</a:t>
            </a:r>
          </a:p>
        </p:txBody>
      </p:sp>
      <p:sp>
        <p:nvSpPr>
          <p:cNvPr id="7" name="图形"/>
          <p:cNvSpPr/>
          <p:nvPr/>
        </p:nvSpPr>
        <p:spPr xmlns:m="http://schemas.openxmlformats.org/officeDocument/2006/math" xmlns:a14="http://schemas.microsoft.com/office/drawing/2010/main">
          <a:xfrm>
            <a:off x="7016115" y="5141595"/>
            <a:ext cx="4533901" cy="1035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3" y="0"/>
                </a:lnTo>
                <a:lnTo>
                  <a:pt x="21600" y="0"/>
                </a:lnTo>
                <a:lnTo>
                  <a:pt x="21477" y="21600"/>
                </a:lnTo>
                <a:close/>
              </a:path>
            </a:pathLst>
          </a:custGeom>
          <a:gradFill>
            <a:gsLst>
              <a:gs pos="0">
                <a:srgbClr val="76BEFC">
                  <a:alpha val="46000"/>
                </a:srgbClr>
              </a:gs>
              <a:gs pos="66000">
                <a:srgbClr val="34ACFD">
                  <a:alpha val="0"/>
                </a:srgbClr>
              </a:gs>
            </a:gsLst>
            <a:lin ang="10800000"/>
          </a:gradFill>
          <a:ln w="12700">
            <a:miter lim="400000"/>
          </a:ln>
        </p:spPr>
        <p:txBody>
          <a:bodyPr lIns="45719" rIns="45719" anchor="ctr"/>
          <a:lstStyle>
            <a:lvl1pPr>
              <a:defRPr/>
            </a:lvl1pPr>
          </a:lstStyle>
          <a:p>
            <a:pPr algn="ctr">
              <a:defRPr>
                <a:solidFill>
                  <a:srgbClr val="FFFFFF"/>
                </a:solidFill>
              </a:defRPr>
            </a:pPr>
          </a:p>
        </p:txBody>
      </p:sp>
      <p:sp>
        <p:nvSpPr>
          <p:cNvPr id="8" name="图形"/>
          <p:cNvSpPr txBox="1"/>
          <p:nvPr/>
        </p:nvSpPr>
        <p:spPr>
          <a:xfrm>
            <a:off x="3891915" y="151129"/>
            <a:ext cx="4828540" cy="37363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39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a:t>4</a:t>
            </a:r>
          </a:p>
        </p:txBody>
      </p:sp>
      <p:sp>
        <p:nvSpPr>
          <p:cNvPr id="9" name="图形"/>
          <p:cNvSpPr/>
          <p:nvPr/>
        </p:nvSpPr>
        <p:spPr xmlns:m="http://schemas.openxmlformats.org/officeDocument/2006/math" xmlns:a14="http://schemas.microsoft.com/office/drawing/2010/main">
          <a:xfrm>
            <a:off x="4286249" y="1922143"/>
            <a:ext cx="2729866" cy="74168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chemeClr val="accent1">
                <a:alpha val="40000"/>
              </a:schemeClr>
            </a:outerShdw>
          </a:effectLst>
        </p:spPr>
        <p:txBody>
          <a:bodyPr wrap="square" lIns="45719" tIns="45719" rIns="45719" bIns="45719" numCol="1" anchor="ctr">
            <a:noAutofit/>
          </a:bodyPr>
          <a:lstStyle>
            <a:lvl1pPr>
              <a:defRPr/>
            </a:lvl1pPr>
          </a:lstStyle>
          <a:p>
            <a:pPr algn="ctr">
              <a:defRPr b="1">
                <a:solidFill>
                  <a:srgbClr val="FFFFFF"/>
                </a:solidFill>
                <a:latin typeface="思源宋体 CN Heavy"/>
                <a:ea typeface="思源宋体 CN Heavy"/>
                <a:cs typeface="思源宋体 CN Heavy"/>
                <a:sym typeface="思源宋体 CN Heavy"/>
              </a:defRPr>
            </a:pPr>
          </a:p>
        </p:txBody>
      </p:sp>
      <p:sp>
        <p:nvSpPr>
          <p:cNvPr id="10" name="图形"/>
          <p:cNvSpPr txBox="1"/>
          <p:nvPr/>
        </p:nvSpPr>
        <p:spPr>
          <a:xfrm>
            <a:off x="4641214" y="2060574"/>
            <a:ext cx="1991996"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800">
                <a:solidFill>
                  <a:srgbClr val="FFFFFF"/>
                </a:solidFill>
                <a:latin typeface="阿里巴巴普惠体 Heavy"/>
                <a:ea typeface="阿里巴巴普惠体 Heavy"/>
                <a:cs typeface="阿里巴巴普惠体 Heavy"/>
                <a:sym typeface="阿里巴巴普惠体 Heavy"/>
              </a:defRPr>
            </a:lvl1pPr>
          </a:lstStyle>
          <a:p>
            <a:pPr>
              <a:defRPr/>
            </a:pPr>
            <a:r>
              <a:rPr/>
              <a:t>涵盖：AI研究的范式革命 · 关键技术突破 · 标志性应用案例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形" descr="technology_evolution.png"/>
          <p:cNvPicPr>
            <a:picLocks noChangeAspect="1"/>
          </p:cNvPicPr>
          <p:nvPr/>
        </p:nvPicPr>
        <p:blipFill>
          <a:blip r:embed="rId2"/>
          <a:srcRect/>
          <a:stretch>
            <a:fillRect/>
          </a:stretch>
        </p:blipFill>
        <p:spPr>
          <a:xfrm>
            <a:off x="952500" y="1625600"/>
            <a:ext cx="5512702" cy="3657600"/>
          </a:xfrm>
          <a:prstGeom prst="rect">
            <a:avLst/>
          </a:prstGeom>
        </p:spPr>
      </p:pic>
      <p:sp>
        <p:nvSpPr>
          <p:cNvPr id="3" name="图形"/>
          <p:cNvSpPr/>
          <p:nvPr/>
        </p:nvSpPr>
        <p:spPr xmlns:m="http://schemas.openxmlformats.org/officeDocument/2006/math" xmlns:a14="http://schemas.microsoft.com/office/drawing/2010/main">
          <a:xfrm>
            <a:off x="1386204" y="3837305"/>
            <a:ext cx="675006" cy="1456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775" y="21600"/>
                </a:moveTo>
                <a:lnTo>
                  <a:pt x="4825" y="21600"/>
                </a:lnTo>
                <a:lnTo>
                  <a:pt x="4825" y="5067"/>
                </a:lnTo>
                <a:lnTo>
                  <a:pt x="0" y="5067"/>
                </a:lnTo>
                <a:lnTo>
                  <a:pt x="10667" y="0"/>
                </a:lnTo>
                <a:lnTo>
                  <a:pt x="21600" y="5067"/>
                </a:lnTo>
                <a:lnTo>
                  <a:pt x="16775" y="5067"/>
                </a:lnTo>
                <a:lnTo>
                  <a:pt x="16775" y="21600"/>
                </a:lnTo>
                <a:close/>
              </a:path>
            </a:pathLst>
          </a:custGeom>
          <a:solidFill>
            <a:srgbClr val="F2F2F2"/>
          </a:solidFill>
          <a:ln w="12700" cap="flat">
            <a:noFill/>
            <a:miter lim="400000"/>
          </a:ln>
          <a:effectLst/>
        </p:spPr>
        <p:txBody>
          <a:bodyPr wrap="square" lIns="45719" tIns="45719" rIns="45719" bIns="45719" numCol="1" anchor="t">
            <a:noAutofit/>
          </a:bodyPr>
          <a:lstStyle>
            <a:lvl1pPr>
              <a:defRPr/>
            </a:lvl1pPr>
          </a:lstStyle>
          <a:p>
            <a:pPr algn="just">
              <a:lnSpc>
                <a:spcPct val="120000"/>
              </a:lnSpc>
              <a:defRPr sz="800"/>
            </a:pPr>
          </a:p>
        </p:txBody>
      </p:sp>
      <p:sp>
        <p:nvSpPr>
          <p:cNvPr id="4" name="图形"/>
          <p:cNvSpPr/>
          <p:nvPr/>
        </p:nvSpPr>
        <p:spPr xmlns:m="http://schemas.openxmlformats.org/officeDocument/2006/math" xmlns:a14="http://schemas.microsoft.com/office/drawing/2010/main">
          <a:xfrm>
            <a:off x="2771139" y="2990849"/>
            <a:ext cx="675006" cy="12496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090" y="0"/>
                </a:moveTo>
                <a:lnTo>
                  <a:pt x="16775" y="0"/>
                </a:lnTo>
                <a:lnTo>
                  <a:pt x="16775" y="15835"/>
                </a:lnTo>
                <a:lnTo>
                  <a:pt x="21600" y="15835"/>
                </a:lnTo>
                <a:lnTo>
                  <a:pt x="10933" y="21600"/>
                </a:lnTo>
                <a:lnTo>
                  <a:pt x="0" y="15835"/>
                </a:lnTo>
                <a:lnTo>
                  <a:pt x="5090" y="15835"/>
                </a:lnTo>
                <a:lnTo>
                  <a:pt x="5090" y="0"/>
                </a:lnTo>
                <a:close/>
              </a:path>
            </a:pathLst>
          </a:custGeom>
          <a:solidFill>
            <a:srgbClr val="F2F2F2"/>
          </a:solidFill>
          <a:ln w="12700" cap="flat">
            <a:noFill/>
            <a:miter lim="400000"/>
          </a:ln>
          <a:effectLst/>
        </p:spPr>
        <p:txBody>
          <a:bodyPr wrap="square" lIns="45719" tIns="45719" rIns="45719" bIns="45719" numCol="1" anchor="t">
            <a:noAutofit/>
          </a:bodyPr>
          <a:lstStyle>
            <a:lvl1pPr>
              <a:defRPr/>
            </a:lvl1pPr>
          </a:lstStyle>
          <a:p>
            <a:pPr algn="just">
              <a:lnSpc>
                <a:spcPct val="120000"/>
              </a:lnSpc>
              <a:defRPr sz="800"/>
            </a:pPr>
          </a:p>
        </p:txBody>
      </p:sp>
      <p:sp>
        <p:nvSpPr>
          <p:cNvPr id="5" name="图形"/>
          <p:cNvSpPr/>
          <p:nvPr/>
        </p:nvSpPr>
        <p:spPr xmlns:m="http://schemas.openxmlformats.org/officeDocument/2006/math" xmlns:a14="http://schemas.microsoft.com/office/drawing/2010/main">
          <a:xfrm>
            <a:off x="4153534" y="3837305"/>
            <a:ext cx="673736" cy="1456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544" y="21600"/>
                </a:moveTo>
                <a:lnTo>
                  <a:pt x="4834" y="21600"/>
                </a:lnTo>
                <a:lnTo>
                  <a:pt x="4834" y="5067"/>
                </a:lnTo>
                <a:lnTo>
                  <a:pt x="0" y="5067"/>
                </a:lnTo>
                <a:lnTo>
                  <a:pt x="10689" y="0"/>
                </a:lnTo>
                <a:lnTo>
                  <a:pt x="21600" y="5067"/>
                </a:lnTo>
                <a:lnTo>
                  <a:pt x="16544" y="5067"/>
                </a:lnTo>
                <a:lnTo>
                  <a:pt x="16544" y="21600"/>
                </a:lnTo>
                <a:close/>
              </a:path>
            </a:pathLst>
          </a:custGeom>
          <a:solidFill>
            <a:srgbClr val="F2F2F2"/>
          </a:solidFill>
          <a:ln w="12700" cap="flat">
            <a:noFill/>
            <a:miter lim="400000"/>
          </a:ln>
          <a:effectLst/>
        </p:spPr>
        <p:txBody>
          <a:bodyPr wrap="square" lIns="45719" tIns="45719" rIns="45719" bIns="45719" numCol="1" anchor="t">
            <a:noAutofit/>
          </a:bodyPr>
          <a:lstStyle>
            <a:lvl1pPr>
              <a:defRPr/>
            </a:lvl1pPr>
          </a:lstStyle>
          <a:p>
            <a:pPr algn="just">
              <a:lnSpc>
                <a:spcPct val="120000"/>
              </a:lnSpc>
              <a:defRPr sz="800"/>
            </a:pPr>
          </a:p>
        </p:txBody>
      </p:sp>
      <p:sp>
        <p:nvSpPr>
          <p:cNvPr id="6" name="图形"/>
          <p:cNvSpPr/>
          <p:nvPr/>
        </p:nvSpPr>
        <p:spPr xmlns:m="http://schemas.openxmlformats.org/officeDocument/2006/math" xmlns:a14="http://schemas.microsoft.com/office/drawing/2010/main">
          <a:xfrm>
            <a:off x="5538469" y="2527935"/>
            <a:ext cx="675006" cy="16630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090" y="0"/>
                </a:moveTo>
                <a:lnTo>
                  <a:pt x="16775" y="0"/>
                </a:lnTo>
                <a:lnTo>
                  <a:pt x="16775" y="17161"/>
                </a:lnTo>
                <a:lnTo>
                  <a:pt x="21600" y="17161"/>
                </a:lnTo>
                <a:lnTo>
                  <a:pt x="10933" y="21600"/>
                </a:lnTo>
                <a:lnTo>
                  <a:pt x="0" y="17161"/>
                </a:lnTo>
                <a:lnTo>
                  <a:pt x="5090" y="17161"/>
                </a:lnTo>
                <a:lnTo>
                  <a:pt x="5090" y="0"/>
                </a:lnTo>
                <a:close/>
              </a:path>
            </a:pathLst>
          </a:custGeom>
          <a:solidFill>
            <a:srgbClr val="F2F2F2"/>
          </a:solidFill>
          <a:ln w="12700" cap="flat">
            <a:noFill/>
            <a:miter lim="400000"/>
          </a:ln>
          <a:effectLst/>
        </p:spPr>
        <p:txBody>
          <a:bodyPr wrap="square" lIns="45719" tIns="45719" rIns="45719" bIns="45719" numCol="1" anchor="t">
            <a:noAutofit/>
          </a:bodyPr>
          <a:lstStyle>
            <a:lvl1pPr>
              <a:defRPr/>
            </a:lvl1pPr>
          </a:lstStyle>
          <a:p>
            <a:pPr algn="just">
              <a:lnSpc>
                <a:spcPct val="120000"/>
              </a:lnSpc>
              <a:defRPr sz="800"/>
            </a:pPr>
          </a:p>
        </p:txBody>
      </p:sp>
      <p:sp>
        <p:nvSpPr>
          <p:cNvPr id="7" name="图形"/>
          <p:cNvSpPr txBox="1"/>
          <p:nvPr/>
        </p:nvSpPr>
        <p:spPr>
          <a:xfrm>
            <a:off x="5485129" y="5354320"/>
            <a:ext cx="78168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nSpc>
                <a:spcPct val="120000"/>
              </a:lnSpc>
              <a:defRPr sz="1100">
                <a:solidFill>
                  <a:srgbClr val="A6A6A6"/>
                </a:solidFill>
              </a:defRPr>
            </a:lvl1pPr>
          </a:lstStyle>
          <a:p>
            <a:pPr>
              <a:defRPr/>
            </a:pPr>
            <a:r>
              <a:rPr/>
              <a:t>2011：IBM Watson 赢得 Jeopardy!</a:t>
            </a:r>
          </a:p>
        </p:txBody>
      </p:sp>
      <p:sp>
        <p:nvSpPr>
          <p:cNvPr id="8" name="图形"/>
          <p:cNvSpPr txBox="1"/>
          <p:nvPr/>
        </p:nvSpPr>
        <p:spPr>
          <a:xfrm>
            <a:off x="4098924" y="5354320"/>
            <a:ext cx="78168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nSpc>
                <a:spcPct val="120000"/>
              </a:lnSpc>
              <a:defRPr sz="1100">
                <a:solidFill>
                  <a:srgbClr val="A6A6A6"/>
                </a:solidFill>
              </a:defRPr>
            </a:lvl1pPr>
          </a:lstStyle>
          <a:p>
            <a:pPr>
              <a:defRPr/>
            </a:pPr>
            <a:r>
              <a:rPr/>
              <a:t>AI从手工编码规则转向数据驱动学习</a:t>
            </a:r>
          </a:p>
        </p:txBody>
      </p:sp>
      <p:sp>
        <p:nvSpPr>
          <p:cNvPr id="9" name="图形"/>
          <p:cNvSpPr txBox="1"/>
          <p:nvPr/>
        </p:nvSpPr>
        <p:spPr>
          <a:xfrm>
            <a:off x="2717799" y="5354320"/>
            <a:ext cx="78168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nSpc>
                <a:spcPct val="120000"/>
              </a:lnSpc>
              <a:defRPr sz="1100">
                <a:solidFill>
                  <a:srgbClr val="A6A6A6"/>
                </a:solidFill>
              </a:defRPr>
            </a:lvl1pPr>
          </a:lstStyle>
          <a:p>
            <a:pPr>
              <a:defRPr/>
            </a:pPr>
            <a:r>
              <a:rPr/>
              <a:t>SVM、随机森林、DBN相继突破</a:t>
            </a:r>
          </a:p>
        </p:txBody>
      </p:sp>
      <p:sp>
        <p:nvSpPr>
          <p:cNvPr id="10" name="图形"/>
          <p:cNvSpPr txBox="1"/>
          <p:nvPr/>
        </p:nvSpPr>
        <p:spPr>
          <a:xfrm>
            <a:off x="1332864" y="5354320"/>
            <a:ext cx="78168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nSpc>
                <a:spcPct val="120000"/>
              </a:lnSpc>
              <a:defRPr sz="1100">
                <a:solidFill>
                  <a:srgbClr val="A6A6A6"/>
                </a:solidFill>
              </a:defRPr>
            </a:lvl1pPr>
          </a:lstStyle>
          <a:p>
            <a:pPr>
              <a:defRPr/>
            </a:pPr>
            <a:r>
              <a:rPr/>
              <a:t>Netflix推荐系统与Watson标志商业成功</a:t>
            </a:r>
          </a:p>
        </p:txBody>
      </p:sp>
      <p:sp>
        <p:nvSpPr>
          <p:cNvPr id="11" name="图形"/>
          <p:cNvSpPr/>
          <p:nvPr/>
        </p:nvSpPr>
        <p:spPr xmlns:m="http://schemas.openxmlformats.org/officeDocument/2006/math" xmlns:a14="http://schemas.microsoft.com/office/drawing/2010/main">
          <a:xfrm>
            <a:off x="6995159" y="4541519"/>
            <a:ext cx="447675" cy="447677"/>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2" name="图形"/>
          <p:cNvSpPr txBox="1"/>
          <p:nvPr/>
        </p:nvSpPr>
        <p:spPr>
          <a:xfrm>
            <a:off x="7539989" y="2068829"/>
            <a:ext cx="3848735"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latin typeface="思源黑体旧字形 Light"/>
                <a:ea typeface="思源黑体旧字形 Light"/>
                <a:cs typeface="思源黑体旧字形 Light"/>
                <a:sym typeface="思源黑体旧字形 Light"/>
              </a:defRPr>
            </a:lvl1pPr>
          </a:lstStyle>
          <a:p>
            <a:pPr>
              <a:defRPr/>
            </a:pPr>
            <a:r>
              <a:rPr/>
              <a:t>1995：Vapnik 提出 SVM</a:t>
            </a:r>
          </a:p>
        </p:txBody>
      </p:sp>
      <p:sp>
        <p:nvSpPr>
          <p:cNvPr id="13" name="图形"/>
          <p:cNvSpPr txBox="1"/>
          <p:nvPr/>
        </p:nvSpPr>
        <p:spPr>
          <a:xfrm>
            <a:off x="7539989" y="3241039"/>
            <a:ext cx="3848735"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latin typeface="思源黑体旧字形 Light"/>
                <a:ea typeface="思源黑体旧字形 Light"/>
                <a:cs typeface="思源黑体旧字形 Light"/>
                <a:sym typeface="思源黑体旧字形 Light"/>
              </a:defRPr>
            </a:lvl1pPr>
          </a:lstStyle>
          <a:p>
            <a:pPr>
              <a:defRPr/>
            </a:pPr>
            <a:r>
              <a:rPr/>
              <a:t>2001：Breiman 提出随机森林</a:t>
            </a:r>
          </a:p>
        </p:txBody>
      </p:sp>
      <p:sp>
        <p:nvSpPr>
          <p:cNvPr id="14" name="图形"/>
          <p:cNvSpPr txBox="1"/>
          <p:nvPr/>
        </p:nvSpPr>
        <p:spPr>
          <a:xfrm>
            <a:off x="7539989" y="4413250"/>
            <a:ext cx="3848735"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latin typeface="思源黑体旧字形 Light"/>
                <a:ea typeface="思源黑体旧字形 Light"/>
                <a:cs typeface="思源黑体旧字形 Light"/>
                <a:sym typeface="思源黑体旧字形 Light"/>
              </a:defRPr>
            </a:lvl1pPr>
          </a:lstStyle>
          <a:p>
            <a:pPr>
              <a:defRPr/>
            </a:pPr>
            <a:r>
              <a:rPr/>
              <a:t>2006：Hinton 提出深度信念网络</a:t>
            </a:r>
          </a:p>
        </p:txBody>
      </p:sp>
      <p:sp>
        <p:nvSpPr>
          <p:cNvPr id="15" name="图形"/>
          <p:cNvSpPr/>
          <p:nvPr/>
        </p:nvSpPr>
        <p:spPr xmlns:m="http://schemas.openxmlformats.org/officeDocument/2006/math" xmlns:a14="http://schemas.microsoft.com/office/drawing/2010/main">
          <a:xfrm>
            <a:off x="6995794" y="2189479"/>
            <a:ext cx="447675" cy="447677"/>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6" name="图形"/>
          <p:cNvSpPr/>
          <p:nvPr/>
        </p:nvSpPr>
        <p:spPr xmlns:m="http://schemas.openxmlformats.org/officeDocument/2006/math" xmlns:a14="http://schemas.microsoft.com/office/drawing/2010/main">
          <a:xfrm>
            <a:off x="6995794" y="3386455"/>
            <a:ext cx="447675" cy="447677"/>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7" name="图形"/>
          <p:cNvSpPr/>
          <p:nvPr/>
        </p:nvSpPr>
        <p:spPr xmlns:m="http://schemas.openxmlformats.org/officeDocument/2006/math" xmlns:a14="http://schemas.microsoft.com/office/drawing/2010/main">
          <a:xfrm>
            <a:off x="7097394" y="4640580"/>
            <a:ext cx="242571" cy="242571"/>
          </a:xfrm>
          <a:prstGeom prst="ellipse">
            <a:avLst/>
          </a:prstGeom>
          <a:solidFill>
            <a:srgbClr val="FFFFFF"/>
          </a:soli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8" name="图形"/>
          <p:cNvSpPr/>
          <p:nvPr/>
        </p:nvSpPr>
        <p:spPr xmlns:m="http://schemas.openxmlformats.org/officeDocument/2006/math" xmlns:a14="http://schemas.microsoft.com/office/drawing/2010/main">
          <a:xfrm>
            <a:off x="7098664" y="2273299"/>
            <a:ext cx="242571" cy="242571"/>
          </a:xfrm>
          <a:prstGeom prst="ellipse">
            <a:avLst/>
          </a:prstGeom>
          <a:solidFill>
            <a:srgbClr val="FFFFFF"/>
          </a:soli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9" name="图形"/>
          <p:cNvSpPr/>
          <p:nvPr/>
        </p:nvSpPr>
        <p:spPr xmlns:m="http://schemas.openxmlformats.org/officeDocument/2006/math" xmlns:a14="http://schemas.microsoft.com/office/drawing/2010/main">
          <a:xfrm>
            <a:off x="7098664" y="3462019"/>
            <a:ext cx="242571" cy="242571"/>
          </a:xfrm>
          <a:prstGeom prst="ellipse">
            <a:avLst/>
          </a:prstGeom>
          <a:solidFill>
            <a:srgbClr val="FFFFFF"/>
          </a:soli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形" descr="078a9cc3774e889b39144edb12e9acd2cf5a0859.png"/>
          <p:cNvPicPr>
            <a:picLocks noChangeAspect="1"/>
          </p:cNvPicPr>
          <p:nvPr/>
        </p:nvPicPr>
        <p:blipFill>
          <a:blip r:embed="rId2"/>
          <a:srcRect/>
          <a:stretch>
            <a:fillRect/>
          </a:stretch>
        </p:blipFill>
        <p:spPr>
          <a:xfrm flipH="1">
            <a:off x="0" y="-38735"/>
            <a:ext cx="12192000" cy="6896735"/>
          </a:xfrm>
          <a:prstGeom prst="rect">
            <a:avLst/>
          </a:prstGeom>
        </p:spPr>
      </p:pic>
      <p:sp>
        <p:nvSpPr>
          <p:cNvPr id="3" name="图形"/>
          <p:cNvSpPr/>
          <p:nvPr/>
        </p:nvSpPr>
        <p:spPr xmlns:m="http://schemas.openxmlformats.org/officeDocument/2006/math" xmlns:a14="http://schemas.microsoft.com/office/drawing/2010/main">
          <a:xfrm flipH="1">
            <a:off x="-1" y="-26704"/>
            <a:ext cx="12192636" cy="6858001"/>
          </a:xfrm>
          <a:prstGeom prst="rect">
            <a:avLst/>
          </a:prstGeom>
          <a:gradFill>
            <a:gsLst>
              <a:gs pos="0">
                <a:srgbClr val="F2F6FE"/>
              </a:gs>
              <a:gs pos="47000">
                <a:srgbClr val="F2F6FE">
                  <a:alpha val="0"/>
                </a:srgbClr>
              </a:gs>
            </a:gsLst>
            <a:lin ang="5400000"/>
          </a:gradFill>
          <a:ln w="12700">
            <a:miter lim="400000"/>
          </a:ln>
        </p:spPr>
        <p:txBody>
          <a:bodyPr lIns="45719" rIns="45719" anchor="ctr"/>
          <a:lstStyle>
            <a:lvl1pPr>
              <a:defRPr/>
            </a:lvl1pPr>
          </a:lstStyle>
          <a:p>
            <a:pPr algn="ctr">
              <a:defRPr>
                <a:solidFill>
                  <a:srgbClr val="FFFFFF"/>
                </a:solidFill>
              </a:defRPr>
            </a:pPr>
          </a:p>
        </p:txBody>
      </p:sp>
      <p:sp>
        <p:nvSpPr>
          <p:cNvPr id="4" name="图形"/>
          <p:cNvSpPr txBox="1"/>
          <p:nvPr/>
        </p:nvSpPr>
        <p:spPr>
          <a:xfrm>
            <a:off x="8037829" y="1853564"/>
            <a:ext cx="3493770" cy="184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15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a:t>深度学习革命</a:t>
            </a:r>
          </a:p>
        </p:txBody>
      </p:sp>
      <p:sp>
        <p:nvSpPr>
          <p:cNvPr id="5" name="图形"/>
          <p:cNvSpPr txBox="1"/>
          <p:nvPr/>
        </p:nvSpPr>
        <p:spPr>
          <a:xfrm>
            <a:off x="5264150" y="2703195"/>
            <a:ext cx="6296025" cy="1361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7200">
                <a:solidFill>
                  <a:srgbClr val="262626"/>
                </a:solidFill>
                <a:latin typeface="思源宋体 CN Heavy"/>
                <a:ea typeface="思源宋体 CN Heavy"/>
                <a:cs typeface="思源宋体 CN Heavy"/>
                <a:sym typeface="思源宋体 CN Heavy"/>
              </a:defRPr>
            </a:lvl1pPr>
          </a:lstStyle>
          <a:p>
            <a:pPr>
              <a:defRPr/>
            </a:pPr>
            <a:r>
              <a:rPr/>
              <a:t>人工智能发展史</a:t>
            </a:r>
          </a:p>
        </p:txBody>
      </p:sp>
      <p:sp>
        <p:nvSpPr>
          <p:cNvPr id="6" name="图形"/>
          <p:cNvSpPr txBox="1"/>
          <p:nvPr/>
        </p:nvSpPr>
        <p:spPr>
          <a:xfrm>
            <a:off x="5317490" y="3714750"/>
            <a:ext cx="6502401" cy="7391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lvl1pPr>
          </a:lstStyle>
          <a:p>
            <a:pPr>
              <a:lnSpc>
                <a:spcPct val="200000"/>
              </a:lnSpc>
              <a:defRPr sz="1400">
                <a:solidFill>
                  <a:srgbClr val="262626"/>
                </a:solidFill>
                <a:latin typeface="思源宋体 SemiBold"/>
                <a:ea typeface="思源宋体 SemiBold"/>
                <a:cs typeface="思源宋体 SemiBold"/>
                <a:sym typeface="思源宋体 SemiBold"/>
              </a:defRPr>
            </a:pPr>
            <a:r>
              <a:rPr/>
              <a:t>2012年，AlexNet凭借ReLU、Dropout与GPU加速技术在ImageNet竞赛中取得历史性突破，宣告深度学习时代正式开启。</a:t>
            </a:r>
          </a:p>
          <a:p>
            <a:pPr>
              <a:lnSpc>
                <a:spcPct val="200000"/>
              </a:lnSpc>
              <a:defRPr sz="1400">
                <a:solidFill>
                  <a:srgbClr val="262626"/>
                </a:solidFill>
                <a:latin typeface="思源宋体 SemiBold"/>
                <a:ea typeface="思源宋体 SemiBold"/>
                <a:cs typeface="思源宋体 SemiBold"/>
                <a:sym typeface="思源宋体 SemiBold"/>
              </a:defRPr>
            </a:pPr>
            <a:r>
              <a:rPr/>
              <a:t>此后GAN、ResNet相继问世，AlphaGo战胜人类顶尖棋手，神经网络确立了在计算机视觉与AI领域的统治地位。</a:t>
            </a:r>
          </a:p>
        </p:txBody>
      </p:sp>
      <p:sp>
        <p:nvSpPr>
          <p:cNvPr id="7" name="图形"/>
          <p:cNvSpPr/>
          <p:nvPr/>
        </p:nvSpPr>
        <p:spPr xmlns:m="http://schemas.openxmlformats.org/officeDocument/2006/math" xmlns:a14="http://schemas.microsoft.com/office/drawing/2010/main">
          <a:xfrm>
            <a:off x="7016115" y="5141595"/>
            <a:ext cx="4533901" cy="1035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3" y="0"/>
                </a:lnTo>
                <a:lnTo>
                  <a:pt x="21600" y="0"/>
                </a:lnTo>
                <a:lnTo>
                  <a:pt x="21477" y="21600"/>
                </a:lnTo>
                <a:close/>
              </a:path>
            </a:pathLst>
          </a:custGeom>
          <a:gradFill>
            <a:gsLst>
              <a:gs pos="0">
                <a:srgbClr val="76BEFC">
                  <a:alpha val="46000"/>
                </a:srgbClr>
              </a:gs>
              <a:gs pos="66000">
                <a:srgbClr val="34ACFD">
                  <a:alpha val="0"/>
                </a:srgbClr>
              </a:gs>
            </a:gsLst>
            <a:lin ang="10800000"/>
          </a:gradFill>
          <a:ln w="12700">
            <a:miter lim="400000"/>
          </a:ln>
        </p:spPr>
        <p:txBody>
          <a:bodyPr lIns="45719" rIns="45719" anchor="ctr"/>
          <a:lstStyle>
            <a:lvl1pPr>
              <a:defRPr/>
            </a:lvl1pPr>
          </a:lstStyle>
          <a:p>
            <a:pPr algn="ctr">
              <a:defRPr>
                <a:solidFill>
                  <a:srgbClr val="FFFFFF"/>
                </a:solidFill>
              </a:defRPr>
            </a:pPr>
          </a:p>
        </p:txBody>
      </p:sp>
      <p:sp>
        <p:nvSpPr>
          <p:cNvPr id="8" name="图形"/>
          <p:cNvSpPr txBox="1"/>
          <p:nvPr/>
        </p:nvSpPr>
        <p:spPr>
          <a:xfrm>
            <a:off x="3891915" y="151129"/>
            <a:ext cx="4828540" cy="37363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39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a:t>5</a:t>
            </a:r>
          </a:p>
        </p:txBody>
      </p:sp>
      <p:sp>
        <p:nvSpPr>
          <p:cNvPr id="9" name="图形"/>
          <p:cNvSpPr/>
          <p:nvPr/>
        </p:nvSpPr>
        <p:spPr xmlns:m="http://schemas.openxmlformats.org/officeDocument/2006/math" xmlns:a14="http://schemas.microsoft.com/office/drawing/2010/main">
          <a:xfrm>
            <a:off x="4286249" y="1922143"/>
            <a:ext cx="2729866" cy="74168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chemeClr val="accent1">
                <a:alpha val="40000"/>
              </a:schemeClr>
            </a:outerShdw>
          </a:effectLst>
        </p:spPr>
        <p:txBody>
          <a:bodyPr wrap="square" lIns="45719" tIns="45719" rIns="45719" bIns="45719" numCol="1" anchor="ctr">
            <a:noAutofit/>
          </a:bodyPr>
          <a:lstStyle>
            <a:lvl1pPr>
              <a:defRPr/>
            </a:lvl1pPr>
          </a:lstStyle>
          <a:p>
            <a:pPr algn="ctr">
              <a:defRPr b="1">
                <a:solidFill>
                  <a:srgbClr val="FFFFFF"/>
                </a:solidFill>
                <a:latin typeface="思源宋体 CN Heavy"/>
                <a:ea typeface="思源宋体 CN Heavy"/>
                <a:cs typeface="思源宋体 CN Heavy"/>
                <a:sym typeface="思源宋体 CN Heavy"/>
              </a:defRPr>
            </a:pPr>
          </a:p>
        </p:txBody>
      </p:sp>
      <p:sp>
        <p:nvSpPr>
          <p:cNvPr id="10" name="图形"/>
          <p:cNvSpPr txBox="1"/>
          <p:nvPr/>
        </p:nvSpPr>
        <p:spPr>
          <a:xfrm>
            <a:off x="4641214" y="2060574"/>
            <a:ext cx="1991996"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800">
                <a:solidFill>
                  <a:srgbClr val="FFFFFF"/>
                </a:solidFill>
                <a:latin typeface="阿里巴巴普惠体 Heavy"/>
                <a:ea typeface="阿里巴巴普惠体 Heavy"/>
                <a:cs typeface="阿里巴巴普惠体 Heavy"/>
                <a:sym typeface="阿里巴巴普惠体 Heavy"/>
              </a:defRPr>
            </a:lvl1pPr>
          </a:lstStyle>
          <a:p>
            <a:pPr>
              <a:defRPr/>
            </a:pPr>
            <a:r>
              <a:rPr/>
              <a:t>深度学习时代的开启 · 2012革命之年 · 深度学习黄金时代成就</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形" descr="deep_learning_layers.jpg"/>
          <p:cNvPicPr>
            <a:picLocks noChangeAspect="1"/>
          </p:cNvPicPr>
          <p:nvPr/>
        </p:nvPicPr>
        <p:blipFill>
          <a:blip r:embed="rId2"/>
          <a:srcRect/>
          <a:stretch>
            <a:fillRect/>
          </a:stretch>
        </p:blipFill>
        <p:spPr>
          <a:xfrm>
            <a:off x="952500" y="1625600"/>
            <a:ext cx="4478030" cy="3657600"/>
          </a:xfrm>
          <a:prstGeom prst="rect">
            <a:avLst/>
          </a:prstGeom>
        </p:spPr>
      </p:pic>
      <p:sp>
        <p:nvSpPr>
          <p:cNvPr id="3" name="图形"/>
          <p:cNvSpPr/>
          <p:nvPr/>
        </p:nvSpPr>
        <p:spPr xmlns:m="http://schemas.openxmlformats.org/officeDocument/2006/math" xmlns:a14="http://schemas.microsoft.com/office/drawing/2010/main">
          <a:xfrm>
            <a:off x="1386204" y="3837305"/>
            <a:ext cx="675006" cy="1456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775" y="21600"/>
                </a:moveTo>
                <a:lnTo>
                  <a:pt x="4825" y="21600"/>
                </a:lnTo>
                <a:lnTo>
                  <a:pt x="4825" y="5067"/>
                </a:lnTo>
                <a:lnTo>
                  <a:pt x="0" y="5067"/>
                </a:lnTo>
                <a:lnTo>
                  <a:pt x="10667" y="0"/>
                </a:lnTo>
                <a:lnTo>
                  <a:pt x="21600" y="5067"/>
                </a:lnTo>
                <a:lnTo>
                  <a:pt x="16775" y="5067"/>
                </a:lnTo>
                <a:lnTo>
                  <a:pt x="16775" y="21600"/>
                </a:lnTo>
                <a:close/>
              </a:path>
            </a:pathLst>
          </a:custGeom>
          <a:solidFill>
            <a:srgbClr val="F2F2F2"/>
          </a:solidFill>
          <a:ln w="12700" cap="flat">
            <a:noFill/>
            <a:miter lim="400000"/>
          </a:ln>
          <a:effectLst/>
        </p:spPr>
        <p:txBody>
          <a:bodyPr wrap="square" lIns="45719" tIns="45719" rIns="45719" bIns="45719" numCol="1" anchor="t">
            <a:noAutofit/>
          </a:bodyPr>
          <a:lstStyle>
            <a:lvl1pPr>
              <a:defRPr/>
            </a:lvl1pPr>
          </a:lstStyle>
          <a:p>
            <a:pPr algn="just">
              <a:lnSpc>
                <a:spcPct val="120000"/>
              </a:lnSpc>
              <a:defRPr sz="800"/>
            </a:pPr>
          </a:p>
        </p:txBody>
      </p:sp>
      <p:sp>
        <p:nvSpPr>
          <p:cNvPr id="4" name="图形"/>
          <p:cNvSpPr/>
          <p:nvPr/>
        </p:nvSpPr>
        <p:spPr xmlns:m="http://schemas.openxmlformats.org/officeDocument/2006/math" xmlns:a14="http://schemas.microsoft.com/office/drawing/2010/main">
          <a:xfrm>
            <a:off x="2771139" y="2990849"/>
            <a:ext cx="675006" cy="12496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090" y="0"/>
                </a:moveTo>
                <a:lnTo>
                  <a:pt x="16775" y="0"/>
                </a:lnTo>
                <a:lnTo>
                  <a:pt x="16775" y="15835"/>
                </a:lnTo>
                <a:lnTo>
                  <a:pt x="21600" y="15835"/>
                </a:lnTo>
                <a:lnTo>
                  <a:pt x="10933" y="21600"/>
                </a:lnTo>
                <a:lnTo>
                  <a:pt x="0" y="15835"/>
                </a:lnTo>
                <a:lnTo>
                  <a:pt x="5090" y="15835"/>
                </a:lnTo>
                <a:lnTo>
                  <a:pt x="5090" y="0"/>
                </a:lnTo>
                <a:close/>
              </a:path>
            </a:pathLst>
          </a:custGeom>
          <a:solidFill>
            <a:srgbClr val="F2F2F2"/>
          </a:solidFill>
          <a:ln w="12700" cap="flat">
            <a:noFill/>
            <a:miter lim="400000"/>
          </a:ln>
          <a:effectLst/>
        </p:spPr>
        <p:txBody>
          <a:bodyPr wrap="square" lIns="45719" tIns="45719" rIns="45719" bIns="45719" numCol="1" anchor="t">
            <a:noAutofit/>
          </a:bodyPr>
          <a:lstStyle>
            <a:lvl1pPr>
              <a:defRPr/>
            </a:lvl1pPr>
          </a:lstStyle>
          <a:p>
            <a:pPr algn="just">
              <a:lnSpc>
                <a:spcPct val="120000"/>
              </a:lnSpc>
              <a:defRPr sz="800"/>
            </a:pPr>
          </a:p>
        </p:txBody>
      </p:sp>
      <p:sp>
        <p:nvSpPr>
          <p:cNvPr id="5" name="图形"/>
          <p:cNvSpPr/>
          <p:nvPr/>
        </p:nvSpPr>
        <p:spPr xmlns:m="http://schemas.openxmlformats.org/officeDocument/2006/math" xmlns:a14="http://schemas.microsoft.com/office/drawing/2010/main">
          <a:xfrm>
            <a:off x="4153534" y="3837305"/>
            <a:ext cx="673736" cy="1456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544" y="21600"/>
                </a:moveTo>
                <a:lnTo>
                  <a:pt x="4834" y="21600"/>
                </a:lnTo>
                <a:lnTo>
                  <a:pt x="4834" y="5067"/>
                </a:lnTo>
                <a:lnTo>
                  <a:pt x="0" y="5067"/>
                </a:lnTo>
                <a:lnTo>
                  <a:pt x="10689" y="0"/>
                </a:lnTo>
                <a:lnTo>
                  <a:pt x="21600" y="5067"/>
                </a:lnTo>
                <a:lnTo>
                  <a:pt x="16544" y="5067"/>
                </a:lnTo>
                <a:lnTo>
                  <a:pt x="16544" y="21600"/>
                </a:lnTo>
                <a:close/>
              </a:path>
            </a:pathLst>
          </a:custGeom>
          <a:solidFill>
            <a:srgbClr val="F2F2F2"/>
          </a:solidFill>
          <a:ln w="12700" cap="flat">
            <a:noFill/>
            <a:miter lim="400000"/>
          </a:ln>
          <a:effectLst/>
        </p:spPr>
        <p:txBody>
          <a:bodyPr wrap="square" lIns="45719" tIns="45719" rIns="45719" bIns="45719" numCol="1" anchor="t">
            <a:noAutofit/>
          </a:bodyPr>
          <a:lstStyle>
            <a:lvl1pPr>
              <a:defRPr/>
            </a:lvl1pPr>
          </a:lstStyle>
          <a:p>
            <a:pPr algn="just">
              <a:lnSpc>
                <a:spcPct val="120000"/>
              </a:lnSpc>
              <a:defRPr sz="800"/>
            </a:pPr>
          </a:p>
        </p:txBody>
      </p:sp>
      <p:sp>
        <p:nvSpPr>
          <p:cNvPr id="6" name="图形"/>
          <p:cNvSpPr/>
          <p:nvPr/>
        </p:nvSpPr>
        <p:spPr xmlns:m="http://schemas.openxmlformats.org/officeDocument/2006/math" xmlns:a14="http://schemas.microsoft.com/office/drawing/2010/main">
          <a:xfrm>
            <a:off x="5538469" y="2527935"/>
            <a:ext cx="675006" cy="16630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090" y="0"/>
                </a:moveTo>
                <a:lnTo>
                  <a:pt x="16775" y="0"/>
                </a:lnTo>
                <a:lnTo>
                  <a:pt x="16775" y="17161"/>
                </a:lnTo>
                <a:lnTo>
                  <a:pt x="21600" y="17161"/>
                </a:lnTo>
                <a:lnTo>
                  <a:pt x="10933" y="21600"/>
                </a:lnTo>
                <a:lnTo>
                  <a:pt x="0" y="17161"/>
                </a:lnTo>
                <a:lnTo>
                  <a:pt x="5090" y="17161"/>
                </a:lnTo>
                <a:lnTo>
                  <a:pt x="5090" y="0"/>
                </a:lnTo>
                <a:close/>
              </a:path>
            </a:pathLst>
          </a:custGeom>
          <a:solidFill>
            <a:srgbClr val="F2F2F2"/>
          </a:solidFill>
          <a:ln w="12700" cap="flat">
            <a:noFill/>
            <a:miter lim="400000"/>
          </a:ln>
          <a:effectLst/>
        </p:spPr>
        <p:txBody>
          <a:bodyPr wrap="square" lIns="45719" tIns="45719" rIns="45719" bIns="45719" numCol="1" anchor="t">
            <a:noAutofit/>
          </a:bodyPr>
          <a:lstStyle>
            <a:lvl1pPr>
              <a:defRPr/>
            </a:lvl1pPr>
          </a:lstStyle>
          <a:p>
            <a:pPr algn="just">
              <a:lnSpc>
                <a:spcPct val="120000"/>
              </a:lnSpc>
              <a:defRPr sz="800"/>
            </a:pPr>
          </a:p>
        </p:txBody>
      </p:sp>
      <p:sp>
        <p:nvSpPr>
          <p:cNvPr id="7" name="图形"/>
          <p:cNvSpPr txBox="1"/>
          <p:nvPr/>
        </p:nvSpPr>
        <p:spPr>
          <a:xfrm>
            <a:off x="5485129" y="5354320"/>
            <a:ext cx="78168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nSpc>
                <a:spcPct val="120000"/>
              </a:lnSpc>
              <a:defRPr sz="1100">
                <a:solidFill>
                  <a:srgbClr val="A6A6A6"/>
                </a:solidFill>
              </a:defRPr>
            </a:lvl1pPr>
          </a:lstStyle>
          <a:p>
            <a:pPr>
              <a:defRPr/>
            </a:pPr>
            <a:r>
              <a:rPr/>
              <a:t>2015：ResNet成功训练152层网络</a:t>
            </a:r>
          </a:p>
        </p:txBody>
      </p:sp>
      <p:sp>
        <p:nvSpPr>
          <p:cNvPr id="8" name="图形"/>
          <p:cNvSpPr txBox="1"/>
          <p:nvPr/>
        </p:nvSpPr>
        <p:spPr>
          <a:xfrm>
            <a:off x="4098924" y="5354320"/>
            <a:ext cx="78168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nSpc>
                <a:spcPct val="120000"/>
              </a:lnSpc>
              <a:defRPr sz="1100">
                <a:solidFill>
                  <a:srgbClr val="A6A6A6"/>
                </a:solidFill>
              </a:defRPr>
            </a:lvl1pPr>
          </a:lstStyle>
          <a:p>
            <a:pPr>
              <a:defRPr/>
            </a:pPr>
            <a:r>
              <a:rPr/>
              <a:t>2014：Ian Goodfellow提出GAN</a:t>
            </a:r>
          </a:p>
        </p:txBody>
      </p:sp>
      <p:sp>
        <p:nvSpPr>
          <p:cNvPr id="9" name="图形"/>
          <p:cNvSpPr txBox="1"/>
          <p:nvPr/>
        </p:nvSpPr>
        <p:spPr>
          <a:xfrm>
            <a:off x="2717799" y="5354320"/>
            <a:ext cx="78168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nSpc>
                <a:spcPct val="120000"/>
              </a:lnSpc>
              <a:defRPr sz="1100">
                <a:solidFill>
                  <a:srgbClr val="A6A6A6"/>
                </a:solidFill>
              </a:defRPr>
            </a:lvl1pPr>
          </a:lstStyle>
          <a:p>
            <a:pPr>
              <a:defRPr/>
            </a:pPr>
            <a:r>
              <a:rPr/>
              <a:t>2016：AlphaGo战胜围棋冠军李世石</a:t>
            </a:r>
          </a:p>
        </p:txBody>
      </p:sp>
      <p:sp>
        <p:nvSpPr>
          <p:cNvPr id="10" name="图形"/>
          <p:cNvSpPr txBox="1"/>
          <p:nvPr/>
        </p:nvSpPr>
        <p:spPr>
          <a:xfrm>
            <a:off x="1332864" y="5354320"/>
            <a:ext cx="78168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nSpc>
                <a:spcPct val="120000"/>
              </a:lnSpc>
              <a:defRPr sz="1100">
                <a:solidFill>
                  <a:srgbClr val="A6A6A6"/>
                </a:solidFill>
              </a:defRPr>
            </a:lvl1pPr>
          </a:lstStyle>
          <a:p>
            <a:pPr>
              <a:defRPr/>
            </a:pPr>
            <a:r>
              <a:rPr/>
              <a:t>2012：AlexNet赢得ImageNet冠军</a:t>
            </a:r>
          </a:p>
        </p:txBody>
      </p:sp>
      <p:sp>
        <p:nvSpPr>
          <p:cNvPr id="11" name="图形"/>
          <p:cNvSpPr/>
          <p:nvPr/>
        </p:nvSpPr>
        <p:spPr xmlns:m="http://schemas.openxmlformats.org/officeDocument/2006/math" xmlns:a14="http://schemas.microsoft.com/office/drawing/2010/main">
          <a:xfrm>
            <a:off x="6995159" y="4541519"/>
            <a:ext cx="447675" cy="447677"/>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2" name="图形"/>
          <p:cNvSpPr txBox="1"/>
          <p:nvPr/>
        </p:nvSpPr>
        <p:spPr>
          <a:xfrm>
            <a:off x="7539989" y="2068829"/>
            <a:ext cx="3848735"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latin typeface="思源黑体旧字形 Light"/>
                <a:ea typeface="思源黑体旧字形 Light"/>
                <a:cs typeface="思源黑体旧字形 Light"/>
                <a:sym typeface="思源黑体旧字形 Light"/>
              </a:defRPr>
            </a:lvl1pPr>
          </a:lstStyle>
          <a:p>
            <a:pPr>
              <a:defRPr/>
            </a:pPr>
            <a:r>
              <a:rPr/>
              <a:t>AlexNet将错误率从26%降至15.3%</a:t>
            </a:r>
          </a:p>
        </p:txBody>
      </p:sp>
      <p:sp>
        <p:nvSpPr>
          <p:cNvPr id="13" name="图形"/>
          <p:cNvSpPr txBox="1"/>
          <p:nvPr/>
        </p:nvSpPr>
        <p:spPr>
          <a:xfrm>
            <a:off x="7539989" y="3241039"/>
            <a:ext cx="3848735"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latin typeface="思源黑体旧字形 Light"/>
                <a:ea typeface="思源黑体旧字形 Light"/>
                <a:cs typeface="思源黑体旧字形 Light"/>
                <a:sym typeface="思源黑体旧字形 Light"/>
              </a:defRPr>
            </a:lvl1pPr>
          </a:lstStyle>
          <a:p>
            <a:pPr>
              <a:defRPr/>
            </a:pPr>
            <a:r>
              <a:rPr/>
              <a:t>GAN开创图像生成与艺术创作新方向</a:t>
            </a:r>
          </a:p>
        </p:txBody>
      </p:sp>
      <p:sp>
        <p:nvSpPr>
          <p:cNvPr id="14" name="图形"/>
          <p:cNvSpPr txBox="1"/>
          <p:nvPr/>
        </p:nvSpPr>
        <p:spPr>
          <a:xfrm>
            <a:off x="7539989" y="4413250"/>
            <a:ext cx="3848735"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latin typeface="思源黑体旧字形 Light"/>
                <a:ea typeface="思源黑体旧字形 Light"/>
                <a:cs typeface="思源黑体旧字形 Light"/>
                <a:sym typeface="思源黑体旧字形 Light"/>
              </a:defRPr>
            </a:lvl1pPr>
          </a:lstStyle>
          <a:p>
            <a:pPr>
              <a:defRPr/>
            </a:pPr>
            <a:r>
              <a:rPr/>
              <a:t>AI首次在完全信息博弈中超越人类</a:t>
            </a:r>
          </a:p>
        </p:txBody>
      </p:sp>
      <p:sp>
        <p:nvSpPr>
          <p:cNvPr id="15" name="图形"/>
          <p:cNvSpPr/>
          <p:nvPr/>
        </p:nvSpPr>
        <p:spPr xmlns:m="http://schemas.openxmlformats.org/officeDocument/2006/math" xmlns:a14="http://schemas.microsoft.com/office/drawing/2010/main">
          <a:xfrm>
            <a:off x="6995794" y="2189479"/>
            <a:ext cx="447675" cy="447677"/>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6" name="图形"/>
          <p:cNvSpPr/>
          <p:nvPr/>
        </p:nvSpPr>
        <p:spPr xmlns:m="http://schemas.openxmlformats.org/officeDocument/2006/math" xmlns:a14="http://schemas.microsoft.com/office/drawing/2010/main">
          <a:xfrm>
            <a:off x="6995794" y="3386455"/>
            <a:ext cx="447675" cy="447677"/>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7" name="图形"/>
          <p:cNvSpPr/>
          <p:nvPr/>
        </p:nvSpPr>
        <p:spPr xmlns:m="http://schemas.openxmlformats.org/officeDocument/2006/math" xmlns:a14="http://schemas.microsoft.com/office/drawing/2010/main">
          <a:xfrm>
            <a:off x="7097394" y="4640580"/>
            <a:ext cx="242571" cy="242571"/>
          </a:xfrm>
          <a:prstGeom prst="ellipse">
            <a:avLst/>
          </a:prstGeom>
          <a:solidFill>
            <a:srgbClr val="FFFFFF"/>
          </a:soli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8" name="图形"/>
          <p:cNvSpPr/>
          <p:nvPr/>
        </p:nvSpPr>
        <p:spPr xmlns:m="http://schemas.openxmlformats.org/officeDocument/2006/math" xmlns:a14="http://schemas.microsoft.com/office/drawing/2010/main">
          <a:xfrm>
            <a:off x="7098664" y="2273299"/>
            <a:ext cx="242571" cy="242571"/>
          </a:xfrm>
          <a:prstGeom prst="ellipse">
            <a:avLst/>
          </a:prstGeom>
          <a:solidFill>
            <a:srgbClr val="FFFFFF"/>
          </a:soli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9" name="图形"/>
          <p:cNvSpPr/>
          <p:nvPr/>
        </p:nvSpPr>
        <p:spPr xmlns:m="http://schemas.openxmlformats.org/officeDocument/2006/math" xmlns:a14="http://schemas.microsoft.com/office/drawing/2010/main">
          <a:xfrm>
            <a:off x="7098664" y="3462019"/>
            <a:ext cx="242571" cy="242571"/>
          </a:xfrm>
          <a:prstGeom prst="ellipse">
            <a:avLst/>
          </a:prstGeom>
          <a:solidFill>
            <a:srgbClr val="FFFFFF"/>
          </a:soli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形" descr="078a9cc3774e889b39144edb12e9acd2cf5a0859.png"/>
          <p:cNvPicPr>
            <a:picLocks noChangeAspect="1"/>
          </p:cNvPicPr>
          <p:nvPr/>
        </p:nvPicPr>
        <p:blipFill>
          <a:blip r:embed="rId2"/>
          <a:srcRect/>
          <a:stretch>
            <a:fillRect/>
          </a:stretch>
        </p:blipFill>
        <p:spPr>
          <a:xfrm flipH="1">
            <a:off x="0" y="-38735"/>
            <a:ext cx="12192000" cy="6896735"/>
          </a:xfrm>
          <a:prstGeom prst="rect">
            <a:avLst/>
          </a:prstGeom>
        </p:spPr>
      </p:pic>
      <p:sp>
        <p:nvSpPr>
          <p:cNvPr id="3" name="图形"/>
          <p:cNvSpPr/>
          <p:nvPr/>
        </p:nvSpPr>
        <p:spPr xmlns:m="http://schemas.openxmlformats.org/officeDocument/2006/math" xmlns:a14="http://schemas.microsoft.com/office/drawing/2010/main">
          <a:xfrm flipH="1">
            <a:off x="-1" y="-26704"/>
            <a:ext cx="12192636" cy="6858001"/>
          </a:xfrm>
          <a:prstGeom prst="rect">
            <a:avLst/>
          </a:prstGeom>
          <a:gradFill>
            <a:gsLst>
              <a:gs pos="0">
                <a:srgbClr val="F2F6FE"/>
              </a:gs>
              <a:gs pos="47000">
                <a:srgbClr val="F2F6FE">
                  <a:alpha val="0"/>
                </a:srgbClr>
              </a:gs>
            </a:gsLst>
            <a:lin ang="5400000"/>
          </a:gradFill>
          <a:ln w="12700">
            <a:miter lim="400000"/>
          </a:ln>
        </p:spPr>
        <p:txBody>
          <a:bodyPr lIns="45719" rIns="45719" anchor="ctr"/>
          <a:lstStyle>
            <a:lvl1pPr>
              <a:defRPr/>
            </a:lvl1pPr>
          </a:lstStyle>
          <a:p>
            <a:pPr algn="ctr">
              <a:defRPr>
                <a:solidFill>
                  <a:srgbClr val="FFFFFF"/>
                </a:solidFill>
              </a:defRPr>
            </a:pPr>
          </a:p>
        </p:txBody>
      </p:sp>
      <p:sp>
        <p:nvSpPr>
          <p:cNvPr id="4" name="图形"/>
          <p:cNvSpPr txBox="1"/>
          <p:nvPr/>
        </p:nvSpPr>
        <p:spPr>
          <a:xfrm>
            <a:off x="8037829" y="1853564"/>
            <a:ext cx="3493770" cy="184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15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a:t>LLM Era</a:t>
            </a:r>
          </a:p>
        </p:txBody>
      </p:sp>
      <p:sp>
        <p:nvSpPr>
          <p:cNvPr id="5" name="图形"/>
          <p:cNvSpPr txBox="1"/>
          <p:nvPr/>
        </p:nvSpPr>
        <p:spPr>
          <a:xfrm>
            <a:off x="5264150" y="2703195"/>
            <a:ext cx="6296025" cy="1361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7200">
                <a:solidFill>
                  <a:srgbClr val="262626"/>
                </a:solidFill>
                <a:latin typeface="思源宋体 CN Heavy"/>
                <a:ea typeface="思源宋体 CN Heavy"/>
                <a:cs typeface="思源宋体 CN Heavy"/>
                <a:sym typeface="思源宋体 CN Heavy"/>
              </a:defRPr>
            </a:lvl1pPr>
          </a:lstStyle>
          <a:p>
            <a:pPr>
              <a:defRPr/>
            </a:pPr>
            <a:r>
              <a:rPr/>
              <a:t>通用智能的黎明</a:t>
            </a:r>
          </a:p>
        </p:txBody>
      </p:sp>
      <p:sp>
        <p:nvSpPr>
          <p:cNvPr id="6" name="图形"/>
          <p:cNvSpPr txBox="1"/>
          <p:nvPr/>
        </p:nvSpPr>
        <p:spPr>
          <a:xfrm>
            <a:off x="5317490" y="3714750"/>
            <a:ext cx="6502401" cy="7391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lvl1pPr>
          </a:lstStyle>
          <a:p>
            <a:pPr>
              <a:lnSpc>
                <a:spcPct val="200000"/>
              </a:lnSpc>
              <a:defRPr sz="1400">
                <a:solidFill>
                  <a:srgbClr val="262626"/>
                </a:solidFill>
                <a:latin typeface="思源宋体 SemiBold"/>
                <a:ea typeface="思源宋体 SemiBold"/>
                <a:cs typeface="思源宋体 SemiBold"/>
                <a:sym typeface="思源宋体 SemiBold"/>
              </a:defRPr>
            </a:pPr>
            <a:r>
              <a:rPr/>
              <a:t>从2017年Transformer架构的诞生，到BERT、GPT-4等模型的规模指数级扩张，大语言模型重塑了NLP领域的研究范式。</a:t>
            </a:r>
          </a:p>
          <a:p>
            <a:pPr>
              <a:lnSpc>
                <a:spcPct val="200000"/>
              </a:lnSpc>
              <a:defRPr sz="1400">
                <a:solidFill>
                  <a:srgbClr val="262626"/>
                </a:solidFill>
                <a:latin typeface="思源宋体 SemiBold"/>
                <a:ea typeface="思源宋体 SemiBold"/>
                <a:cs typeface="思源宋体 SemiBold"/>
                <a:sym typeface="思源宋体 SemiBold"/>
              </a:defRPr>
            </a:pPr>
            <a:r>
              <a:rPr/>
              <a:t>涌现能力、思维链推理与上下文学习相继出现，AI已从未来承诺转变为现实，通用人工智能的黎明正在来临。</a:t>
            </a:r>
          </a:p>
        </p:txBody>
      </p:sp>
      <p:sp>
        <p:nvSpPr>
          <p:cNvPr id="7" name="图形"/>
          <p:cNvSpPr/>
          <p:nvPr/>
        </p:nvSpPr>
        <p:spPr xmlns:m="http://schemas.openxmlformats.org/officeDocument/2006/math" xmlns:a14="http://schemas.microsoft.com/office/drawing/2010/main">
          <a:xfrm>
            <a:off x="7016115" y="5141595"/>
            <a:ext cx="4533901" cy="1035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3" y="0"/>
                </a:lnTo>
                <a:lnTo>
                  <a:pt x="21600" y="0"/>
                </a:lnTo>
                <a:lnTo>
                  <a:pt x="21477" y="21600"/>
                </a:lnTo>
                <a:close/>
              </a:path>
            </a:pathLst>
          </a:custGeom>
          <a:gradFill>
            <a:gsLst>
              <a:gs pos="0">
                <a:srgbClr val="76BEFC">
                  <a:alpha val="46000"/>
                </a:srgbClr>
              </a:gs>
              <a:gs pos="66000">
                <a:srgbClr val="34ACFD">
                  <a:alpha val="0"/>
                </a:srgbClr>
              </a:gs>
            </a:gsLst>
            <a:lin ang="10800000"/>
          </a:gradFill>
          <a:ln w="12700">
            <a:miter lim="400000"/>
          </a:ln>
        </p:spPr>
        <p:txBody>
          <a:bodyPr lIns="45719" rIns="45719" anchor="ctr"/>
          <a:lstStyle>
            <a:lvl1pPr>
              <a:defRPr/>
            </a:lvl1pPr>
          </a:lstStyle>
          <a:p>
            <a:pPr algn="ctr">
              <a:defRPr>
                <a:solidFill>
                  <a:srgbClr val="FFFFFF"/>
                </a:solidFill>
              </a:defRPr>
            </a:pPr>
          </a:p>
        </p:txBody>
      </p:sp>
      <p:sp>
        <p:nvSpPr>
          <p:cNvPr id="8" name="图形"/>
          <p:cNvSpPr txBox="1"/>
          <p:nvPr/>
        </p:nvSpPr>
        <p:spPr>
          <a:xfrm>
            <a:off x="3891915" y="151129"/>
            <a:ext cx="4828540" cy="37363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39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a:t>6</a:t>
            </a:r>
          </a:p>
        </p:txBody>
      </p:sp>
      <p:sp>
        <p:nvSpPr>
          <p:cNvPr id="9" name="图形"/>
          <p:cNvSpPr/>
          <p:nvPr/>
        </p:nvSpPr>
        <p:spPr xmlns:m="http://schemas.openxmlformats.org/officeDocument/2006/math" xmlns:a14="http://schemas.microsoft.com/office/drawing/2010/main">
          <a:xfrm>
            <a:off x="4286249" y="1922143"/>
            <a:ext cx="2729866" cy="74168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chemeClr val="accent1">
                <a:alpha val="40000"/>
              </a:schemeClr>
            </a:outerShdw>
          </a:effectLst>
        </p:spPr>
        <p:txBody>
          <a:bodyPr wrap="square" lIns="45719" tIns="45719" rIns="45719" bIns="45719" numCol="1" anchor="ctr">
            <a:noAutofit/>
          </a:bodyPr>
          <a:lstStyle>
            <a:lvl1pPr>
              <a:defRPr/>
            </a:lvl1pPr>
          </a:lstStyle>
          <a:p>
            <a:pPr algn="ctr">
              <a:defRPr b="1">
                <a:solidFill>
                  <a:srgbClr val="FFFFFF"/>
                </a:solidFill>
                <a:latin typeface="思源宋体 CN Heavy"/>
                <a:ea typeface="思源宋体 CN Heavy"/>
                <a:cs typeface="思源宋体 CN Heavy"/>
                <a:sym typeface="思源宋体 CN Heavy"/>
              </a:defRPr>
            </a:pPr>
          </a:p>
        </p:txBody>
      </p:sp>
      <p:sp>
        <p:nvSpPr>
          <p:cNvPr id="10" name="图形"/>
          <p:cNvSpPr txBox="1"/>
          <p:nvPr/>
        </p:nvSpPr>
        <p:spPr>
          <a:xfrm>
            <a:off x="4641214" y="2060574"/>
            <a:ext cx="1991996"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800">
                <a:solidFill>
                  <a:srgbClr val="FFFFFF"/>
                </a:solidFill>
                <a:latin typeface="阿里巴巴普惠体 Heavy"/>
                <a:ea typeface="阿里巴巴普惠体 Heavy"/>
                <a:cs typeface="阿里巴巴普惠体 Heavy"/>
                <a:sym typeface="阿里巴巴普惠体 Heavy"/>
              </a:defRPr>
            </a:lvl1pPr>
          </a:lstStyle>
          <a:p>
            <a:pPr>
              <a:defRPr/>
            </a:pPr>
            <a:r>
              <a:rPr/>
              <a:t>Transformer · 大模型规模扩张 · 涌现能力 · 未来展望</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图形"/>
          <p:cNvSpPr txBox="1"/>
          <p:nvPr/>
        </p:nvSpPr>
        <p:spPr>
          <a:xfrm>
            <a:off x="775335" y="1616074"/>
            <a:ext cx="5361304" cy="147828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lvl1pPr>
          </a:lstStyle>
          <a:p>
            <a:pPr>
              <a:lnSpc>
                <a:spcPct val="90000"/>
              </a:lnSpc>
              <a:spcBef>
                <a:spcPts val="1000"/>
              </a:spcBef>
              <a:defRPr b="1" sz="4000">
                <a:solidFill>
                  <a:srgbClr val="262626"/>
                </a:solidFill>
                <a:latin typeface="思源宋体 CN Heavy"/>
                <a:ea typeface="思源宋体 CN Heavy"/>
                <a:cs typeface="思源宋体 CN Heavy"/>
                <a:sym typeface="思源宋体 CN Heavy"/>
              </a:defRPr>
            </a:pPr>
            <a:r>
              <a:rPr/>
              <a:t>AI发展史</a:t>
            </a:r>
            <a:endParaRPr sz="2400"/>
          </a:p>
          <a:p>
            <a:pPr>
              <a:lnSpc>
                <a:spcPct val="90000"/>
              </a:lnSpc>
              <a:spcBef>
                <a:spcPts val="1000"/>
              </a:spcBef>
              <a:defRPr sz="4000">
                <a:solidFill>
                  <a:schemeClr val="accent1"/>
                </a:solidFill>
                <a:latin typeface="思源宋体 CN Heavy"/>
                <a:ea typeface="思源宋体 CN Heavy"/>
                <a:cs typeface="思源宋体 CN Heavy"/>
                <a:sym typeface="思源宋体 CN Heavy"/>
              </a:defRPr>
            </a:pPr>
            <a:r>
              <a:rPr/>
              <a:t>Transformer革命与大语言模型时代</a:t>
            </a:r>
          </a:p>
        </p:txBody>
      </p:sp>
      <p:sp>
        <p:nvSpPr>
          <p:cNvPr id="3" name="图形"/>
          <p:cNvSpPr txBox="1"/>
          <p:nvPr/>
        </p:nvSpPr>
        <p:spPr>
          <a:xfrm>
            <a:off x="775335" y="3041014"/>
            <a:ext cx="5361939" cy="1107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defRPr/>
            </a:pPr>
            <a:r>
              <a:rPr/>
              <a:t>2017年，"Attention is All You Need" 以自注意力机制取代RNN/LSTM，开启现代NLP新纪元。</a:t>
            </a:r>
          </a:p>
        </p:txBody>
      </p:sp>
      <p:pic>
        <p:nvPicPr>
          <p:cNvPr id="4" name="图形" descr="transformer_architecture.png"/>
          <p:cNvPicPr>
            <a:picLocks noChangeAspect="1"/>
          </p:cNvPicPr>
          <p:nvPr/>
        </p:nvPicPr>
        <p:blipFill>
          <a:blip r:embed="rId2"/>
          <a:srcRect/>
          <a:stretch>
            <a:fillRect/>
          </a:stretch>
        </p:blipFill>
        <p:spPr>
          <a:xfrm>
            <a:off x="6182994" y="1805725"/>
            <a:ext cx="5156199" cy="3703749"/>
          </a:xfrm>
          <a:prstGeom prst="rect">
            <a:avLst/>
          </a:prstGeom>
        </p:spPr>
      </p:pic>
      <p:sp>
        <p:nvSpPr>
          <p:cNvPr id="5" name="图形"/>
          <p:cNvSpPr txBox="1"/>
          <p:nvPr/>
        </p:nvSpPr>
        <p:spPr>
          <a:xfrm>
            <a:off x="848359" y="4662169"/>
            <a:ext cx="2112646"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模型参数从BERT的0.34B到GPT-4多模态能力，呈指数级增长。</a:t>
            </a:r>
          </a:p>
        </p:txBody>
      </p:sp>
      <p:sp>
        <p:nvSpPr>
          <p:cNvPr id="6" name="矩形"/>
          <p:cNvSpPr/>
          <p:nvPr/>
        </p:nvSpPr>
        <p:spPr xmlns:m="http://schemas.openxmlformats.org/officeDocument/2006/math" xmlns:a14="http://schemas.microsoft.com/office/drawing/2010/main">
          <a:xfrm>
            <a:off x="900429" y="4328159"/>
            <a:ext cx="1520826" cy="307341"/>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sz="1400">
                <a:solidFill>
                  <a:srgbClr val="FFFFFF"/>
                </a:solidFill>
                <a:latin typeface="思源黑体旧字形 Light"/>
                <a:ea typeface="思源黑体旧字形 Light"/>
                <a:cs typeface="思源黑体旧字形 Light"/>
                <a:sym typeface="思源黑体旧字形 Light"/>
              </a:defRPr>
            </a:pPr>
          </a:p>
        </p:txBody>
      </p:sp>
      <p:sp>
        <p:nvSpPr>
          <p:cNvPr id="7" name="预设标题文本"/>
          <p:cNvSpPr txBox="1"/>
          <p:nvPr/>
        </p:nvSpPr>
        <p:spPr>
          <a:xfrm>
            <a:off x="900429" y="4354829"/>
            <a:ext cx="1520826" cy="2540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FFFFFF"/>
                </a:solidFill>
                <a:latin typeface="思源宋体 CN Heavy"/>
                <a:ea typeface="思源宋体 CN Heavy"/>
                <a:cs typeface="思源宋体 CN Heavy"/>
                <a:sym typeface="思源宋体 CN Heavy"/>
              </a:defRPr>
            </a:lvl1pPr>
          </a:lstStyle>
          <a:p>
            <a:pPr>
              <a:defRPr/>
            </a:pPr>
            <a:r>
              <a:rPr/>
              <a:t>核心创新</a:t>
            </a:r>
          </a:p>
        </p:txBody>
      </p:sp>
      <p:sp>
        <p:nvSpPr>
          <p:cNvPr id="8" name="图形"/>
          <p:cNvSpPr txBox="1"/>
          <p:nvPr/>
        </p:nvSpPr>
        <p:spPr>
          <a:xfrm>
            <a:off x="3380104" y="4662169"/>
            <a:ext cx="2112645"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自注意力机制支持并行训练与长距离依赖建模。</a:t>
            </a:r>
          </a:p>
        </p:txBody>
      </p:sp>
      <p:sp>
        <p:nvSpPr>
          <p:cNvPr id="9" name="矩形"/>
          <p:cNvSpPr/>
          <p:nvPr/>
        </p:nvSpPr>
        <p:spPr xmlns:m="http://schemas.openxmlformats.org/officeDocument/2006/math" xmlns:a14="http://schemas.microsoft.com/office/drawing/2010/main">
          <a:xfrm>
            <a:off x="3432174" y="4328159"/>
            <a:ext cx="1520825" cy="307341"/>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sz="1400">
                <a:solidFill>
                  <a:srgbClr val="FFFFFF"/>
                </a:solidFill>
                <a:latin typeface="思源黑体旧字形 Light"/>
                <a:ea typeface="思源黑体旧字形 Light"/>
                <a:cs typeface="思源黑体旧字形 Light"/>
                <a:sym typeface="思源黑体旧字形 Light"/>
              </a:defRPr>
            </a:pPr>
          </a:p>
        </p:txBody>
      </p:sp>
      <p:sp>
        <p:nvSpPr>
          <p:cNvPr id="10" name="预设标题文本"/>
          <p:cNvSpPr txBox="1"/>
          <p:nvPr/>
        </p:nvSpPr>
        <p:spPr>
          <a:xfrm>
            <a:off x="3432174" y="4354829"/>
            <a:ext cx="1520825" cy="2540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FFFFFF"/>
                </a:solidFill>
                <a:latin typeface="思源宋体 CN Heavy"/>
                <a:ea typeface="思源宋体 CN Heavy"/>
                <a:cs typeface="思源宋体 CN Heavy"/>
                <a:sym typeface="思源宋体 CN Heavy"/>
              </a:defRPr>
            </a:lvl1pPr>
          </a:lstStyle>
          <a:p>
            <a:pPr>
              <a:defRPr/>
            </a:pPr>
            <a:r>
              <a:rPr/>
              <a:t>规模演进</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图形"/>
          <p:cNvSpPr txBox="1"/>
          <p:nvPr/>
        </p:nvSpPr>
        <p:spPr>
          <a:xfrm>
            <a:off x="775335" y="1616074"/>
            <a:ext cx="5361304" cy="147828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lvl1pPr>
          </a:lstStyle>
          <a:p>
            <a:pPr>
              <a:lnSpc>
                <a:spcPct val="90000"/>
              </a:lnSpc>
              <a:spcBef>
                <a:spcPts val="1000"/>
              </a:spcBef>
              <a:defRPr b="1" sz="4000">
                <a:solidFill>
                  <a:srgbClr val="262626"/>
                </a:solidFill>
                <a:latin typeface="思源宋体 CN Heavy"/>
                <a:ea typeface="思源宋体 CN Heavy"/>
                <a:cs typeface="思源宋体 CN Heavy"/>
                <a:sym typeface="思源宋体 CN Heavy"/>
              </a:defRPr>
            </a:pPr>
            <a:r>
              <a:rPr/>
              <a:t>AI发展史</a:t>
            </a:r>
            <a:endParaRPr sz="2400"/>
          </a:p>
          <a:p>
            <a:pPr>
              <a:lnSpc>
                <a:spcPct val="90000"/>
              </a:lnSpc>
              <a:spcBef>
                <a:spcPts val="1000"/>
              </a:spcBef>
              <a:defRPr sz="4000">
                <a:solidFill>
                  <a:schemeClr val="accent1"/>
                </a:solidFill>
                <a:latin typeface="思源宋体 CN Heavy"/>
                <a:ea typeface="思源宋体 CN Heavy"/>
                <a:cs typeface="思源宋体 CN Heavy"/>
                <a:sym typeface="思源宋体 CN Heavy"/>
              </a:defRPr>
            </a:pPr>
            <a:r>
              <a:rPr/>
              <a:t>涌现能力、历史教训与未来展望</a:t>
            </a:r>
          </a:p>
        </p:txBody>
      </p:sp>
      <p:sp>
        <p:nvSpPr>
          <p:cNvPr id="3" name="图形"/>
          <p:cNvSpPr txBox="1"/>
          <p:nvPr/>
        </p:nvSpPr>
        <p:spPr>
          <a:xfrm>
            <a:off x="775335" y="3041014"/>
            <a:ext cx="5361939" cy="1107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defRPr/>
            </a:pPr>
            <a:r>
              <a:rPr/>
              <a:t>规模突破临界点后，LLM涌现思维链推理、上下文学习与指令遵循等能力</a:t>
            </a:r>
          </a:p>
        </p:txBody>
      </p:sp>
      <p:pic>
        <p:nvPicPr>
          <p:cNvPr id="4" name="图形" descr="llm_growth_performance.png"/>
          <p:cNvPicPr>
            <a:picLocks noChangeAspect="1"/>
          </p:cNvPicPr>
          <p:nvPr/>
        </p:nvPicPr>
        <p:blipFill>
          <a:blip r:embed="rId2"/>
          <a:srcRect/>
          <a:stretch>
            <a:fillRect/>
          </a:stretch>
        </p:blipFill>
        <p:spPr>
          <a:xfrm>
            <a:off x="6182994" y="2563564"/>
            <a:ext cx="5156200" cy="2188071"/>
          </a:xfrm>
          <a:prstGeom prst="rect">
            <a:avLst/>
          </a:prstGeom>
        </p:spPr>
      </p:pic>
      <p:sp>
        <p:nvSpPr>
          <p:cNvPr id="5" name="图形"/>
          <p:cNvSpPr txBox="1"/>
          <p:nvPr/>
        </p:nvSpPr>
        <p:spPr>
          <a:xfrm>
            <a:off x="848359" y="4662169"/>
            <a:ext cx="2112646"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避免过度承诺，平衡基础研究与商业应用，跨学科合作破瓶颈</a:t>
            </a:r>
          </a:p>
        </p:txBody>
      </p:sp>
      <p:sp>
        <p:nvSpPr>
          <p:cNvPr id="6" name="矩形"/>
          <p:cNvSpPr/>
          <p:nvPr/>
        </p:nvSpPr>
        <p:spPr xmlns:m="http://schemas.openxmlformats.org/officeDocument/2006/math" xmlns:a14="http://schemas.microsoft.com/office/drawing/2010/main">
          <a:xfrm>
            <a:off x="900429" y="4328159"/>
            <a:ext cx="1520826" cy="307341"/>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sz="1400">
                <a:solidFill>
                  <a:srgbClr val="FFFFFF"/>
                </a:solidFill>
                <a:latin typeface="思源黑体旧字形 Light"/>
                <a:ea typeface="思源黑体旧字形 Light"/>
                <a:cs typeface="思源黑体旧字形 Light"/>
                <a:sym typeface="思源黑体旧字形 Light"/>
              </a:defRPr>
            </a:pPr>
          </a:p>
        </p:txBody>
      </p:sp>
      <p:sp>
        <p:nvSpPr>
          <p:cNvPr id="7" name="预设标题文本"/>
          <p:cNvSpPr txBox="1"/>
          <p:nvPr/>
        </p:nvSpPr>
        <p:spPr>
          <a:xfrm>
            <a:off x="900429" y="4354829"/>
            <a:ext cx="1520826" cy="2540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FFFFFF"/>
                </a:solidFill>
                <a:latin typeface="思源宋体 CN Heavy"/>
                <a:ea typeface="思源宋体 CN Heavy"/>
                <a:cs typeface="思源宋体 CN Heavy"/>
                <a:sym typeface="思源宋体 CN Heavy"/>
              </a:defRPr>
            </a:lvl1pPr>
          </a:lstStyle>
          <a:p>
            <a:pPr>
              <a:defRPr/>
            </a:pPr>
            <a:r>
              <a:rPr/>
              <a:t>未来方向</a:t>
            </a:r>
          </a:p>
        </p:txBody>
      </p:sp>
      <p:sp>
        <p:nvSpPr>
          <p:cNvPr id="8" name="图形"/>
          <p:cNvSpPr txBox="1"/>
          <p:nvPr/>
        </p:nvSpPr>
        <p:spPr>
          <a:xfrm>
            <a:off x="3380104" y="4662169"/>
            <a:ext cx="2112645"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多模态、具身智能、神经符号结合、AI对齐与安全</a:t>
            </a:r>
          </a:p>
        </p:txBody>
      </p:sp>
      <p:sp>
        <p:nvSpPr>
          <p:cNvPr id="9" name="矩形"/>
          <p:cNvSpPr/>
          <p:nvPr/>
        </p:nvSpPr>
        <p:spPr xmlns:m="http://schemas.openxmlformats.org/officeDocument/2006/math" xmlns:a14="http://schemas.microsoft.com/office/drawing/2010/main">
          <a:xfrm>
            <a:off x="3432174" y="4328159"/>
            <a:ext cx="1520825" cy="307341"/>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sz="1400">
                <a:solidFill>
                  <a:srgbClr val="FFFFFF"/>
                </a:solidFill>
                <a:latin typeface="思源黑体旧字形 Light"/>
                <a:ea typeface="思源黑体旧字形 Light"/>
                <a:cs typeface="思源黑体旧字形 Light"/>
                <a:sym typeface="思源黑体旧字形 Light"/>
              </a:defRPr>
            </a:pPr>
          </a:p>
        </p:txBody>
      </p:sp>
      <p:sp>
        <p:nvSpPr>
          <p:cNvPr id="10" name="预设标题文本"/>
          <p:cNvSpPr txBox="1"/>
          <p:nvPr/>
        </p:nvSpPr>
        <p:spPr>
          <a:xfrm>
            <a:off x="3432174" y="4354829"/>
            <a:ext cx="1520825" cy="2540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FFFFFF"/>
                </a:solidFill>
                <a:latin typeface="思源宋体 CN Heavy"/>
                <a:ea typeface="思源宋体 CN Heavy"/>
                <a:cs typeface="思源宋体 CN Heavy"/>
                <a:sym typeface="思源宋体 CN Heavy"/>
              </a:defRPr>
            </a:lvl1pPr>
          </a:lstStyle>
          <a:p>
            <a:pPr>
              <a:defRPr/>
            </a:pPr>
            <a:r>
              <a:rPr/>
              <a:t>三大驱动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形" descr="6b15b2b44a99abb9a7cb4a896242c5aaf878cd05.png"/>
          <p:cNvPicPr>
            <a:picLocks noChangeAspect="1"/>
          </p:cNvPicPr>
          <p:nvPr/>
        </p:nvPicPr>
        <p:blipFill>
          <a:blip r:embed="rId2"/>
          <a:srcRect l="7597" r="7596"/>
          <a:stretch>
            <a:fillRect/>
          </a:stretch>
        </p:blipFill>
        <p:spPr>
          <a:xfrm>
            <a:off x="0" y="12700"/>
            <a:ext cx="12192001" cy="6845300"/>
          </a:xfrm>
          <a:prstGeom prst="rect">
            <a:avLst/>
          </a:prstGeom>
        </p:spPr>
      </p:pic>
      <p:sp>
        <p:nvSpPr>
          <p:cNvPr id="3" name="图形"/>
          <p:cNvSpPr/>
          <p:nvPr/>
        </p:nvSpPr>
        <p:spPr xmlns:m="http://schemas.openxmlformats.org/officeDocument/2006/math" xmlns:a14="http://schemas.microsoft.com/office/drawing/2010/main">
          <a:xfrm>
            <a:off x="0" y="0"/>
            <a:ext cx="12192635" cy="6858000"/>
          </a:xfrm>
          <a:prstGeom prst="rect">
            <a:avLst/>
          </a:prstGeom>
          <a:gradFill>
            <a:gsLst>
              <a:gs pos="0">
                <a:srgbClr val="F2F6FE">
                  <a:alpha val="69000"/>
                </a:srgbClr>
              </a:gs>
              <a:gs pos="40000">
                <a:srgbClr val="F2F6FE">
                  <a:alpha val="0"/>
                </a:srgbClr>
              </a:gs>
            </a:gsLst>
            <a:lin ang="5400000"/>
          </a:gradFill>
          <a:ln w="12700">
            <a:miter lim="400000"/>
          </a:ln>
        </p:spPr>
        <p:txBody>
          <a:bodyPr lIns="45719" rIns="45719" anchor="ctr"/>
          <a:lstStyle>
            <a:lvl1pPr>
              <a:defRPr/>
            </a:lvl1pPr>
          </a:lstStyle>
          <a:p>
            <a:pPr algn="ctr">
              <a:defRPr>
                <a:solidFill>
                  <a:srgbClr val="FFFFFF"/>
                </a:solidFill>
              </a:defRPr>
            </a:pPr>
          </a:p>
        </p:txBody>
      </p:sp>
      <p:sp>
        <p:nvSpPr>
          <p:cNvPr id="4" name="图形"/>
          <p:cNvSpPr txBox="1"/>
          <p:nvPr/>
        </p:nvSpPr>
        <p:spPr>
          <a:xfrm>
            <a:off x="513079" y="763269"/>
            <a:ext cx="6514466" cy="1551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96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p:txBody>
      </p:sp>
      <p:sp>
        <p:nvSpPr>
          <p:cNvPr id="5" name="图形"/>
          <p:cNvSpPr txBox="1"/>
          <p:nvPr/>
        </p:nvSpPr>
        <p:spPr>
          <a:xfrm>
            <a:off x="429260" y="1379219"/>
            <a:ext cx="8176895" cy="186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0000">
                <a:solidFill>
                  <a:srgbClr val="007EE8"/>
                </a:solidFill>
                <a:latin typeface="思源宋体 CN Heavy"/>
                <a:ea typeface="思源宋体 CN Heavy"/>
                <a:cs typeface="思源宋体 CN Heavy"/>
                <a:sym typeface="思源宋体 CN Heavy"/>
              </a:defRPr>
            </a:lvl1pPr>
          </a:lstStyle>
          <a:p>
            <a:pPr>
              <a:defRPr/>
            </a:pPr>
            <a:r>
              <a:rPr/>
              <a:t>谢谢！</a:t>
            </a:r>
          </a:p>
        </p:txBody>
      </p:sp>
      <p:sp>
        <p:nvSpPr>
          <p:cNvPr id="6" name="图形"/>
          <p:cNvSpPr txBox="1"/>
          <p:nvPr/>
        </p:nvSpPr>
        <p:spPr>
          <a:xfrm>
            <a:off x="511809" y="3361054"/>
            <a:ext cx="6502401" cy="739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lvl1pPr>
          </a:lstStyle>
          <a:p/>
        </p:txBody>
      </p:sp>
      <p:sp>
        <p:nvSpPr>
          <p:cNvPr id="7" name="图形"/>
          <p:cNvSpPr/>
          <p:nvPr/>
        </p:nvSpPr>
        <p:spPr xmlns:m="http://schemas.openxmlformats.org/officeDocument/2006/math" xmlns:a14="http://schemas.microsoft.com/office/drawing/2010/main">
          <a:xfrm>
            <a:off x="2371724" y="2976244"/>
            <a:ext cx="4533901" cy="4267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508" y="0"/>
                </a:lnTo>
                <a:lnTo>
                  <a:pt x="21600" y="0"/>
                </a:lnTo>
                <a:lnTo>
                  <a:pt x="21092" y="21600"/>
                </a:lnTo>
                <a:close/>
              </a:path>
            </a:pathLst>
          </a:custGeom>
          <a:gradFill flip="none" rotWithShape="1">
            <a:gsLst>
              <a:gs pos="0">
                <a:srgbClr val="76BEFC">
                  <a:alpha val="46000"/>
                </a:srgbClr>
              </a:gs>
              <a:gs pos="66000">
                <a:srgbClr val="34ACFD">
                  <a:alpha val="0"/>
                </a:srgbClr>
              </a:gs>
            </a:gsLst>
            <a:lin ang="108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8" name="图形"/>
          <p:cNvSpPr txBox="1"/>
          <p:nvPr/>
        </p:nvSpPr>
        <p:spPr>
          <a:xfrm>
            <a:off x="553719" y="2908935"/>
            <a:ext cx="6035675" cy="599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lvl1pPr>
          </a:lstStyle>
          <a:p>
            <a:pPr algn="just">
              <a:defRPr sz="2800">
                <a:latin typeface="思源宋体 CN Heavy"/>
                <a:ea typeface="思源宋体 CN Heavy"/>
                <a:cs typeface="思源宋体 CN Heavy"/>
                <a:sym typeface="思源宋体 CN Heavy"/>
              </a:defRPr>
            </a:pPr>
            <a:r>
              <a:rPr/>
              <a:t>人工智能70年：从符号主义到大语言模型</a:t>
            </a:r>
          </a:p>
        </p:txBody>
      </p:sp>
      <p:sp>
        <p:nvSpPr>
          <p:cNvPr id="9" name="图形"/>
          <p:cNvSpPr/>
          <p:nvPr/>
        </p:nvSpPr>
        <p:spPr xmlns:m="http://schemas.openxmlformats.org/officeDocument/2006/math" xmlns:a14="http://schemas.microsoft.com/office/drawing/2010/main">
          <a:xfrm>
            <a:off x="727709" y="4528184"/>
            <a:ext cx="1925321" cy="4591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88" y="0"/>
                </a:lnTo>
                <a:lnTo>
                  <a:pt x="21600" y="0"/>
                </a:lnTo>
                <a:lnTo>
                  <a:pt x="20312" y="21600"/>
                </a:lnTo>
                <a:close/>
              </a:path>
            </a:pathLst>
          </a:custGeom>
          <a:solidFill>
            <a:srgbClr val="FFFFFF">
              <a:alpha val="21000"/>
            </a:srgbClr>
          </a:solidFill>
          <a:ln w="3175" cap="flat">
            <a:solidFill>
              <a:srgbClr val="9AD6FE"/>
            </a:solidFill>
            <a:prstDash val="solid"/>
            <a:miter lim="800000"/>
          </a:ln>
          <a:effectLst/>
        </p:spPr>
        <p:txBody>
          <a:bodyPr wrap="square" lIns="45719" tIns="45719" rIns="45719" bIns="45719" numCol="1" anchor="ctr">
            <a:noAutofit/>
          </a:bodyPr>
          <a:lstStyle>
            <a:lvl1pPr>
              <a:defRPr/>
            </a:lvl1pPr>
          </a:lstStyle>
          <a:p>
            <a:pPr algn="ctr">
              <a:defRPr sz="1200">
                <a:solidFill>
                  <a:srgbClr val="FDCFB8"/>
                </a:solidFill>
                <a:latin typeface="思源宋体 SemiBold"/>
                <a:ea typeface="思源宋体 SemiBold"/>
                <a:cs typeface="思源宋体 SemiBold"/>
                <a:sym typeface="思源宋体 SemiBold"/>
              </a:defRPr>
            </a:pPr>
          </a:p>
        </p:txBody>
      </p:sp>
      <p:sp>
        <p:nvSpPr>
          <p:cNvPr id="10" name="图形"/>
          <p:cNvSpPr/>
          <p:nvPr/>
        </p:nvSpPr>
        <p:spPr xmlns:m="http://schemas.openxmlformats.org/officeDocument/2006/math" xmlns:a14="http://schemas.microsoft.com/office/drawing/2010/main">
          <a:xfrm>
            <a:off x="3034030" y="4528184"/>
            <a:ext cx="1920875" cy="4591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91" y="0"/>
                </a:lnTo>
                <a:lnTo>
                  <a:pt x="21600" y="0"/>
                </a:lnTo>
                <a:lnTo>
                  <a:pt x="20309" y="21600"/>
                </a:lnTo>
                <a:close/>
              </a:path>
            </a:pathLst>
          </a:custGeom>
          <a:solidFill>
            <a:srgbClr val="FFFFFF">
              <a:alpha val="21000"/>
            </a:srgbClr>
          </a:solidFill>
          <a:ln w="3175" cap="flat">
            <a:solidFill>
              <a:srgbClr val="9AD6FE"/>
            </a:solidFill>
            <a:prstDash val="solid"/>
            <a:miter lim="800000"/>
          </a:ln>
          <a:effectLst/>
        </p:spPr>
        <p:txBody>
          <a:bodyPr wrap="square" lIns="45719" tIns="45719" rIns="45719" bIns="45719" numCol="1" anchor="ctr">
            <a:noAutofit/>
          </a:bodyPr>
          <a:lstStyle>
            <a:lvl1pPr>
              <a:defRPr/>
            </a:lvl1pPr>
          </a:lstStyle>
          <a:p>
            <a:pPr algn="ctr">
              <a:defRPr sz="1200">
                <a:solidFill>
                  <a:srgbClr val="FDCFB8"/>
                </a:solidFill>
                <a:latin typeface="思源宋体 SemiBold"/>
                <a:ea typeface="思源宋体 SemiBold"/>
                <a:cs typeface="思源宋体 SemiBold"/>
                <a:sym typeface="思源宋体 SemiBold"/>
              </a:defRPr>
            </a:pPr>
          </a:p>
        </p:txBody>
      </p:sp>
      <p:sp>
        <p:nvSpPr>
          <p:cNvPr id="11" name="图形"/>
          <p:cNvSpPr txBox="1"/>
          <p:nvPr/>
        </p:nvSpPr>
        <p:spPr>
          <a:xfrm>
            <a:off x="1219199" y="4568189"/>
            <a:ext cx="1132206" cy="3708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lvl1pPr>
          </a:lstStyle>
          <a:p/>
        </p:txBody>
      </p:sp>
      <p:sp>
        <p:nvSpPr>
          <p:cNvPr id="12" name="图形"/>
          <p:cNvSpPr txBox="1"/>
          <p:nvPr/>
        </p:nvSpPr>
        <p:spPr>
          <a:xfrm>
            <a:off x="3438525" y="4587238"/>
            <a:ext cx="1354456" cy="3708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just">
              <a:defRPr b="1" sz="1600">
                <a:solidFill>
                  <a:srgbClr val="262626"/>
                </a:solidFill>
                <a:latin typeface="思源宋体 CN Heavy"/>
                <a:ea typeface="思源宋体 CN Heavy"/>
                <a:cs typeface="思源宋体 CN Heavy"/>
                <a:sym typeface="思源宋体 CN Heavy"/>
              </a:defRPr>
            </a:lvl1pPr>
          </a:lstStyle>
          <a:p/>
        </p:txBody>
      </p:sp>
      <p:sp>
        <p:nvSpPr>
          <p:cNvPr id="13" name="图形"/>
          <p:cNvSpPr/>
          <p:nvPr/>
        </p:nvSpPr>
        <p:spPr xmlns:m="http://schemas.openxmlformats.org/officeDocument/2006/math" xmlns:a14="http://schemas.microsoft.com/office/drawing/2010/main">
          <a:xfrm>
            <a:off x="535304" y="4528184"/>
            <a:ext cx="636906" cy="4591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3893" y="0"/>
                </a:lnTo>
                <a:lnTo>
                  <a:pt x="21600" y="0"/>
                </a:lnTo>
                <a:lnTo>
                  <a:pt x="17707" y="21600"/>
                </a:lnTo>
                <a:close/>
              </a:path>
            </a:pathLst>
          </a:custGeom>
          <a:gradFill flip="none" rotWithShape="1">
            <a:gsLst>
              <a:gs pos="0">
                <a:schemeClr val="accent1"/>
              </a:gs>
              <a:gs pos="100000">
                <a:schemeClr val="accent2"/>
              </a:gs>
            </a:gsLst>
            <a:lin ang="10800000" scaled="0"/>
          </a:gradFill>
          <a:ln w="12700" cap="flat">
            <a:noFill/>
            <a:miter lim="400000"/>
          </a:ln>
          <a:effectLst>
            <a:outerShdw sx="100000" sy="100000" kx="0" ky="0" algn="b" rotWithShape="0" blurRad="355600" dist="0" dir="0">
              <a:srgbClr val="000000">
                <a:alpha val="10000"/>
              </a:srgbClr>
            </a:outerShdw>
          </a:effectLst>
        </p:spPr>
        <p:txBody>
          <a:bodyPr wrap="square" lIns="45719" tIns="45719" rIns="45719" bIns="45719" numCol="1" anchor="ctr">
            <a:noAutofit/>
          </a:bodyPr>
          <a:lstStyle>
            <a:lvl1pPr>
              <a:defRPr/>
            </a:lvl1pPr>
          </a:lstStyle>
          <a:p>
            <a:pPr algn="ctr">
              <a:defRPr sz="1200">
                <a:solidFill>
                  <a:srgbClr val="FFFFFF"/>
                </a:solidFill>
                <a:latin typeface="思源宋体 SemiBold"/>
                <a:ea typeface="思源宋体 SemiBold"/>
                <a:cs typeface="思源宋体 SemiBold"/>
                <a:sym typeface="思源宋体 SemiBold"/>
              </a:defRPr>
            </a:pPr>
          </a:p>
        </p:txBody>
      </p:sp>
      <p:sp>
        <p:nvSpPr>
          <p:cNvPr id="14" name="图形"/>
          <p:cNvSpPr/>
          <p:nvPr/>
        </p:nvSpPr>
        <p:spPr xmlns:m="http://schemas.openxmlformats.org/officeDocument/2006/math" xmlns:a14="http://schemas.microsoft.com/office/drawing/2010/main">
          <a:xfrm>
            <a:off x="2840990" y="4528184"/>
            <a:ext cx="636906" cy="4591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3893" y="0"/>
                </a:lnTo>
                <a:lnTo>
                  <a:pt x="21600" y="0"/>
                </a:lnTo>
                <a:lnTo>
                  <a:pt x="17707" y="21600"/>
                </a:lnTo>
                <a:close/>
              </a:path>
            </a:pathLst>
          </a:custGeom>
          <a:gradFill flip="none" rotWithShape="1">
            <a:gsLst>
              <a:gs pos="0">
                <a:schemeClr val="accent1"/>
              </a:gs>
              <a:gs pos="100000">
                <a:schemeClr val="accent2"/>
              </a:gs>
            </a:gsLst>
            <a:lin ang="10800000" scaled="0"/>
          </a:gradFill>
          <a:ln w="12700" cap="flat">
            <a:noFill/>
            <a:miter lim="400000"/>
          </a:ln>
          <a:effectLst>
            <a:outerShdw sx="100000" sy="100000" kx="0" ky="0" algn="b" rotWithShape="0" blurRad="355600" dist="0" dir="0">
              <a:srgbClr val="000000">
                <a:alpha val="10000"/>
              </a:srgbClr>
            </a:outerShdw>
          </a:effectLst>
        </p:spPr>
        <p:txBody>
          <a:bodyPr wrap="square" lIns="45719" tIns="45719" rIns="45719" bIns="45719" numCol="1" anchor="ctr">
            <a:noAutofit/>
          </a:bodyPr>
          <a:lstStyle>
            <a:lvl1pPr>
              <a:defRPr/>
            </a:lvl1pPr>
          </a:lstStyle>
          <a:p>
            <a:pPr algn="ctr">
              <a:defRPr sz="1200">
                <a:solidFill>
                  <a:srgbClr val="FFFFFF"/>
                </a:solidFill>
                <a:latin typeface="思源宋体 SemiBold"/>
                <a:ea typeface="思源宋体 SemiBold"/>
                <a:cs typeface="思源宋体 SemiBold"/>
                <a:sym typeface="思源宋体 SemiBold"/>
              </a:defRPr>
            </a:pPr>
          </a:p>
        </p:txBody>
      </p:sp>
      <p:sp>
        <p:nvSpPr>
          <p:cNvPr id="15" name="图形"/>
          <p:cNvSpPr/>
          <p:nvPr/>
        </p:nvSpPr>
        <p:spPr xmlns:m="http://schemas.openxmlformats.org/officeDocument/2006/math" xmlns:a14="http://schemas.microsoft.com/office/drawing/2010/main">
          <a:xfrm>
            <a:off x="3205676" y="4740412"/>
            <a:ext cx="102675" cy="811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200" y="0"/>
                </a:moveTo>
                <a:lnTo>
                  <a:pt x="8640" y="7104"/>
                </a:lnTo>
                <a:lnTo>
                  <a:pt x="1779" y="574"/>
                </a:lnTo>
                <a:lnTo>
                  <a:pt x="889" y="2225"/>
                </a:lnTo>
                <a:lnTo>
                  <a:pt x="0" y="3588"/>
                </a:lnTo>
                <a:lnTo>
                  <a:pt x="1525" y="5023"/>
                </a:lnTo>
                <a:lnTo>
                  <a:pt x="2986" y="6817"/>
                </a:lnTo>
                <a:lnTo>
                  <a:pt x="4320" y="8755"/>
                </a:lnTo>
                <a:lnTo>
                  <a:pt x="5336" y="10692"/>
                </a:lnTo>
                <a:lnTo>
                  <a:pt x="6289" y="12917"/>
                </a:lnTo>
                <a:lnTo>
                  <a:pt x="6925" y="15285"/>
                </a:lnTo>
                <a:lnTo>
                  <a:pt x="7306" y="17797"/>
                </a:lnTo>
                <a:lnTo>
                  <a:pt x="7433" y="20308"/>
                </a:lnTo>
                <a:lnTo>
                  <a:pt x="7306" y="21600"/>
                </a:lnTo>
                <a:lnTo>
                  <a:pt x="8640" y="21600"/>
                </a:lnTo>
                <a:lnTo>
                  <a:pt x="10609" y="21456"/>
                </a:lnTo>
                <a:lnTo>
                  <a:pt x="12706" y="21026"/>
                </a:lnTo>
                <a:lnTo>
                  <a:pt x="14802" y="20452"/>
                </a:lnTo>
                <a:lnTo>
                  <a:pt x="16899" y="19375"/>
                </a:lnTo>
                <a:lnTo>
                  <a:pt x="17915" y="18801"/>
                </a:lnTo>
                <a:lnTo>
                  <a:pt x="18741" y="18084"/>
                </a:lnTo>
                <a:lnTo>
                  <a:pt x="19504" y="17366"/>
                </a:lnTo>
                <a:lnTo>
                  <a:pt x="20266" y="16433"/>
                </a:lnTo>
                <a:lnTo>
                  <a:pt x="20838" y="15572"/>
                </a:lnTo>
                <a:lnTo>
                  <a:pt x="21219" y="14639"/>
                </a:lnTo>
                <a:lnTo>
                  <a:pt x="21473" y="13635"/>
                </a:lnTo>
                <a:lnTo>
                  <a:pt x="21600" y="12630"/>
                </a:lnTo>
                <a:lnTo>
                  <a:pt x="21473" y="10692"/>
                </a:lnTo>
                <a:lnTo>
                  <a:pt x="21219" y="8755"/>
                </a:lnTo>
                <a:lnTo>
                  <a:pt x="20838" y="6961"/>
                </a:lnTo>
                <a:lnTo>
                  <a:pt x="20139" y="5310"/>
                </a:lnTo>
                <a:lnTo>
                  <a:pt x="19376" y="3875"/>
                </a:lnTo>
                <a:lnTo>
                  <a:pt x="18424" y="2368"/>
                </a:lnTo>
                <a:lnTo>
                  <a:pt x="17407" y="1076"/>
                </a:lnTo>
                <a:lnTo>
                  <a:pt x="16200" y="0"/>
                </a:ln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16" name="图形"/>
          <p:cNvSpPr/>
          <p:nvPr/>
        </p:nvSpPr>
        <p:spPr xmlns:m="http://schemas.openxmlformats.org/officeDocument/2006/math" xmlns:a14="http://schemas.microsoft.com/office/drawing/2010/main">
          <a:xfrm>
            <a:off x="3206280" y="4657089"/>
            <a:ext cx="83952" cy="765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807" y="17113"/>
                </a:moveTo>
                <a:lnTo>
                  <a:pt x="3807" y="18177"/>
                </a:lnTo>
                <a:lnTo>
                  <a:pt x="3652" y="19394"/>
                </a:lnTo>
                <a:lnTo>
                  <a:pt x="5128" y="20383"/>
                </a:lnTo>
                <a:lnTo>
                  <a:pt x="6837" y="20992"/>
                </a:lnTo>
                <a:lnTo>
                  <a:pt x="8624" y="21448"/>
                </a:lnTo>
                <a:lnTo>
                  <a:pt x="10412" y="21600"/>
                </a:lnTo>
                <a:lnTo>
                  <a:pt x="11499" y="21600"/>
                </a:lnTo>
                <a:lnTo>
                  <a:pt x="12665" y="21448"/>
                </a:lnTo>
                <a:lnTo>
                  <a:pt x="13753" y="21144"/>
                </a:lnTo>
                <a:lnTo>
                  <a:pt x="14685" y="20839"/>
                </a:lnTo>
                <a:lnTo>
                  <a:pt x="15695" y="20383"/>
                </a:lnTo>
                <a:lnTo>
                  <a:pt x="16627" y="19775"/>
                </a:lnTo>
                <a:lnTo>
                  <a:pt x="17404" y="19090"/>
                </a:lnTo>
                <a:lnTo>
                  <a:pt x="18259" y="18482"/>
                </a:lnTo>
                <a:lnTo>
                  <a:pt x="19036" y="17721"/>
                </a:lnTo>
                <a:lnTo>
                  <a:pt x="19658" y="16885"/>
                </a:lnTo>
                <a:lnTo>
                  <a:pt x="20201" y="15972"/>
                </a:lnTo>
                <a:lnTo>
                  <a:pt x="20668" y="15059"/>
                </a:lnTo>
                <a:lnTo>
                  <a:pt x="21134" y="14070"/>
                </a:lnTo>
                <a:lnTo>
                  <a:pt x="21289" y="13006"/>
                </a:lnTo>
                <a:lnTo>
                  <a:pt x="21445" y="11865"/>
                </a:lnTo>
                <a:lnTo>
                  <a:pt x="21600" y="10800"/>
                </a:lnTo>
                <a:lnTo>
                  <a:pt x="21445" y="9735"/>
                </a:lnTo>
                <a:lnTo>
                  <a:pt x="21289" y="8594"/>
                </a:lnTo>
                <a:lnTo>
                  <a:pt x="21134" y="7530"/>
                </a:lnTo>
                <a:lnTo>
                  <a:pt x="20668" y="6541"/>
                </a:lnTo>
                <a:lnTo>
                  <a:pt x="20201" y="5628"/>
                </a:lnTo>
                <a:lnTo>
                  <a:pt x="19658" y="4715"/>
                </a:lnTo>
                <a:lnTo>
                  <a:pt x="19036" y="3879"/>
                </a:lnTo>
                <a:lnTo>
                  <a:pt x="18259" y="3118"/>
                </a:lnTo>
                <a:lnTo>
                  <a:pt x="17404" y="2358"/>
                </a:lnTo>
                <a:lnTo>
                  <a:pt x="16627" y="1673"/>
                </a:lnTo>
                <a:lnTo>
                  <a:pt x="15695" y="1217"/>
                </a:lnTo>
                <a:lnTo>
                  <a:pt x="14685" y="761"/>
                </a:lnTo>
                <a:lnTo>
                  <a:pt x="13753" y="456"/>
                </a:lnTo>
                <a:lnTo>
                  <a:pt x="12665" y="152"/>
                </a:lnTo>
                <a:lnTo>
                  <a:pt x="11499" y="0"/>
                </a:lnTo>
                <a:lnTo>
                  <a:pt x="8624" y="0"/>
                </a:lnTo>
                <a:lnTo>
                  <a:pt x="6993" y="456"/>
                </a:lnTo>
                <a:lnTo>
                  <a:pt x="5439" y="1065"/>
                </a:lnTo>
                <a:lnTo>
                  <a:pt x="3963" y="1825"/>
                </a:lnTo>
                <a:lnTo>
                  <a:pt x="2719" y="2966"/>
                </a:lnTo>
                <a:lnTo>
                  <a:pt x="1554" y="4183"/>
                </a:lnTo>
                <a:lnTo>
                  <a:pt x="777" y="5476"/>
                </a:lnTo>
                <a:lnTo>
                  <a:pt x="0" y="6997"/>
                </a:lnTo>
                <a:lnTo>
                  <a:pt x="932" y="8138"/>
                </a:lnTo>
                <a:lnTo>
                  <a:pt x="1554" y="9203"/>
                </a:lnTo>
                <a:lnTo>
                  <a:pt x="2176" y="10344"/>
                </a:lnTo>
                <a:lnTo>
                  <a:pt x="2875" y="11561"/>
                </a:lnTo>
                <a:lnTo>
                  <a:pt x="3341" y="12854"/>
                </a:lnTo>
                <a:lnTo>
                  <a:pt x="3652" y="14223"/>
                </a:lnTo>
                <a:lnTo>
                  <a:pt x="3807" y="15668"/>
                </a:lnTo>
                <a:lnTo>
                  <a:pt x="3807" y="17113"/>
                </a:ln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17" name="图形"/>
          <p:cNvSpPr/>
          <p:nvPr/>
        </p:nvSpPr>
        <p:spPr xmlns:m="http://schemas.openxmlformats.org/officeDocument/2006/math" xmlns:a14="http://schemas.microsoft.com/office/drawing/2010/main">
          <a:xfrm>
            <a:off x="3011804" y="4740412"/>
            <a:ext cx="103279" cy="811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884" y="21600"/>
                </a:moveTo>
                <a:lnTo>
                  <a:pt x="14211" y="21600"/>
                </a:lnTo>
                <a:lnTo>
                  <a:pt x="14211" y="20308"/>
                </a:lnTo>
                <a:lnTo>
                  <a:pt x="14337" y="17797"/>
                </a:lnTo>
                <a:lnTo>
                  <a:pt x="14716" y="15285"/>
                </a:lnTo>
                <a:lnTo>
                  <a:pt x="15347" y="12917"/>
                </a:lnTo>
                <a:lnTo>
                  <a:pt x="16168" y="10692"/>
                </a:lnTo>
                <a:lnTo>
                  <a:pt x="17179" y="8755"/>
                </a:lnTo>
                <a:lnTo>
                  <a:pt x="18505" y="6817"/>
                </a:lnTo>
                <a:lnTo>
                  <a:pt x="19958" y="5023"/>
                </a:lnTo>
                <a:lnTo>
                  <a:pt x="21600" y="3588"/>
                </a:lnTo>
                <a:lnTo>
                  <a:pt x="20589" y="2225"/>
                </a:lnTo>
                <a:lnTo>
                  <a:pt x="19768" y="574"/>
                </a:lnTo>
                <a:lnTo>
                  <a:pt x="12884" y="7104"/>
                </a:lnTo>
                <a:lnTo>
                  <a:pt x="5305" y="0"/>
                </a:lnTo>
                <a:lnTo>
                  <a:pt x="4168" y="1076"/>
                </a:lnTo>
                <a:lnTo>
                  <a:pt x="3095" y="2368"/>
                </a:lnTo>
                <a:lnTo>
                  <a:pt x="2211" y="3875"/>
                </a:lnTo>
                <a:lnTo>
                  <a:pt x="1453" y="5310"/>
                </a:lnTo>
                <a:lnTo>
                  <a:pt x="884" y="6961"/>
                </a:lnTo>
                <a:lnTo>
                  <a:pt x="379" y="8755"/>
                </a:lnTo>
                <a:lnTo>
                  <a:pt x="126" y="10692"/>
                </a:lnTo>
                <a:lnTo>
                  <a:pt x="0" y="12630"/>
                </a:lnTo>
                <a:lnTo>
                  <a:pt x="126" y="13635"/>
                </a:lnTo>
                <a:lnTo>
                  <a:pt x="379" y="14639"/>
                </a:lnTo>
                <a:lnTo>
                  <a:pt x="758" y="15572"/>
                </a:lnTo>
                <a:lnTo>
                  <a:pt x="1453" y="16433"/>
                </a:lnTo>
                <a:lnTo>
                  <a:pt x="2084" y="17366"/>
                </a:lnTo>
                <a:lnTo>
                  <a:pt x="2842" y="18084"/>
                </a:lnTo>
                <a:lnTo>
                  <a:pt x="3789" y="18801"/>
                </a:lnTo>
                <a:lnTo>
                  <a:pt x="4674" y="19375"/>
                </a:lnTo>
                <a:lnTo>
                  <a:pt x="6758" y="20452"/>
                </a:lnTo>
                <a:lnTo>
                  <a:pt x="8842" y="21026"/>
                </a:lnTo>
                <a:lnTo>
                  <a:pt x="10926" y="21456"/>
                </a:lnTo>
                <a:lnTo>
                  <a:pt x="12884" y="21600"/>
                </a:ln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18" name="图形"/>
          <p:cNvSpPr/>
          <p:nvPr/>
        </p:nvSpPr>
        <p:spPr xmlns:m="http://schemas.openxmlformats.org/officeDocument/2006/math" xmlns:a14="http://schemas.microsoft.com/office/drawing/2010/main">
          <a:xfrm>
            <a:off x="3030527" y="4657089"/>
            <a:ext cx="83348" cy="765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113" y="21600"/>
                </a:moveTo>
                <a:lnTo>
                  <a:pt x="13070" y="21448"/>
                </a:lnTo>
                <a:lnTo>
                  <a:pt x="14870" y="20992"/>
                </a:lnTo>
                <a:lnTo>
                  <a:pt x="16435" y="20383"/>
                </a:lnTo>
                <a:lnTo>
                  <a:pt x="17922" y="19394"/>
                </a:lnTo>
                <a:lnTo>
                  <a:pt x="17922" y="18177"/>
                </a:lnTo>
                <a:lnTo>
                  <a:pt x="17765" y="17113"/>
                </a:lnTo>
                <a:lnTo>
                  <a:pt x="18078" y="14223"/>
                </a:lnTo>
                <a:lnTo>
                  <a:pt x="18391" y="12854"/>
                </a:lnTo>
                <a:lnTo>
                  <a:pt x="18861" y="11561"/>
                </a:lnTo>
                <a:lnTo>
                  <a:pt x="19330" y="10344"/>
                </a:lnTo>
                <a:lnTo>
                  <a:pt x="20035" y="9203"/>
                </a:lnTo>
                <a:lnTo>
                  <a:pt x="20817" y="8138"/>
                </a:lnTo>
                <a:lnTo>
                  <a:pt x="21600" y="6997"/>
                </a:lnTo>
                <a:lnTo>
                  <a:pt x="20974" y="5476"/>
                </a:lnTo>
                <a:lnTo>
                  <a:pt x="20035" y="4183"/>
                </a:lnTo>
                <a:lnTo>
                  <a:pt x="18861" y="2966"/>
                </a:lnTo>
                <a:lnTo>
                  <a:pt x="17609" y="1825"/>
                </a:lnTo>
                <a:lnTo>
                  <a:pt x="16122" y="1065"/>
                </a:lnTo>
                <a:lnTo>
                  <a:pt x="14478" y="456"/>
                </a:lnTo>
                <a:lnTo>
                  <a:pt x="12913" y="0"/>
                </a:lnTo>
                <a:lnTo>
                  <a:pt x="10017" y="0"/>
                </a:lnTo>
                <a:lnTo>
                  <a:pt x="8843" y="152"/>
                </a:lnTo>
                <a:lnTo>
                  <a:pt x="7748" y="456"/>
                </a:lnTo>
                <a:lnTo>
                  <a:pt x="6730" y="761"/>
                </a:lnTo>
                <a:lnTo>
                  <a:pt x="4852" y="1673"/>
                </a:lnTo>
                <a:lnTo>
                  <a:pt x="3991" y="2358"/>
                </a:lnTo>
                <a:lnTo>
                  <a:pt x="2426" y="3879"/>
                </a:lnTo>
                <a:lnTo>
                  <a:pt x="1722" y="4715"/>
                </a:lnTo>
                <a:lnTo>
                  <a:pt x="783" y="6541"/>
                </a:lnTo>
                <a:lnTo>
                  <a:pt x="470" y="7530"/>
                </a:lnTo>
                <a:lnTo>
                  <a:pt x="157" y="8594"/>
                </a:lnTo>
                <a:lnTo>
                  <a:pt x="0" y="9735"/>
                </a:lnTo>
                <a:lnTo>
                  <a:pt x="0" y="11865"/>
                </a:lnTo>
                <a:lnTo>
                  <a:pt x="157" y="13006"/>
                </a:lnTo>
                <a:lnTo>
                  <a:pt x="470" y="14070"/>
                </a:lnTo>
                <a:lnTo>
                  <a:pt x="783" y="15059"/>
                </a:lnTo>
                <a:lnTo>
                  <a:pt x="1722" y="16885"/>
                </a:lnTo>
                <a:lnTo>
                  <a:pt x="2426" y="17721"/>
                </a:lnTo>
                <a:lnTo>
                  <a:pt x="3209" y="18482"/>
                </a:lnTo>
                <a:lnTo>
                  <a:pt x="3991" y="19090"/>
                </a:lnTo>
                <a:lnTo>
                  <a:pt x="4852" y="19775"/>
                </a:lnTo>
                <a:lnTo>
                  <a:pt x="5791" y="20383"/>
                </a:lnTo>
                <a:lnTo>
                  <a:pt x="6730" y="20839"/>
                </a:lnTo>
                <a:lnTo>
                  <a:pt x="7748" y="21144"/>
                </a:lnTo>
                <a:lnTo>
                  <a:pt x="8843" y="21448"/>
                </a:lnTo>
                <a:lnTo>
                  <a:pt x="10017" y="21600"/>
                </a:lnTo>
                <a:lnTo>
                  <a:pt x="11113" y="21600"/>
                </a:ln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19" name="图形"/>
          <p:cNvSpPr/>
          <p:nvPr/>
        </p:nvSpPr>
        <p:spPr xmlns:m="http://schemas.openxmlformats.org/officeDocument/2006/math" xmlns:a14="http://schemas.microsoft.com/office/drawing/2010/main">
          <a:xfrm>
            <a:off x="3093943" y="4765490"/>
            <a:ext cx="132873" cy="884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2512"/>
                </a:moveTo>
                <a:lnTo>
                  <a:pt x="21502" y="10602"/>
                </a:lnTo>
                <a:lnTo>
                  <a:pt x="21158" y="8824"/>
                </a:lnTo>
                <a:lnTo>
                  <a:pt x="20864" y="7046"/>
                </a:lnTo>
                <a:lnTo>
                  <a:pt x="20275" y="5466"/>
                </a:lnTo>
                <a:lnTo>
                  <a:pt x="19636" y="3820"/>
                </a:lnTo>
                <a:lnTo>
                  <a:pt x="18851" y="2437"/>
                </a:lnTo>
                <a:lnTo>
                  <a:pt x="17918" y="1054"/>
                </a:lnTo>
                <a:lnTo>
                  <a:pt x="17035" y="0"/>
                </a:lnTo>
                <a:lnTo>
                  <a:pt x="10751" y="6915"/>
                </a:lnTo>
                <a:lnTo>
                  <a:pt x="4565" y="0"/>
                </a:lnTo>
                <a:lnTo>
                  <a:pt x="3535" y="1054"/>
                </a:lnTo>
                <a:lnTo>
                  <a:pt x="2651" y="2437"/>
                </a:lnTo>
                <a:lnTo>
                  <a:pt x="1915" y="3820"/>
                </a:lnTo>
                <a:lnTo>
                  <a:pt x="1227" y="5466"/>
                </a:lnTo>
                <a:lnTo>
                  <a:pt x="736" y="7046"/>
                </a:lnTo>
                <a:lnTo>
                  <a:pt x="295" y="8824"/>
                </a:lnTo>
                <a:lnTo>
                  <a:pt x="98" y="10602"/>
                </a:lnTo>
                <a:lnTo>
                  <a:pt x="0" y="12512"/>
                </a:lnTo>
                <a:lnTo>
                  <a:pt x="0" y="13566"/>
                </a:lnTo>
                <a:lnTo>
                  <a:pt x="295" y="14685"/>
                </a:lnTo>
                <a:lnTo>
                  <a:pt x="638" y="15607"/>
                </a:lnTo>
                <a:lnTo>
                  <a:pt x="1129" y="16463"/>
                </a:lnTo>
                <a:lnTo>
                  <a:pt x="1718" y="17254"/>
                </a:lnTo>
                <a:lnTo>
                  <a:pt x="2356" y="18044"/>
                </a:lnTo>
                <a:lnTo>
                  <a:pt x="3142" y="18768"/>
                </a:lnTo>
                <a:lnTo>
                  <a:pt x="3878" y="19295"/>
                </a:lnTo>
                <a:lnTo>
                  <a:pt x="4762" y="19822"/>
                </a:lnTo>
                <a:lnTo>
                  <a:pt x="5695" y="20349"/>
                </a:lnTo>
                <a:lnTo>
                  <a:pt x="7413" y="21073"/>
                </a:lnTo>
                <a:lnTo>
                  <a:pt x="9229" y="21468"/>
                </a:lnTo>
                <a:lnTo>
                  <a:pt x="10751" y="21600"/>
                </a:lnTo>
                <a:lnTo>
                  <a:pt x="12371" y="21468"/>
                </a:lnTo>
                <a:lnTo>
                  <a:pt x="14089" y="21073"/>
                </a:lnTo>
                <a:lnTo>
                  <a:pt x="15905" y="20349"/>
                </a:lnTo>
                <a:lnTo>
                  <a:pt x="16838" y="19822"/>
                </a:lnTo>
                <a:lnTo>
                  <a:pt x="17624" y="19295"/>
                </a:lnTo>
                <a:lnTo>
                  <a:pt x="18458" y="18768"/>
                </a:lnTo>
                <a:lnTo>
                  <a:pt x="19145" y="18044"/>
                </a:lnTo>
                <a:lnTo>
                  <a:pt x="19882" y="17254"/>
                </a:lnTo>
                <a:lnTo>
                  <a:pt x="20373" y="16463"/>
                </a:lnTo>
                <a:lnTo>
                  <a:pt x="20864" y="15607"/>
                </a:lnTo>
                <a:lnTo>
                  <a:pt x="21256" y="14685"/>
                </a:lnTo>
                <a:lnTo>
                  <a:pt x="21502" y="13566"/>
                </a:lnTo>
                <a:lnTo>
                  <a:pt x="21600" y="12512"/>
                </a:ln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20" name="图形"/>
          <p:cNvSpPr/>
          <p:nvPr/>
        </p:nvSpPr>
        <p:spPr xmlns:m="http://schemas.openxmlformats.org/officeDocument/2006/math" xmlns:a14="http://schemas.microsoft.com/office/drawing/2010/main">
          <a:xfrm>
            <a:off x="3113270" y="4675964"/>
            <a:ext cx="93615" cy="827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9755" y="0"/>
                </a:lnTo>
                <a:lnTo>
                  <a:pt x="8640" y="141"/>
                </a:lnTo>
                <a:lnTo>
                  <a:pt x="7595" y="422"/>
                </a:lnTo>
                <a:lnTo>
                  <a:pt x="6619" y="844"/>
                </a:lnTo>
                <a:lnTo>
                  <a:pt x="5783" y="1266"/>
                </a:lnTo>
                <a:lnTo>
                  <a:pt x="4738" y="1900"/>
                </a:lnTo>
                <a:lnTo>
                  <a:pt x="4041" y="2463"/>
                </a:lnTo>
                <a:lnTo>
                  <a:pt x="3205" y="3166"/>
                </a:lnTo>
                <a:lnTo>
                  <a:pt x="2439" y="3940"/>
                </a:lnTo>
                <a:lnTo>
                  <a:pt x="1324" y="5629"/>
                </a:lnTo>
                <a:lnTo>
                  <a:pt x="906" y="6684"/>
                </a:lnTo>
                <a:lnTo>
                  <a:pt x="557" y="7528"/>
                </a:lnTo>
                <a:lnTo>
                  <a:pt x="279" y="8724"/>
                </a:lnTo>
                <a:lnTo>
                  <a:pt x="139" y="9709"/>
                </a:lnTo>
                <a:lnTo>
                  <a:pt x="0" y="10906"/>
                </a:lnTo>
                <a:lnTo>
                  <a:pt x="139" y="11891"/>
                </a:lnTo>
                <a:lnTo>
                  <a:pt x="279" y="13016"/>
                </a:lnTo>
                <a:lnTo>
                  <a:pt x="557" y="14072"/>
                </a:lnTo>
                <a:lnTo>
                  <a:pt x="906" y="15057"/>
                </a:lnTo>
                <a:lnTo>
                  <a:pt x="1324" y="15971"/>
                </a:lnTo>
                <a:lnTo>
                  <a:pt x="1881" y="16956"/>
                </a:lnTo>
                <a:lnTo>
                  <a:pt x="2439" y="17730"/>
                </a:lnTo>
                <a:lnTo>
                  <a:pt x="3205" y="18575"/>
                </a:lnTo>
                <a:lnTo>
                  <a:pt x="4041" y="19137"/>
                </a:lnTo>
                <a:lnTo>
                  <a:pt x="4738" y="19841"/>
                </a:lnTo>
                <a:lnTo>
                  <a:pt x="5783" y="20334"/>
                </a:lnTo>
                <a:lnTo>
                  <a:pt x="6619" y="20896"/>
                </a:lnTo>
                <a:lnTo>
                  <a:pt x="7595" y="21178"/>
                </a:lnTo>
                <a:lnTo>
                  <a:pt x="8640" y="21459"/>
                </a:lnTo>
                <a:lnTo>
                  <a:pt x="9755" y="21600"/>
                </a:lnTo>
                <a:lnTo>
                  <a:pt x="11915" y="21600"/>
                </a:lnTo>
                <a:lnTo>
                  <a:pt x="12960" y="21459"/>
                </a:lnTo>
                <a:lnTo>
                  <a:pt x="13935" y="21178"/>
                </a:lnTo>
                <a:lnTo>
                  <a:pt x="14981" y="20896"/>
                </a:lnTo>
                <a:lnTo>
                  <a:pt x="15956" y="20334"/>
                </a:lnTo>
                <a:lnTo>
                  <a:pt x="16862" y="19841"/>
                </a:lnTo>
                <a:lnTo>
                  <a:pt x="17698" y="19137"/>
                </a:lnTo>
                <a:lnTo>
                  <a:pt x="18395" y="18575"/>
                </a:lnTo>
                <a:lnTo>
                  <a:pt x="19161" y="17730"/>
                </a:lnTo>
                <a:lnTo>
                  <a:pt x="19719" y="16956"/>
                </a:lnTo>
                <a:lnTo>
                  <a:pt x="20276" y="15971"/>
                </a:lnTo>
                <a:lnTo>
                  <a:pt x="20694" y="15057"/>
                </a:lnTo>
                <a:lnTo>
                  <a:pt x="21112" y="14072"/>
                </a:lnTo>
                <a:lnTo>
                  <a:pt x="21321" y="13016"/>
                </a:lnTo>
                <a:lnTo>
                  <a:pt x="21600" y="11891"/>
                </a:lnTo>
                <a:lnTo>
                  <a:pt x="21600" y="9709"/>
                </a:lnTo>
                <a:lnTo>
                  <a:pt x="21321" y="8724"/>
                </a:lnTo>
                <a:lnTo>
                  <a:pt x="21112" y="7528"/>
                </a:lnTo>
                <a:lnTo>
                  <a:pt x="20694" y="6684"/>
                </a:lnTo>
                <a:lnTo>
                  <a:pt x="20276" y="5629"/>
                </a:lnTo>
                <a:lnTo>
                  <a:pt x="19161" y="3940"/>
                </a:lnTo>
                <a:lnTo>
                  <a:pt x="18395" y="3166"/>
                </a:lnTo>
                <a:lnTo>
                  <a:pt x="17698" y="2463"/>
                </a:lnTo>
                <a:lnTo>
                  <a:pt x="16862" y="1900"/>
                </a:lnTo>
                <a:lnTo>
                  <a:pt x="15956" y="1266"/>
                </a:lnTo>
                <a:lnTo>
                  <a:pt x="14981" y="844"/>
                </a:lnTo>
                <a:lnTo>
                  <a:pt x="13935" y="422"/>
                </a:lnTo>
                <a:lnTo>
                  <a:pt x="12960" y="141"/>
                </a:lnTo>
                <a:lnTo>
                  <a:pt x="11915" y="0"/>
                </a:lnTo>
                <a:lnTo>
                  <a:pt x="10800" y="0"/>
                </a:ln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pic>
        <p:nvPicPr>
          <p:cNvPr id="21" name="图形" descr="cc43ea53a92cf935fa80d63d91f2b4e55f28b2ef.png"/>
          <p:cNvPicPr>
            <a:picLocks noChangeAspect="1"/>
          </p:cNvPicPr>
          <p:nvPr/>
        </p:nvPicPr>
        <p:blipFill>
          <a:blip r:embed="rId3"/>
          <a:srcRect/>
          <a:stretch>
            <a:fillRect/>
          </a:stretch>
        </p:blipFill>
        <p:spPr>
          <a:xfrm>
            <a:off x="688974" y="4612639"/>
            <a:ext cx="290831" cy="290830"/>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第一PPT，www.1ppt.com">
  <a:themeElements>
    <a:clrScheme name="第一PPT，www.1ppt.com">
      <a:dk1>
        <a:srgbClr val="000000"/>
      </a:dk1>
      <a:lt1>
        <a:srgbClr val="FFFFFF"/>
      </a:lt1>
      <a:dk2>
        <a:srgbClr val="A7A7A7"/>
      </a:dk2>
      <a:lt2>
        <a:srgbClr val="535353"/>
      </a:lt2>
      <a:accent1>
        <a:srgbClr val="007FF6"/>
      </a:accent1>
      <a:accent2>
        <a:srgbClr val="41A3FF"/>
      </a:accent2>
      <a:accent3>
        <a:srgbClr val="00478A"/>
      </a:accent3>
      <a:accent4>
        <a:srgbClr val="245B8F"/>
      </a:accent4>
      <a:accent5>
        <a:srgbClr val="00376A"/>
      </a:accent5>
      <a:accent6>
        <a:srgbClr val="1C466E"/>
      </a:accent6>
      <a:hlink>
        <a:srgbClr val="0000FF"/>
      </a:hlink>
      <a:folHlink>
        <a:srgbClr val="FF00FF"/>
      </a:folHlink>
    </a:clrScheme>
    <a:fontScheme name="第一PPT，www.1ppt.com">
      <a:majorFont>
        <a:latin typeface="Helvetica"/>
        <a:ea typeface="Helvetica"/>
        <a:cs typeface="Helvetica"/>
      </a:majorFont>
      <a:minorFont>
        <a:latin typeface="思源黑体 CN Normal"/>
        <a:ea typeface="思源黑体 CN Normal"/>
        <a:cs typeface="思源黑体 CN Normal"/>
      </a:minorFont>
    </a:fontScheme>
    <a:fmtScheme name="第一PPT，www.1ppt.co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第一PPT，www.1ppt.com">
  <a:themeElements>
    <a:clrScheme name="第一PPT，www.1ppt.com">
      <a:dk1>
        <a:srgbClr val="000000"/>
      </a:dk1>
      <a:lt1>
        <a:srgbClr val="FFFFFF"/>
      </a:lt1>
      <a:dk2>
        <a:srgbClr val="A7A7A7"/>
      </a:dk2>
      <a:lt2>
        <a:srgbClr val="535353"/>
      </a:lt2>
      <a:accent1>
        <a:srgbClr val="007FF6"/>
      </a:accent1>
      <a:accent2>
        <a:srgbClr val="41A3FF"/>
      </a:accent2>
      <a:accent3>
        <a:srgbClr val="00478A"/>
      </a:accent3>
      <a:accent4>
        <a:srgbClr val="245B8F"/>
      </a:accent4>
      <a:accent5>
        <a:srgbClr val="00376A"/>
      </a:accent5>
      <a:accent6>
        <a:srgbClr val="1C466E"/>
      </a:accent6>
      <a:hlink>
        <a:srgbClr val="0000FF"/>
      </a:hlink>
      <a:folHlink>
        <a:srgbClr val="FF00FF"/>
      </a:folHlink>
    </a:clrScheme>
    <a:fontScheme name="第一PPT，www.1ppt.com">
      <a:majorFont>
        <a:latin typeface="Helvetica"/>
        <a:ea typeface="Helvetica"/>
        <a:cs typeface="Helvetica"/>
      </a:majorFont>
      <a:minorFont>
        <a:latin typeface="思源黑体 CN Normal"/>
        <a:ea typeface="思源黑体 CN Normal"/>
        <a:cs typeface="思源黑体 CN Normal"/>
      </a:minorFont>
    </a:fontScheme>
    <a:fmtScheme name="第一PPT，www.1ppt.co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cp:lastModifiedBy>PPTAgent</cp:lastModifiedBy>
</cp:coreProperties>
</file>