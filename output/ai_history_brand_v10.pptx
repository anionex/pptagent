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1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E0FF"/>
          </a:solidFill>
        </a:fill>
      </a:tcStyle>
    </a:wholeTbl>
    <a:band2H>
      <a:tcTxStyle b="def" i="def"/>
      <a:tcStyle>
        <a:tcBdr/>
        <a:fill>
          <a:solidFill>
            <a:srgbClr val="E8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" name="Shape 7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思源黑体 CN Normal"/>
      </a:defRPr>
    </a:lvl1pPr>
    <a:lvl2pPr indent="228600" latinLnBrk="0">
      <a:defRPr sz="1200">
        <a:latin typeface="+mn-lt"/>
        <a:ea typeface="+mn-ea"/>
        <a:cs typeface="+mn-cs"/>
        <a:sym typeface="思源黑体 CN Normal"/>
      </a:defRPr>
    </a:lvl2pPr>
    <a:lvl3pPr indent="457200" latinLnBrk="0">
      <a:defRPr sz="1200">
        <a:latin typeface="+mn-lt"/>
        <a:ea typeface="+mn-ea"/>
        <a:cs typeface="+mn-cs"/>
        <a:sym typeface="思源黑体 CN Normal"/>
      </a:defRPr>
    </a:lvl3pPr>
    <a:lvl4pPr indent="685800" latinLnBrk="0">
      <a:defRPr sz="1200">
        <a:latin typeface="+mn-lt"/>
        <a:ea typeface="+mn-ea"/>
        <a:cs typeface="+mn-cs"/>
        <a:sym typeface="思源黑体 CN Normal"/>
      </a:defRPr>
    </a:lvl4pPr>
    <a:lvl5pPr indent="914400" latinLnBrk="0">
      <a:defRPr sz="1200">
        <a:latin typeface="+mn-lt"/>
        <a:ea typeface="+mn-ea"/>
        <a:cs typeface="+mn-cs"/>
        <a:sym typeface="思源黑体 CN Normal"/>
      </a:defRPr>
    </a:lvl5pPr>
    <a:lvl6pPr indent="1143000" latinLnBrk="0">
      <a:defRPr sz="1200">
        <a:latin typeface="+mn-lt"/>
        <a:ea typeface="+mn-ea"/>
        <a:cs typeface="+mn-cs"/>
        <a:sym typeface="思源黑体 CN Normal"/>
      </a:defRPr>
    </a:lvl6pPr>
    <a:lvl7pPr indent="1371600" latinLnBrk="0">
      <a:defRPr sz="1200">
        <a:latin typeface="+mn-lt"/>
        <a:ea typeface="+mn-ea"/>
        <a:cs typeface="+mn-cs"/>
        <a:sym typeface="思源黑体 CN Normal"/>
      </a:defRPr>
    </a:lvl7pPr>
    <a:lvl8pPr indent="1600200" latinLnBrk="0">
      <a:defRPr sz="1200">
        <a:latin typeface="+mn-lt"/>
        <a:ea typeface="+mn-ea"/>
        <a:cs typeface="+mn-cs"/>
        <a:sym typeface="思源黑体 CN Normal"/>
      </a:defRPr>
    </a:lvl8pPr>
    <a:lvl9pPr indent="1828800" latinLnBrk="0">
      <a:defRPr sz="1200">
        <a:latin typeface="+mn-lt"/>
        <a:ea typeface="+mn-ea"/>
        <a:cs typeface="+mn-cs"/>
        <a:sym typeface="思源黑体 CN Norm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xiazai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" name="标题文本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7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1pPr>
      <a:lvl2pPr marL="7143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2pPr>
      <a:lvl3pPr marL="11715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3pPr>
      <a:lvl4pPr marL="16655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4pPr>
      <a:lvl5pPr marL="21227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5pPr>
      <a:lvl6pPr marL="2514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6pPr>
      <a:lvl7pPr marL="29718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7pPr>
      <a:lvl8pPr marL="34290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8pPr>
      <a:lvl9pPr marL="38862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4700"/>
              <a:t>ARTIFICIAL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发展历程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从1956年Dartmouth会议到大语言模型时代，探索AI六大发展纪元。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回顾人工智能演进脉络，洞察技术突破背后的驱动力与未来走向。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人工智能发展史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AI研究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2026.04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3b8add963136f361ab5c80602bd6fe9fa41541a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4731"/>
            <a:ext cx="12192000" cy="6832601"/>
          </a:xfrm>
          <a:prstGeom prst="rect">
            <a:avLst/>
          </a:prstGeom>
        </p:spPr>
      </p:pic>
      <p:sp>
        <p:nvSpPr>
          <p:cNvPr id="3" name="图形"/>
          <p:cNvSpPr txBox="1"/>
          <p:nvPr/>
        </p:nvSpPr>
        <p:spPr>
          <a:xfrm>
            <a:off x="722630" y="464819"/>
            <a:ext cx="1783715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6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目录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2577465" y="770890"/>
            <a:ext cx="22453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内容概览</a:t>
            </a:r>
          </a:p>
        </p:txBody>
      </p:sp>
      <p:sp>
        <p:nvSpPr>
          <p:cNvPr id="5" name="TextBox 9"/>
          <p:cNvSpPr txBox="1"/>
          <p:nvPr/>
        </p:nvSpPr>
        <p:spPr>
          <a:xfrm>
            <a:off x="95622" y="36763"/>
            <a:ext cx="3622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00">
                <a:noFill/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AI发展历程：从1956年至今</a:t>
            </a: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30752" y="1766646"/>
            <a:ext cx="1839681" cy="12511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666749" y="1982541"/>
            <a:ext cx="2626996" cy="3886129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1167763" y="2335530"/>
            <a:ext cx="2011682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37009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4359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394334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02</a:t>
            </a: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64695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2045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6753223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03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2381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89731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 txBox="1"/>
          <p:nvPr/>
        </p:nvSpPr>
        <p:spPr>
          <a:xfrm>
            <a:off x="947800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04</a:t>
            </a: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969009" y="3248660"/>
            <a:ext cx="1948816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77253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6572249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935037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2" name="图形"/>
          <p:cNvSpPr txBox="1"/>
          <p:nvPr/>
        </p:nvSpPr>
        <p:spPr>
          <a:xfrm>
            <a:off x="98488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AI发展起源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Dartmouth会议里程碑</a:t>
            </a:r>
          </a:p>
        </p:txBody>
      </p:sp>
      <p:sp>
        <p:nvSpPr>
          <p:cNvPr id="23" name="图形"/>
          <p:cNvSpPr txBox="1"/>
          <p:nvPr/>
        </p:nvSpPr>
        <p:spPr>
          <a:xfrm>
            <a:off x="98869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引言</a:t>
            </a:r>
          </a:p>
        </p:txBody>
      </p:sp>
      <p:sp>
        <p:nvSpPr>
          <p:cNvPr id="24" name="图形"/>
          <p:cNvSpPr txBox="1"/>
          <p:nvPr/>
        </p:nvSpPr>
        <p:spPr>
          <a:xfrm>
            <a:off x="382206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AI寒冬成因分析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Deep Blue击败Kasparov</a:t>
            </a:r>
          </a:p>
        </p:txBody>
      </p:sp>
      <p:sp>
        <p:nvSpPr>
          <p:cNvPr id="25" name="图形"/>
          <p:cNvSpPr txBox="1"/>
          <p:nvPr/>
        </p:nvSpPr>
        <p:spPr>
          <a:xfrm>
            <a:off x="382587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AI寒冬</a:t>
            </a:r>
          </a:p>
        </p:txBody>
      </p:sp>
      <p:sp>
        <p:nvSpPr>
          <p:cNvPr id="26" name="图形"/>
          <p:cNvSpPr txBox="1"/>
          <p:nvPr/>
        </p:nvSpPr>
        <p:spPr>
          <a:xfrm>
            <a:off x="662241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机器学习范式转变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数据驱动时代突破</a:t>
            </a:r>
          </a:p>
        </p:txBody>
      </p:sp>
      <p:sp>
        <p:nvSpPr>
          <p:cNvPr id="27" name="图形"/>
          <p:cNvSpPr txBox="1"/>
          <p:nvPr/>
        </p:nvSpPr>
        <p:spPr>
          <a:xfrm>
            <a:off x="662622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机器学习</a:t>
            </a:r>
          </a:p>
        </p:txBody>
      </p:sp>
      <p:sp>
        <p:nvSpPr>
          <p:cNvPr id="28" name="图形"/>
          <p:cNvSpPr txBox="1"/>
          <p:nvPr/>
        </p:nvSpPr>
        <p:spPr>
          <a:xfrm>
            <a:off x="945959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AlexNet深度学习革命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Transformer架构崛起</a:t>
            </a:r>
          </a:p>
        </p:txBody>
      </p:sp>
      <p:sp>
        <p:nvSpPr>
          <p:cNvPr id="29" name="图形"/>
          <p:cNvSpPr txBox="1"/>
          <p:nvPr/>
        </p:nvSpPr>
        <p:spPr>
          <a:xfrm>
            <a:off x="946340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</a:t>
            </a:r>
          </a:p>
        </p:txBody>
      </p:sp>
      <p:sp>
        <p:nvSpPr>
          <p:cNvPr id="30" name="图形"/>
          <p:cNvSpPr txBox="1"/>
          <p:nvPr/>
        </p:nvSpPr>
        <p:spPr>
          <a:xfrm>
            <a:off x="1225549" y="3305810"/>
            <a:ext cx="138557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引言导论</a:t>
            </a:r>
          </a:p>
        </p:txBody>
      </p:sp>
      <p:sp>
        <p:nvSpPr>
          <p:cNvPr id="31" name="图形"/>
          <p:cNvSpPr txBox="1"/>
          <p:nvPr/>
        </p:nvSpPr>
        <p:spPr>
          <a:xfrm>
            <a:off x="3816349" y="3305810"/>
            <a:ext cx="186563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寒冬与专家系统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6620508" y="3305810"/>
            <a:ext cx="183451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机器学习的兴起</a:t>
            </a:r>
          </a:p>
        </p:txBody>
      </p:sp>
      <p:sp>
        <p:nvSpPr>
          <p:cNvPr id="33" name="图形"/>
          <p:cNvSpPr txBox="1"/>
          <p:nvPr/>
        </p:nvSpPr>
        <p:spPr>
          <a:xfrm>
            <a:off x="9451339" y="3305810"/>
            <a:ext cx="173418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200"/>
              <a:t>大语言模型时代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章节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简介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系统梳理AI从1956年诞生至今七十年的发展历程与演进全景。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涵盖符号主义起源、两次AI寒冬、机器学习与深度学习崛起等关键时代。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AI发展史：从1956到今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发展总览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人工智能发展史跨越七十年（1956-2026），从符号主义起步，历经多次演变，逐步发展至大语言模型时代，致力于探索智能本质，重塑人类文明未来。</a:t>
            </a:r>
          </a:p>
        </p:txBody>
      </p:sp>
      <p:pic>
        <p:nvPicPr>
          <p:cNvPr id="4" name="图形" descr="ai_timelin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2052367"/>
            <a:ext cx="5156200" cy="3210464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七十年间AI实现从理论设想到工业革命的完整蜕变，覆盖六个关键历史时代。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六大时代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符号AI、AI寒冬、机器学习、深度学习、LLM时代依次演进。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核心愿景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AI发展史全景解析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AI起源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1956年达特茅斯会议由McCarthy、Minsky、Shannon等人发起，首次提出"人工智能"术语，标志AI作为独立学科正式诞生。</a:t>
            </a:r>
          </a:p>
        </p:txBody>
      </p:sp>
      <p:pic>
        <p:nvPicPr>
          <p:cNvPr id="4" name="图形" descr="eniac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1687469"/>
            <a:ext cx="5156200" cy="3940260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核心理念：智能特征可被精确描述并由机器模拟，确立符号主义范式。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感知机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1958年Rosenblatt发明感知机，奠定神经网络理论基础。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低谷期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章节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4123"/>
              <a:t>寒冬与专家系统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回顾1970至1997年间AI两次严重寒冬的成因，探讨计算能力不足与资金削减等关键因素。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专家系统证明AI实用价值，1997年Deep Blue战胜卡斯帕罗夫，重燃公众对AI发展的信心。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02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AI Winters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ai_funding_curv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1672233"/>
            <a:ext cx="5562600" cy="3564332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7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1974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1980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1987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1997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第一次AI寒冬：计算能力不足，DARPA削减预算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第二次AI寒冬：专家系统成本高，LISP市场崩溃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IBM深蓝击败卡斯帕罗夫，重燃公众对AI的信心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章节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机器学习崛起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从手工编码规则向数据驱动学习的范式革命，涵盖1997至2012年的关键技术突破。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深入探讨SVM、随机森林、DBN等核心技术，及Netflix、IBM Watson等标志性应用案例。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03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第三部分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technology_evolutio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33394" y="1811762"/>
            <a:ext cx="5257800" cy="348847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616584" y="1948815"/>
            <a:ext cx="3102611" cy="1745616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808080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1099819" y="2465705"/>
            <a:ext cx="2327911" cy="86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机器学习崛起：数据驱动的新范式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42949" y="3844290"/>
            <a:ext cx="2209166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1997—2012：范式革命时代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721359" y="4471034"/>
            <a:ext cx="2209166" cy="9779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从手工编码规则转向数据驱动学习，机器自主从数据中学习成为AI研究新范式。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443864" y="2071370"/>
            <a:ext cx="684531" cy="828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48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❝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8512173" y="1652270"/>
            <a:ext cx="815862" cy="523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SVM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8595359" y="220980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高维空间分类，泛化能力强，广泛用于图像与文本识别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9377044" y="172910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1995年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8512173" y="3023235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RF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8595359" y="3580765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随机森林集成学习，降低过拟合，成工业界主流算法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9377044" y="3100070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2001年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8512173" y="4394200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DBN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8595359" y="495173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深度信念网络逐层预训练，为深度学习复兴奠定基础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9377044" y="447103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2006年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章节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深度学习革命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2012年AlexNet夺冠ImageNet，深度学习正式进入黄金时代，GPU并行计算与ReLU等创新引领变革。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GAN、ResNet、AlphaGo等里程碑相继涌现，深度强化学习在复杂博弈中全面超越人类，奠定现代AI基础。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04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Four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AI发展史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深度学习革命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2012年，AlexNet在ImageNet竞赛中将错误率从26%大幅降至15.3%，正式宣告深度学习时代的到来，开启AI能力跃升的黄金时代。</a:t>
            </a:r>
          </a:p>
        </p:txBody>
      </p:sp>
      <p:pic>
        <p:nvPicPr>
          <p:cNvPr id="4" name="图形" descr="deep_learning_layers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1676400"/>
            <a:ext cx="4851199" cy="3962400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引入ReLU、Dropout及双GPU并行计算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GAN与ResNet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2014年GAN提出；2015年ResNet赢得ImageNet冠军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AlphaGo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章节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4123"/>
              <a:t>大语言模型时代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从2017年Transformer架构的革命性突破，到BERT、GPT系列模型规模的指数级增长，LLM重塑了人工智能的边界。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探讨模型涌现能力（Emergent Abilities）、多模态大模型与具身智能前沿，展望通用人工智能的黎明。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05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Five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llm_growth_performanc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33394" y="2440406"/>
            <a:ext cx="5257800" cy="2231186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616584" y="1948815"/>
            <a:ext cx="3102611" cy="1745616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808080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1099819" y="2465705"/>
            <a:ext cx="2327911" cy="86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大语言模型时代：Transformer革命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42949" y="3844290"/>
            <a:ext cx="2209166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2017年至今的AI新纪元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721359" y="4471034"/>
            <a:ext cx="2209166" cy="9779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Transformer架构的诞生深刻改变了NLP领域，推动模型规模呈指数级增长。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443864" y="2071370"/>
            <a:ext cx="684531" cy="828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48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“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8512173" y="1652270"/>
            <a:ext cx="815862" cy="523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34亿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8595359" y="220980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BERT（2018）双向预训练参数规模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9377044" y="172910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BERT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8512173" y="3023235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175B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8595359" y="3580765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GPT-3涌现few-shot学习能力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9377044" y="3100070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GPT-3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8512173" y="4394200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584"/>
              <a:t>多模态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8595359" y="495173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GPT-4通过律师资格考试，能力突破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9377044" y="447103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GPT-4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llm_growth_performanc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33394" y="2440406"/>
            <a:ext cx="5257800" cy="2231186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616584" y="1948815"/>
            <a:ext cx="3102611" cy="1745616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>
              <a:defRPr>
                <a:solidFill>
                  <a:srgbClr val="808080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1099819" y="2465705"/>
            <a:ext cx="2327911" cy="8636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大语言模型的涌现能力与未来展望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42949" y="3844290"/>
            <a:ext cx="2209166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AGI 的轨迹：洞见与前沿方向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721359" y="4471034"/>
            <a:ext cx="2209166" cy="9779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0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当模型规模突破临界点，思维链推理、上下文学习等能力涌现，AI 从未来承诺变为现实。</a:t>
            </a:r>
          </a:p>
        </p:txBody>
      </p:sp>
      <p:sp>
        <p:nvSpPr>
          <p:cNvPr id="7" name="图形"/>
          <p:cNvSpPr txBox="1"/>
          <p:nvPr/>
        </p:nvSpPr>
        <p:spPr>
          <a:xfrm>
            <a:off x="443864" y="2071370"/>
            <a:ext cx="684531" cy="828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sz="48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❝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8512173" y="1652270"/>
            <a:ext cx="815862" cy="5232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1584"/>
              <a:t>×百万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8595359" y="220980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计算能力从 ENIAC 到 GPU 集群的增长倍数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9377044" y="172910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算力跃升</a:t>
            </a:r>
          </a:p>
        </p:txBody>
      </p:sp>
      <p:sp>
        <p:nvSpPr>
          <p:cNvPr id="11" name="图形"/>
          <p:cNvSpPr txBox="1"/>
          <p:nvPr/>
        </p:nvSpPr>
        <p:spPr>
          <a:xfrm>
            <a:off x="8512173" y="3023235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3+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8595359" y="3580765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涌现能力：思维链、上下文学习、指令遵循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9377044" y="3100070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涌现能力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8512173" y="4394200"/>
            <a:ext cx="815862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tIns="45719" rIns="45719" bIns="45719" numCol="1" anchor="t">
            <a:spAutoFit/>
          </a:bodyPr>
          <a:lstStyle>
            <a:lvl1pPr>
              <a:defRPr sz="28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4项</a:t>
            </a:r>
          </a:p>
        </p:txBody>
      </p:sp>
      <p:sp>
        <p:nvSpPr>
          <p:cNvPr id="15" name="图形"/>
          <p:cNvSpPr txBox="1"/>
          <p:nvPr/>
        </p:nvSpPr>
        <p:spPr>
          <a:xfrm>
            <a:off x="8595359" y="4951730"/>
            <a:ext cx="2889251" cy="5397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多模态、具身智能、神经符号、AI 对齐与安全</a:t>
            </a:r>
          </a:p>
        </p:txBody>
      </p:sp>
      <p:sp>
        <p:nvSpPr>
          <p:cNvPr id="16" name="图形"/>
          <p:cNvSpPr txBox="1"/>
          <p:nvPr/>
        </p:nvSpPr>
        <p:spPr>
          <a:xfrm>
            <a:off x="9377044" y="4471035"/>
            <a:ext cx="2061846" cy="408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前沿方向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谢谢！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感谢聆听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感谢您的关注与参与，希望本次演讲对您有所启发。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如有任何问题或交流意愿，欢迎随时与我们联系探讨。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 发展史回顾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Apr 15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cc43ea53a92cf935fa80d63d91f2b4e55f28b2e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PPTAgent</cp:lastModifiedBy>
</cp:coreProperties>
</file>