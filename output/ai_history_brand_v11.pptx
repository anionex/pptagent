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思源黑体 CN Norm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1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7FB"/>
          </a:solidFill>
        </a:fill>
      </a:tcStyle>
    </a:wholeTbl>
    <a:band2H>
      <a:tcTxStyle b="def" i="def"/>
      <a:tcStyle>
        <a:tcBdr/>
        <a:fill>
          <a:solidFill>
            <a:srgbClr val="E6ECFD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E0FF"/>
          </a:solidFill>
        </a:fill>
      </a:tcStyle>
    </a:wholeTbl>
    <a:band2H>
      <a:tcTxStyle b="def" i="def"/>
      <a:tcStyle>
        <a:tcBdr/>
        <a:fill>
          <a:solidFill>
            <a:srgbClr val="E8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" name="Shape 7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思源黑体 CN Normal"/>
      </a:defRPr>
    </a:lvl1pPr>
    <a:lvl2pPr indent="228600" latinLnBrk="0">
      <a:defRPr sz="1200">
        <a:latin typeface="+mn-lt"/>
        <a:ea typeface="+mn-ea"/>
        <a:cs typeface="+mn-cs"/>
        <a:sym typeface="思源黑体 CN Normal"/>
      </a:defRPr>
    </a:lvl2pPr>
    <a:lvl3pPr indent="457200" latinLnBrk="0">
      <a:defRPr sz="1200">
        <a:latin typeface="+mn-lt"/>
        <a:ea typeface="+mn-ea"/>
        <a:cs typeface="+mn-cs"/>
        <a:sym typeface="思源黑体 CN Normal"/>
      </a:defRPr>
    </a:lvl3pPr>
    <a:lvl4pPr indent="685800" latinLnBrk="0">
      <a:defRPr sz="1200">
        <a:latin typeface="+mn-lt"/>
        <a:ea typeface="+mn-ea"/>
        <a:cs typeface="+mn-cs"/>
        <a:sym typeface="思源黑体 CN Normal"/>
      </a:defRPr>
    </a:lvl4pPr>
    <a:lvl5pPr indent="914400" latinLnBrk="0">
      <a:defRPr sz="1200">
        <a:latin typeface="+mn-lt"/>
        <a:ea typeface="+mn-ea"/>
        <a:cs typeface="+mn-cs"/>
        <a:sym typeface="思源黑体 CN Normal"/>
      </a:defRPr>
    </a:lvl5pPr>
    <a:lvl6pPr indent="1143000" latinLnBrk="0">
      <a:defRPr sz="1200">
        <a:latin typeface="+mn-lt"/>
        <a:ea typeface="+mn-ea"/>
        <a:cs typeface="+mn-cs"/>
        <a:sym typeface="思源黑体 CN Normal"/>
      </a:defRPr>
    </a:lvl6pPr>
    <a:lvl7pPr indent="1371600" latinLnBrk="0">
      <a:defRPr sz="1200">
        <a:latin typeface="+mn-lt"/>
        <a:ea typeface="+mn-ea"/>
        <a:cs typeface="+mn-cs"/>
        <a:sym typeface="思源黑体 CN Normal"/>
      </a:defRPr>
    </a:lvl7pPr>
    <a:lvl8pPr indent="1600200" latinLnBrk="0">
      <a:defRPr sz="1200">
        <a:latin typeface="+mn-lt"/>
        <a:ea typeface="+mn-ea"/>
        <a:cs typeface="+mn-cs"/>
        <a:sym typeface="思源黑体 CN Normal"/>
      </a:defRPr>
    </a:lvl8pPr>
    <a:lvl9pPr indent="1828800" latinLnBrk="0">
      <a:defRPr sz="1200">
        <a:latin typeface="+mn-lt"/>
        <a:ea typeface="+mn-ea"/>
        <a:cs typeface="+mn-cs"/>
        <a:sym typeface="思源黑体 CN Norm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1ppt.com/xiazai/" TargetMode="Externa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2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1" descr="图片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12700"/>
            <a:ext cx="12192000" cy="68326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图形"/>
          <p:cNvSpPr/>
          <p:nvPr/>
        </p:nvSpPr>
        <p:spPr>
          <a:xfrm>
            <a:off x="267652" y="321945"/>
            <a:ext cx="11656696" cy="6214110"/>
          </a:xfrm>
          <a:prstGeom prst="roundRect">
            <a:avLst>
              <a:gd name="adj" fmla="val 4574"/>
            </a:avLst>
          </a:prstGeom>
          <a:gradFill>
            <a:gsLst>
              <a:gs pos="0">
                <a:srgbClr val="E1F2FF"/>
              </a:gs>
              <a:gs pos="100000">
                <a:srgbClr val="FFFFFF"/>
              </a:gs>
            </a:gsLst>
            <a:lin ang="16200000"/>
          </a:gradFill>
          <a:ln w="12700"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313690" y="-12701"/>
            <a:ext cx="1666240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88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6" name="标题文本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标题文本</a:t>
            </a:r>
          </a:p>
        </p:txBody>
      </p:sp>
      <p:sp>
        <p:nvSpPr>
          <p:cNvPr id="7" name="正文级别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" name="幻灯片编号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300" strike="noStrike" sz="3600" u="none">
          <a:solidFill>
            <a:srgbClr val="262626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228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1pPr>
      <a:lvl2pPr marL="7143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2pPr>
      <a:lvl3pPr marL="1171575" marR="0" indent="-257175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●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3pPr>
      <a:lvl4pPr marL="16655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4pPr>
      <a:lvl5pPr marL="2122714" marR="0" indent="-293914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5pPr>
      <a:lvl6pPr marL="25146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6pPr>
      <a:lvl7pPr marL="29718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7pPr>
      <a:lvl8pPr marL="34290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8pPr>
      <a:lvl9pPr marL="3886200" marR="0" indent="-228600" algn="l" defTabSz="9144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150" strike="noStrike" sz="1800" u="none">
          <a:solidFill>
            <a:srgbClr val="595959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思源黑体 CN Norm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4700"/>
              <a:t>AI HISTORY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发展历程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从Dartmouth会议到大语言模型，七十年AI发展历程的关键节点与深远影响。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探索人工智能的演进脉络，洞见未来技术发展趋势与无限可能。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人工智能70年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AI研究院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Apr 15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3b8add963136f361ab5c80602bd6fe9fa41541a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imag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24731"/>
            <a:ext cx="12192000" cy="6832601"/>
          </a:xfrm>
          <a:prstGeom prst="rect">
            <a:avLst/>
          </a:prstGeom>
        </p:spPr>
      </p:pic>
      <p:sp>
        <p:nvSpPr>
          <p:cNvPr id="3" name="图形"/>
          <p:cNvSpPr txBox="1"/>
          <p:nvPr/>
        </p:nvSpPr>
        <p:spPr>
          <a:xfrm>
            <a:off x="722630" y="464819"/>
            <a:ext cx="1783715" cy="1158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6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目录</a:t>
            </a:r>
          </a:p>
        </p:txBody>
      </p:sp>
      <p:sp>
        <p:nvSpPr>
          <p:cNvPr id="4" name="图形"/>
          <p:cNvSpPr txBox="1"/>
          <p:nvPr/>
        </p:nvSpPr>
        <p:spPr>
          <a:xfrm>
            <a:off x="2577465" y="770890"/>
            <a:ext cx="2245361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8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CONTENTS</a:t>
            </a:r>
          </a:p>
        </p:txBody>
      </p:sp>
      <p:sp>
        <p:nvSpPr>
          <p:cNvPr id="5" name="TextBox 9"/>
          <p:cNvSpPr txBox="1"/>
          <p:nvPr/>
        </p:nvSpPr>
        <p:spPr>
          <a:xfrm>
            <a:off x="95622" y="36763"/>
            <a:ext cx="36221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00">
                <a:noFill/>
                <a:latin typeface="微软雅黑"/>
                <a:ea typeface="微软雅黑"/>
                <a:cs typeface="微软雅黑"/>
                <a:sym typeface="微软雅黑"/>
              </a:defRPr>
            </a:pPr>
            <a:r>
              <a:rPr/>
              <a:t>AI发展史 · 2026-04-15</a:t>
            </a: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30752" y="1766646"/>
            <a:ext cx="1839681" cy="12511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666749" y="1982541"/>
            <a:ext cx="2626996" cy="3886129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1167763" y="2335530"/>
            <a:ext cx="2011682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37009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4359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394334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02</a:t>
            </a:r>
          </a:p>
        </p:txBody>
      </p:sp>
      <p:sp>
        <p:nvSpPr>
          <p:cNvPr id="12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64695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62045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" name="图形"/>
          <p:cNvSpPr txBox="1"/>
          <p:nvPr/>
        </p:nvSpPr>
        <p:spPr>
          <a:xfrm>
            <a:off x="6753223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03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 rot="540000">
            <a:off x="9238167" y="1766762"/>
            <a:ext cx="1838192" cy="1251083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007EE8"/>
              </a:gs>
              <a:gs pos="100000">
                <a:schemeClr val="accent2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8973184" y="1982652"/>
            <a:ext cx="2626361" cy="3886017"/>
          </a:xfrm>
          <a:prstGeom prst="roundRect">
            <a:avLst>
              <a:gd name="adj" fmla="val 4574"/>
            </a:avLst>
          </a:prstGeom>
          <a:gradFill flip="none" rotWithShape="1">
            <a:gsLst>
              <a:gs pos="0">
                <a:srgbClr val="E1F2FF"/>
              </a:gs>
              <a:gs pos="100000">
                <a:srgbClr val="FFFFFF"/>
              </a:gs>
            </a:gsLst>
            <a:lin ang="162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50800" dist="38100" dir="5400000">
              <a:srgbClr val="000000">
                <a:alpha val="23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 txBox="1"/>
          <p:nvPr/>
        </p:nvSpPr>
        <p:spPr>
          <a:xfrm>
            <a:off x="9478008" y="2335529"/>
            <a:ext cx="1699261" cy="15519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04</a:t>
            </a: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969009" y="3248660"/>
            <a:ext cx="1948816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77253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6572249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1" name="图形"/>
          <p:cNvSpPr/>
          <p:nvPr/>
        </p:nvSpPr>
        <p:spPr xmlns:m="http://schemas.openxmlformats.org/officeDocument/2006/math" xmlns:a14="http://schemas.microsoft.com/office/drawing/2010/main">
          <a:xfrm>
            <a:off x="9350374" y="3248660"/>
            <a:ext cx="1948815" cy="49403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rgbClr val="3B4B9F">
                <a:alpha val="4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22" name="图形"/>
          <p:cNvSpPr txBox="1"/>
          <p:nvPr/>
        </p:nvSpPr>
        <p:spPr>
          <a:xfrm>
            <a:off x="98488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AI发展历程概述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关键时代与时间线</a:t>
            </a:r>
          </a:p>
        </p:txBody>
      </p:sp>
      <p:sp>
        <p:nvSpPr>
          <p:cNvPr id="23" name="图形"/>
          <p:cNvSpPr txBox="1"/>
          <p:nvPr/>
        </p:nvSpPr>
        <p:spPr>
          <a:xfrm>
            <a:off x="98869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引言</a:t>
            </a:r>
          </a:p>
        </p:txBody>
      </p:sp>
      <p:sp>
        <p:nvSpPr>
          <p:cNvPr id="24" name="图形"/>
          <p:cNvSpPr txBox="1"/>
          <p:nvPr/>
        </p:nvSpPr>
        <p:spPr>
          <a:xfrm>
            <a:off x="3822064" y="4620260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符号主义AI起源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早期里程碑事件</a:t>
            </a:r>
          </a:p>
        </p:txBody>
      </p:sp>
      <p:sp>
        <p:nvSpPr>
          <p:cNvPr id="25" name="图形"/>
          <p:cNvSpPr txBox="1"/>
          <p:nvPr/>
        </p:nvSpPr>
        <p:spPr>
          <a:xfrm>
            <a:off x="3825873" y="3954145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早期AI</a:t>
            </a:r>
          </a:p>
        </p:txBody>
      </p:sp>
      <p:sp>
        <p:nvSpPr>
          <p:cNvPr id="26" name="图形"/>
          <p:cNvSpPr txBox="1"/>
          <p:nvPr/>
        </p:nvSpPr>
        <p:spPr>
          <a:xfrm>
            <a:off x="662241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专家系统的兴衰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两次AI寒冬的成因</a:t>
            </a:r>
          </a:p>
        </p:txBody>
      </p:sp>
      <p:sp>
        <p:nvSpPr>
          <p:cNvPr id="27" name="图形"/>
          <p:cNvSpPr txBox="1"/>
          <p:nvPr/>
        </p:nvSpPr>
        <p:spPr>
          <a:xfrm>
            <a:off x="662622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AI寒冬</a:t>
            </a:r>
          </a:p>
        </p:txBody>
      </p:sp>
      <p:sp>
        <p:nvSpPr>
          <p:cNvPr id="28" name="图形"/>
          <p:cNvSpPr txBox="1"/>
          <p:nvPr/>
        </p:nvSpPr>
        <p:spPr>
          <a:xfrm>
            <a:off x="9459594" y="4570095"/>
            <a:ext cx="1854201" cy="44450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t">
            <a:spAutoFit/>
          </a:bodyPr>
          <a:lstStyle>
            <a:lvl1pPr>
              <a:defRPr/>
            </a:lvl1pPr>
          </a:lstStyle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数据驱动的范式转变</a:t>
            </a:r>
          </a:p>
          <a:p>
            <a:pPr algn="ctr">
              <a:lnSpc>
                <a:spcPct val="150000"/>
              </a:lnSpc>
              <a:defRPr sz="1200"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897"/>
              <a:t>关键技术突破与应用</a:t>
            </a:r>
          </a:p>
        </p:txBody>
      </p:sp>
      <p:sp>
        <p:nvSpPr>
          <p:cNvPr id="29" name="图形"/>
          <p:cNvSpPr txBox="1"/>
          <p:nvPr/>
        </p:nvSpPr>
        <p:spPr>
          <a:xfrm>
            <a:off x="9463403" y="3903980"/>
            <a:ext cx="1846582" cy="7010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b="1" sz="3400">
                <a:solidFill>
                  <a:srgbClr val="404040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2123"/>
              <a:t>机器学习时代</a:t>
            </a:r>
          </a:p>
        </p:txBody>
      </p:sp>
      <p:sp>
        <p:nvSpPr>
          <p:cNvPr id="30" name="图形"/>
          <p:cNvSpPr txBox="1"/>
          <p:nvPr/>
        </p:nvSpPr>
        <p:spPr>
          <a:xfrm>
            <a:off x="1225549" y="3305810"/>
            <a:ext cx="138557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ONE</a:t>
            </a:r>
          </a:p>
        </p:txBody>
      </p:sp>
      <p:sp>
        <p:nvSpPr>
          <p:cNvPr id="31" name="图形"/>
          <p:cNvSpPr txBox="1"/>
          <p:nvPr/>
        </p:nvSpPr>
        <p:spPr>
          <a:xfrm>
            <a:off x="3816349" y="3305810"/>
            <a:ext cx="1865631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TWO</a:t>
            </a:r>
          </a:p>
        </p:txBody>
      </p:sp>
      <p:sp>
        <p:nvSpPr>
          <p:cNvPr id="32" name="图形"/>
          <p:cNvSpPr txBox="1"/>
          <p:nvPr/>
        </p:nvSpPr>
        <p:spPr>
          <a:xfrm>
            <a:off x="6620508" y="3305810"/>
            <a:ext cx="183451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THREE</a:t>
            </a:r>
          </a:p>
        </p:txBody>
      </p:sp>
      <p:sp>
        <p:nvSpPr>
          <p:cNvPr id="33" name="图形"/>
          <p:cNvSpPr txBox="1"/>
          <p:nvPr/>
        </p:nvSpPr>
        <p:spPr>
          <a:xfrm>
            <a:off x="9451339" y="3305810"/>
            <a:ext cx="1734186" cy="396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FOUR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ONE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引言介绍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回顾人工智能自1956年诞生至今七十年的发展历程，梳理各关键时代的演进脉络。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从达特茅斯会议到现代大语言模型，全景呈现AI从理论构想走向通用智能的历史轨迹。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01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AI发展史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七十年征程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从1956年到2026年，人工智能历经七十年发展历程，从早期符号主义逐步演进至当今的大语言模型时代，持续探索智能本质，深刻重塑人类文明的未来走向。</a:t>
            </a:r>
          </a:p>
        </p:txBody>
      </p:sp>
      <p:pic>
        <p:nvPicPr>
          <p:cNvPr id="4" name="图形" descr="ai_timelin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2052367"/>
            <a:ext cx="5156200" cy="3210464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六大关键时代：从符号AI到大语言模型，完整蜕变历程。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关键时代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符号AI、AI寒冬、机器学习、深度学习、LLM时代依次演进。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核心目标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TWO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4123"/>
              <a:t>早期AI与符号主义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回顾1956年达特茅斯会议确立符号主义范式及感知机发明等奠基性里程碑。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探索AI从理论构思起步，经早期计算先驱推动，迈向工业实践的初期历程。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02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TWO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AI发展史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早期AI起源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1956年达特茅斯会议由McCarthy、Minsky、Shannon等人发起，首次提出"人工智能"术语，确立符号主义范式，标志着AI作为独立学科的正式诞生。</a:t>
            </a:r>
          </a:p>
        </p:txBody>
      </p:sp>
      <p:pic>
        <p:nvPicPr>
          <p:cNvPr id="4" name="图形" descr="eniac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687469"/>
            <a:ext cx="5156200" cy="3940260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1958年，Rosenblatt发明感知机，奠定神经网络理论基础。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达特茅斯会议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1956年，AI学科正式诞生，符号主义成为核心研究范式，每个智能方面原则上均可被机器模拟。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感知机局限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III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4123"/>
              <a:t>AI寒冬与专家系统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深入剖析两次AI寒冬的成因，涵盖计算能力不足、资金削减与理论局限等关键因素。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回顾专家系统的实用价值与局限，以及1997年Deep Blue战胜Kasparov的历史性转机。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03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THREE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AI发展史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AI寒冬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专家系统的短暂辉煌证明了AI的实用价值，但两次AI寒冬接踵而至，直到Deep Blue战胜卡斯帕罗夫，才重燃公众信心。</a:t>
            </a:r>
          </a:p>
        </p:txBody>
      </p:sp>
      <p:pic>
        <p:nvPicPr>
          <p:cNvPr id="4" name="图形" descr="ai_funding_curv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2005637"/>
            <a:ext cx="5156200" cy="3303924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第一次寒冬：计算能力不足，DARPA削减预算，组合爆炸难题无解。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两次寒冬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第二次寒冬：专家系统维护成本高，LISP硬件市场崩溃，第五代计划落空。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Deep Blue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FOUR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机器学习时代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1997–2012年，AI从人工规则转向数据驱动，完成范式革命。SVM、随机森林、DBN等关键技术相继突破。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 sz="1119"/>
              <a:t>Netflix推荐系统与IBM Watson成为标志性应用，为深度学习全面复兴奠定坚实基础。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04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FOUR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technology_evolution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1625600"/>
            <a:ext cx="5512702" cy="36576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7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1997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2001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2006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2011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范式革命：从手工编码规则转向数据驱动学习，机器自主从数据中学习成为新范式。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关键突破：SVM高维分类、随机森林集成学习、深度信念网络逐层预训练。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Netflix协同过滤与IBM Watson赢得Jeopardy!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FIVE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深度学习革命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2012年AlexNet横空出世，开创深度学习黄金时代，神经网络迎来全面胜利。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GAN、ResNet、AlphaGo等里程碑成就接连涌现，推动图像识别与强化学习全面爆发。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05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FIVE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AI发展史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深度学习革命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2012年AlexNet夺冠ImageNet，错误率降至15.3%，深度学习时代到来；此后GAN、ResNet、AlphaGo等相继突破，开启神经网络黄金时代。</a:t>
            </a:r>
          </a:p>
        </p:txBody>
      </p:sp>
      <p:pic>
        <p:nvPicPr>
          <p:cNvPr id="4" name="图形" descr="deep_learning_layers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1676400"/>
            <a:ext cx="4851199" cy="3962400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AlexNet引入ReLU、Dropout及GPU并行计算，奠定深度学习基础技术框架。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AlexNet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2014年GAN提出，2015年ResNet达152层，2016年AlphaGo战胜李世石。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黄金时代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078a9cc3774e889b39144edb12e9acd2cf5a0859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flipH="1">
            <a:off x="0" y="-38735"/>
            <a:ext cx="12192000" cy="6896735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 flipH="1">
            <a:off x="-1" y="-26704"/>
            <a:ext cx="12192636" cy="6858001"/>
          </a:xfrm>
          <a:prstGeom prst="rect">
            <a:avLst/>
          </a:prstGeom>
          <a:gradFill>
            <a:gsLst>
              <a:gs pos="0">
                <a:srgbClr val="F2F6FE"/>
              </a:gs>
              <a:gs pos="47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8037829" y="1853564"/>
            <a:ext cx="3493770" cy="184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defRPr b="1" sz="115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11169"/>
              <a:t>SIX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5264150" y="2703195"/>
            <a:ext cx="6296025" cy="1361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just">
              <a:defRPr b="1" sz="72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 sz="4123"/>
              <a:t>大语言模型时代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317490" y="3714750"/>
            <a:ext cx="6502401" cy="739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从2017年Transformer架构诞生，到GPT-4等大模型的爆发式演进，通用智能的黎明已然到来。</a:t>
            </a:r>
          </a:p>
          <a:p>
            <a:pPr>
              <a:lnSpc>
                <a:spcPct val="200000"/>
              </a:lnSpc>
              <a:defRPr sz="1400">
                <a:solidFill>
                  <a:srgbClr val="262626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探索模型规模指数级增长、涌现能力的突破，以及多模态与AI安全等未来前沿方向。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7016115" y="5141595"/>
            <a:ext cx="4533901" cy="103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3" y="0"/>
                </a:lnTo>
                <a:lnTo>
                  <a:pt x="21600" y="0"/>
                </a:lnTo>
                <a:lnTo>
                  <a:pt x="21477" y="21600"/>
                </a:lnTo>
                <a:close/>
              </a:path>
            </a:pathLst>
          </a:custGeom>
          <a:gradFill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3891915" y="151129"/>
            <a:ext cx="4828540" cy="373634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 b="1" sz="239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22630"/>
              <a:t>06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4286249" y="1922143"/>
            <a:ext cx="2729866" cy="741681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">
                <a:srgbClr val="007EE8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63500" dist="0" dir="0">
              <a:schemeClr val="accent1">
                <a:alpha val="40000"/>
              </a:scheme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b="1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</a:p>
        </p:txBody>
      </p:sp>
      <p:sp>
        <p:nvSpPr>
          <p:cNvPr id="10" name="图形"/>
          <p:cNvSpPr txBox="1"/>
          <p:nvPr/>
        </p:nvSpPr>
        <p:spPr>
          <a:xfrm>
            <a:off x="4641214" y="2060574"/>
            <a:ext cx="1991996" cy="5232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/>
              <a:t>PART SIX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llm_growth_performanc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2274134"/>
            <a:ext cx="5562600" cy="236053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1386204" y="3837305"/>
            <a:ext cx="67500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75" y="21600"/>
                </a:moveTo>
                <a:lnTo>
                  <a:pt x="4825" y="21600"/>
                </a:lnTo>
                <a:lnTo>
                  <a:pt x="4825" y="5067"/>
                </a:lnTo>
                <a:lnTo>
                  <a:pt x="0" y="5067"/>
                </a:lnTo>
                <a:lnTo>
                  <a:pt x="10667" y="0"/>
                </a:lnTo>
                <a:lnTo>
                  <a:pt x="21600" y="5067"/>
                </a:lnTo>
                <a:lnTo>
                  <a:pt x="16775" y="5067"/>
                </a:lnTo>
                <a:lnTo>
                  <a:pt x="16775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4" name="图形"/>
          <p:cNvSpPr/>
          <p:nvPr/>
        </p:nvSpPr>
        <p:spPr xmlns:m="http://schemas.openxmlformats.org/officeDocument/2006/math" xmlns:a14="http://schemas.microsoft.com/office/drawing/2010/main">
          <a:xfrm>
            <a:off x="2771139" y="2990849"/>
            <a:ext cx="675006" cy="12496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5835"/>
                </a:lnTo>
                <a:lnTo>
                  <a:pt x="21600" y="15835"/>
                </a:lnTo>
                <a:lnTo>
                  <a:pt x="10933" y="21600"/>
                </a:lnTo>
                <a:lnTo>
                  <a:pt x="0" y="15835"/>
                </a:lnTo>
                <a:lnTo>
                  <a:pt x="5090" y="15835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5" name="图形"/>
          <p:cNvSpPr/>
          <p:nvPr/>
        </p:nvSpPr>
        <p:spPr xmlns:m="http://schemas.openxmlformats.org/officeDocument/2006/math" xmlns:a14="http://schemas.microsoft.com/office/drawing/2010/main">
          <a:xfrm>
            <a:off x="4153534" y="3837305"/>
            <a:ext cx="673736" cy="14566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544" y="21600"/>
                </a:moveTo>
                <a:lnTo>
                  <a:pt x="4834" y="21600"/>
                </a:lnTo>
                <a:lnTo>
                  <a:pt x="4834" y="5067"/>
                </a:lnTo>
                <a:lnTo>
                  <a:pt x="0" y="5067"/>
                </a:lnTo>
                <a:lnTo>
                  <a:pt x="10689" y="0"/>
                </a:lnTo>
                <a:lnTo>
                  <a:pt x="21600" y="5067"/>
                </a:lnTo>
                <a:lnTo>
                  <a:pt x="16544" y="5067"/>
                </a:lnTo>
                <a:lnTo>
                  <a:pt x="16544" y="2160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6" name="图形"/>
          <p:cNvSpPr/>
          <p:nvPr/>
        </p:nvSpPr>
        <p:spPr xmlns:m="http://schemas.openxmlformats.org/officeDocument/2006/math" xmlns:a14="http://schemas.microsoft.com/office/drawing/2010/main">
          <a:xfrm>
            <a:off x="5538469" y="2527935"/>
            <a:ext cx="675006" cy="16630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5090" y="0"/>
                </a:moveTo>
                <a:lnTo>
                  <a:pt x="16775" y="0"/>
                </a:lnTo>
                <a:lnTo>
                  <a:pt x="16775" y="17161"/>
                </a:lnTo>
                <a:lnTo>
                  <a:pt x="21600" y="17161"/>
                </a:lnTo>
                <a:lnTo>
                  <a:pt x="10933" y="21600"/>
                </a:lnTo>
                <a:lnTo>
                  <a:pt x="0" y="17161"/>
                </a:lnTo>
                <a:lnTo>
                  <a:pt x="5090" y="17161"/>
                </a:lnTo>
                <a:lnTo>
                  <a:pt x="5090" y="0"/>
                </a:lnTo>
                <a:close/>
              </a:path>
            </a:pathLst>
          </a:custGeom>
          <a:solidFill>
            <a:srgbClr val="F2F2F2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 algn="just">
              <a:lnSpc>
                <a:spcPct val="120000"/>
              </a:lnSpc>
              <a:defRPr sz="800"/>
            </a:pPr>
          </a:p>
        </p:txBody>
      </p:sp>
      <p:sp>
        <p:nvSpPr>
          <p:cNvPr id="7" name="图形"/>
          <p:cNvSpPr txBox="1"/>
          <p:nvPr/>
        </p:nvSpPr>
        <p:spPr>
          <a:xfrm>
            <a:off x="548512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2017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409892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2020</a:t>
            </a:r>
          </a:p>
        </p:txBody>
      </p:sp>
      <p:sp>
        <p:nvSpPr>
          <p:cNvPr id="9" name="图形"/>
          <p:cNvSpPr txBox="1"/>
          <p:nvPr/>
        </p:nvSpPr>
        <p:spPr>
          <a:xfrm>
            <a:off x="2717799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2022</a:t>
            </a:r>
          </a:p>
        </p:txBody>
      </p:sp>
      <p:sp>
        <p:nvSpPr>
          <p:cNvPr id="10" name="图形"/>
          <p:cNvSpPr txBox="1"/>
          <p:nvPr/>
        </p:nvSpPr>
        <p:spPr>
          <a:xfrm>
            <a:off x="1332864" y="5354320"/>
            <a:ext cx="781685" cy="2565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ctr">
              <a:lnSpc>
                <a:spcPct val="120000"/>
              </a:lnSpc>
              <a:defRPr sz="110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r>
              <a:rPr/>
              <a:t>2023</a:t>
            </a:r>
          </a:p>
        </p:txBody>
      </p:sp>
      <p:sp>
        <p:nvSpPr>
          <p:cNvPr id="11" name="图形"/>
          <p:cNvSpPr/>
          <p:nvPr/>
        </p:nvSpPr>
        <p:spPr xmlns:m="http://schemas.openxmlformats.org/officeDocument/2006/math" xmlns:a14="http://schemas.microsoft.com/office/drawing/2010/main">
          <a:xfrm>
            <a:off x="6995159" y="454151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" name="图形"/>
          <p:cNvSpPr txBox="1"/>
          <p:nvPr/>
        </p:nvSpPr>
        <p:spPr>
          <a:xfrm>
            <a:off x="7539989" y="206882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Transformer架构诞生，自注意力机制取代RNN/LSTM，成为现代NLP基础。</a:t>
            </a:r>
          </a:p>
        </p:txBody>
      </p:sp>
      <p:sp>
        <p:nvSpPr>
          <p:cNvPr id="13" name="图形"/>
          <p:cNvSpPr txBox="1"/>
          <p:nvPr/>
        </p:nvSpPr>
        <p:spPr>
          <a:xfrm>
            <a:off x="7539989" y="3241039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GPT-3发布，175B参数，首次涌现few-shot学习能力。</a:t>
            </a:r>
          </a:p>
        </p:txBody>
      </p:sp>
      <p:sp>
        <p:nvSpPr>
          <p:cNvPr id="14" name="图形"/>
          <p:cNvSpPr txBox="1"/>
          <p:nvPr/>
        </p:nvSpPr>
        <p:spPr>
          <a:xfrm>
            <a:off x="7539989" y="4413250"/>
            <a:ext cx="3848735" cy="726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ChatGPT引入RLHF对齐训练；GPT-4具备多模态能力。</a:t>
            </a: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2189479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6995794" y="3386455"/>
            <a:ext cx="447675" cy="447677"/>
          </a:xfrm>
          <a:prstGeom prst="ellipse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7097394" y="4640580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227329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7098664" y="3462019"/>
            <a:ext cx="242571" cy="242571"/>
          </a:xfrm>
          <a:prstGeom prst="ellipse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图形"/>
          <p:cNvSpPr txBox="1"/>
          <p:nvPr/>
        </p:nvSpPr>
        <p:spPr>
          <a:xfrm>
            <a:off x="775335" y="1616074"/>
            <a:ext cx="5361304" cy="14782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defRPr b="1" sz="40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 发展史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 sz="4000">
                <a:solidFill>
                  <a:schemeClr val="accent1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洞见与展望</a:t>
            </a:r>
          </a:p>
        </p:txBody>
      </p:sp>
      <p:sp>
        <p:nvSpPr>
          <p:cNvPr id="3" name="图形"/>
          <p:cNvSpPr txBox="1"/>
          <p:nvPr/>
        </p:nvSpPr>
        <p:spPr>
          <a:xfrm>
            <a:off x="775335" y="3041014"/>
            <a:ext cx="5361939" cy="1107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4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当大模型规模突破临界点，涌现能力随之而来：思维链推理、上下文学习、指令遵循，AI已从未来的承诺成为现在的现实。</a:t>
            </a:r>
          </a:p>
        </p:txBody>
      </p:sp>
      <p:pic>
        <p:nvPicPr>
          <p:cNvPr id="4" name="图形" descr="llm_growth_performanc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182994" y="2563564"/>
            <a:ext cx="5156200" cy="2188071"/>
          </a:xfrm>
          <a:prstGeom prst="rect">
            <a:avLst/>
          </a:prstGeom>
        </p:spPr>
      </p:pic>
      <p:sp>
        <p:nvSpPr>
          <p:cNvPr id="5" name="图形"/>
          <p:cNvSpPr txBox="1"/>
          <p:nvPr/>
        </p:nvSpPr>
        <p:spPr>
          <a:xfrm>
            <a:off x="848359" y="4662169"/>
            <a:ext cx="2112646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技术演进三大驱动力：算力、数据、算法</a:t>
            </a:r>
          </a:p>
        </p:txBody>
      </p:sp>
      <p:sp>
        <p:nvSpPr>
          <p:cNvPr id="6" name="矩形"/>
          <p:cNvSpPr/>
          <p:nvPr/>
        </p:nvSpPr>
        <p:spPr xmlns:m="http://schemas.openxmlformats.org/officeDocument/2006/math" xmlns:a14="http://schemas.microsoft.com/office/drawing/2010/main">
          <a:xfrm>
            <a:off x="900429" y="4328159"/>
            <a:ext cx="1520826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7" name="预设标题文本"/>
          <p:cNvSpPr txBox="1"/>
          <p:nvPr/>
        </p:nvSpPr>
        <p:spPr>
          <a:xfrm>
            <a:off x="900429" y="4354829"/>
            <a:ext cx="1520826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历史教训</a:t>
            </a:r>
          </a:p>
        </p:txBody>
      </p:sp>
      <p:sp>
        <p:nvSpPr>
          <p:cNvPr id="8" name="图形"/>
          <p:cNvSpPr txBox="1"/>
          <p:nvPr/>
        </p:nvSpPr>
        <p:spPr>
          <a:xfrm>
            <a:off x="3380104" y="4662169"/>
            <a:ext cx="2112645" cy="9550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lnSpc>
                <a:spcPct val="150000"/>
              </a:lnSpc>
              <a:defRPr sz="1200">
                <a:solidFill>
                  <a:srgbClr val="404040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lvl1pPr>
          </a:lstStyle>
          <a:p>
            <a:pPr>
              <a:defRPr/>
            </a:pPr>
            <a:r>
              <a:rPr/>
              <a:t>两次AI寒冬：避免过度承诺，跨学科合作是关键</a:t>
            </a:r>
          </a:p>
        </p:txBody>
      </p:sp>
      <p:sp>
        <p:nvSpPr>
          <p:cNvPr id="9" name="矩形"/>
          <p:cNvSpPr/>
          <p:nvPr/>
        </p:nvSpPr>
        <p:spPr xmlns:m="http://schemas.openxmlformats.org/officeDocument/2006/math" xmlns:a14="http://schemas.microsoft.com/office/drawing/2010/main">
          <a:xfrm>
            <a:off x="3432174" y="4328159"/>
            <a:ext cx="1520825" cy="307341"/>
          </a:xfrm>
          <a:prstGeom prst="rect">
            <a:avLst/>
          </a:prstGeom>
          <a:gradFill flip="none" rotWithShape="1">
            <a:gsLst>
              <a:gs pos="15000">
                <a:schemeClr val="accent1"/>
              </a:gs>
              <a:gs pos="100000">
                <a:schemeClr val="accent2"/>
              </a:gs>
            </a:gsLst>
            <a:lin ang="27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400">
                <a:solidFill>
                  <a:srgbClr val="FFFFFF"/>
                </a:solidFill>
                <a:latin typeface="思源黑体旧字形 Light"/>
                <a:ea typeface="思源黑体旧字形 Light"/>
                <a:cs typeface="思源黑体旧字形 Light"/>
                <a:sym typeface="思源黑体旧字形 Light"/>
              </a:defRPr>
            </a:pPr>
          </a:p>
        </p:txBody>
      </p:sp>
      <p:sp>
        <p:nvSpPr>
          <p:cNvPr id="10" name="预设标题文本"/>
          <p:cNvSpPr txBox="1"/>
          <p:nvPr/>
        </p:nvSpPr>
        <p:spPr>
          <a:xfrm>
            <a:off x="3432174" y="4354829"/>
            <a:ext cx="1520825" cy="25400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0" tIns="0" rIns="0" bIns="0" numCol="1" anchor="ctr">
            <a:spAutoFit/>
          </a:bodyPr>
          <a:lstStyle>
            <a:lvl1pPr algn="ctr">
              <a:defRPr sz="1400">
                <a:solidFill>
                  <a:srgbClr val="FFFFFF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未来方向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图形" descr="6b15b2b44a99abb9a7cb4a896242c5aaf878cd05.png"/>
          <p:cNvPicPr>
            <a:picLocks noChangeAspect="1"/>
          </p:cNvPicPr>
          <p:nvPr/>
        </p:nvPicPr>
        <p:blipFill>
          <a:blip r:embed="rId2"/>
          <a:srcRect l="7597" r="7596"/>
          <a:stretch>
            <a:fillRect/>
          </a:stretch>
        </p:blipFill>
        <p:spPr>
          <a:xfrm>
            <a:off x="0" y="12700"/>
            <a:ext cx="12192001" cy="6845300"/>
          </a:xfrm>
          <a:prstGeom prst="rect">
            <a:avLst/>
          </a:prstGeom>
        </p:spPr>
      </p:pic>
      <p:sp>
        <p:nvSpPr>
          <p:cNvPr id="3" name="图形"/>
          <p:cNvSpPr/>
          <p:nvPr/>
        </p:nvSpPr>
        <p:spPr xmlns:m="http://schemas.openxmlformats.org/officeDocument/2006/math" xmlns:a14="http://schemas.microsoft.com/office/drawing/2010/main"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F2F6FE">
                  <a:alpha val="69000"/>
                </a:srgbClr>
              </a:gs>
              <a:gs pos="40000">
                <a:srgbClr val="F2F6FE">
                  <a:alpha val="0"/>
                </a:srgbClr>
              </a:gs>
            </a:gsLst>
            <a:lin ang="5400000"/>
          </a:gradFill>
          <a:ln w="12700">
            <a:miter lim="400000"/>
          </a:ln>
        </p:spPr>
        <p:txBody>
          <a:bodyPr lIns="45719" rIns="45719" anchor="ctr"/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" name="图形"/>
          <p:cNvSpPr txBox="1"/>
          <p:nvPr/>
        </p:nvSpPr>
        <p:spPr>
          <a:xfrm>
            <a:off x="513079" y="763269"/>
            <a:ext cx="6514466" cy="155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9600">
                <a:ln w="31750" cap="flat">
                  <a:solidFill>
                    <a:srgbClr val="79BCFB">
                      <a:alpha val="50000"/>
                    </a:srgbClr>
                  </a:solidFill>
                  <a:prstDash val="solid"/>
                  <a:round/>
                </a:ln>
                <a:noFill/>
                <a:latin typeface="阿里巴巴普惠体 Heavy"/>
                <a:ea typeface="阿里巴巴普惠体 Heavy"/>
                <a:cs typeface="阿里巴巴普惠体 Heavy"/>
                <a:sym typeface="阿里巴巴普惠体 Heavy"/>
              </a:defRPr>
            </a:lvl1pPr>
          </a:lstStyle>
          <a:p>
            <a:pPr>
              <a:defRPr/>
            </a:pPr>
            <a:r>
              <a:rPr sz="9400"/>
              <a:t>THANK YOU</a:t>
            </a:r>
          </a:p>
        </p:txBody>
      </p:sp>
      <p:sp>
        <p:nvSpPr>
          <p:cNvPr id="5" name="图形"/>
          <p:cNvSpPr txBox="1"/>
          <p:nvPr/>
        </p:nvSpPr>
        <p:spPr>
          <a:xfrm>
            <a:off x="429260" y="1379219"/>
            <a:ext cx="8176895" cy="186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10000">
                <a:solidFill>
                  <a:srgbClr val="007EE8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谢谢观看</a:t>
            </a:r>
          </a:p>
        </p:txBody>
      </p:sp>
      <p:sp>
        <p:nvSpPr>
          <p:cNvPr id="6" name="图形"/>
          <p:cNvSpPr txBox="1"/>
          <p:nvPr/>
        </p:nvSpPr>
        <p:spPr>
          <a:xfrm>
            <a:off x="511809" y="3361054"/>
            <a:ext cx="6502401" cy="739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/>
            </a:lvl1pPr>
          </a:lstStyle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感谢您的聆听与参与，希望本次分享对您有所启发。</a:t>
            </a:r>
          </a:p>
          <a:p>
            <a:pPr>
              <a:lnSpc>
                <a:spcPct val="200000"/>
              </a:lnSpc>
              <a:defRPr sz="1400">
                <a:solidFill>
                  <a:srgbClr val="808080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  <a:r>
              <a:rPr/>
              <a:t>如有任何问题或交流，欢迎随时与我们联系探讨。</a:t>
            </a:r>
          </a:p>
        </p:txBody>
      </p:sp>
      <p:sp>
        <p:nvSpPr>
          <p:cNvPr id="7" name="图形"/>
          <p:cNvSpPr/>
          <p:nvPr/>
        </p:nvSpPr>
        <p:spPr xmlns:m="http://schemas.openxmlformats.org/officeDocument/2006/math" xmlns:a14="http://schemas.microsoft.com/office/drawing/2010/main">
          <a:xfrm>
            <a:off x="2371724" y="2976244"/>
            <a:ext cx="4533901" cy="4267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508" y="0"/>
                </a:lnTo>
                <a:lnTo>
                  <a:pt x="21600" y="0"/>
                </a:lnTo>
                <a:lnTo>
                  <a:pt x="21092" y="21600"/>
                </a:lnTo>
                <a:close/>
              </a:path>
            </a:pathLst>
          </a:custGeom>
          <a:gradFill flip="none" rotWithShape="1">
            <a:gsLst>
              <a:gs pos="0">
                <a:srgbClr val="76BEFC">
                  <a:alpha val="46000"/>
                </a:srgbClr>
              </a:gs>
              <a:gs pos="66000">
                <a:srgbClr val="34ACFD">
                  <a:alpha val="0"/>
                </a:srgbClr>
              </a:gs>
            </a:gsLst>
            <a:lin ang="108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" name="图形"/>
          <p:cNvSpPr txBox="1"/>
          <p:nvPr/>
        </p:nvSpPr>
        <p:spPr>
          <a:xfrm>
            <a:off x="553719" y="2908935"/>
            <a:ext cx="6035675" cy="59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sz="2800"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AI发展史回顾</a:t>
            </a:r>
          </a:p>
        </p:txBody>
      </p:sp>
      <p:sp>
        <p:nvSpPr>
          <p:cNvPr id="9" name="图形"/>
          <p:cNvSpPr/>
          <p:nvPr/>
        </p:nvSpPr>
        <p:spPr xmlns:m="http://schemas.openxmlformats.org/officeDocument/2006/math" xmlns:a14="http://schemas.microsoft.com/office/drawing/2010/main">
          <a:xfrm>
            <a:off x="727709" y="4528184"/>
            <a:ext cx="1925321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88" y="0"/>
                </a:lnTo>
                <a:lnTo>
                  <a:pt x="21600" y="0"/>
                </a:lnTo>
                <a:lnTo>
                  <a:pt x="20312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0" name="图形"/>
          <p:cNvSpPr/>
          <p:nvPr/>
        </p:nvSpPr>
        <p:spPr xmlns:m="http://schemas.openxmlformats.org/officeDocument/2006/math" xmlns:a14="http://schemas.microsoft.com/office/drawing/2010/main">
          <a:xfrm>
            <a:off x="3034030" y="4528184"/>
            <a:ext cx="1920875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1291" y="0"/>
                </a:lnTo>
                <a:lnTo>
                  <a:pt x="21600" y="0"/>
                </a:lnTo>
                <a:lnTo>
                  <a:pt x="20309" y="21600"/>
                </a:lnTo>
                <a:close/>
              </a:path>
            </a:pathLst>
          </a:custGeom>
          <a:solidFill>
            <a:srgbClr val="FFFFFF">
              <a:alpha val="21000"/>
            </a:srgbClr>
          </a:solidFill>
          <a:ln w="3175" cap="flat">
            <a:solidFill>
              <a:srgbClr val="9AD6FE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DCFB8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1" name="图形"/>
          <p:cNvSpPr txBox="1"/>
          <p:nvPr/>
        </p:nvSpPr>
        <p:spPr>
          <a:xfrm>
            <a:off x="1219199" y="4568189"/>
            <a:ext cx="113220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>
              <a:defRPr/>
            </a:lvl1pPr>
          </a:lstStyle>
          <a:p>
            <a: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pPr>
            <a:r>
              <a:rPr/>
              <a:t>AI</a:t>
            </a:r>
          </a:p>
        </p:txBody>
      </p:sp>
      <p:sp>
        <p:nvSpPr>
          <p:cNvPr id="12" name="图形"/>
          <p:cNvSpPr txBox="1"/>
          <p:nvPr/>
        </p:nvSpPr>
        <p:spPr>
          <a:xfrm>
            <a:off x="3438525" y="4587238"/>
            <a:ext cx="1354456" cy="3708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45719" tIns="45719" rIns="45719" bIns="45719" numCol="1" anchor="t">
            <a:spAutoFit/>
          </a:bodyPr>
          <a:lstStyle>
            <a:lvl1pPr algn="just">
              <a:defRPr b="1" sz="1600">
                <a:solidFill>
                  <a:srgbClr val="262626"/>
                </a:solidFill>
                <a:latin typeface="思源宋体 CN Heavy"/>
                <a:ea typeface="思源宋体 CN Heavy"/>
                <a:cs typeface="思源宋体 CN Heavy"/>
                <a:sym typeface="思源宋体 CN Heavy"/>
              </a:defRPr>
            </a:lvl1pPr>
          </a:lstStyle>
          <a:p>
            <a:pPr>
              <a:defRPr/>
            </a:pPr>
            <a:r>
              <a:rPr/>
              <a:t>感谢聆听</a:t>
            </a:r>
          </a:p>
        </p:txBody>
      </p:sp>
      <p:sp>
        <p:nvSpPr>
          <p:cNvPr id="13" name="图形"/>
          <p:cNvSpPr/>
          <p:nvPr/>
        </p:nvSpPr>
        <p:spPr xmlns:m="http://schemas.openxmlformats.org/officeDocument/2006/math" xmlns:a14="http://schemas.microsoft.com/office/drawing/2010/main">
          <a:xfrm>
            <a:off x="535304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4" name="图形"/>
          <p:cNvSpPr/>
          <p:nvPr/>
        </p:nvSpPr>
        <p:spPr xmlns:m="http://schemas.openxmlformats.org/officeDocument/2006/math" xmlns:a14="http://schemas.microsoft.com/office/drawing/2010/main">
          <a:xfrm>
            <a:off x="2840990" y="4528184"/>
            <a:ext cx="636906" cy="4591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3893" y="0"/>
                </a:lnTo>
                <a:lnTo>
                  <a:pt x="21600" y="0"/>
                </a:lnTo>
                <a:lnTo>
                  <a:pt x="17707" y="2160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10800000" scaled="0"/>
          </a:gradFill>
          <a:ln w="12700" cap="flat">
            <a:noFill/>
            <a:miter lim="400000"/>
          </a:ln>
          <a:effectLst>
            <a:outerShdw sx="100000" sy="100000" kx="0" ky="0" algn="b" rotWithShape="0" blurRad="355600" dist="0" dir="0">
              <a:srgbClr val="000000">
                <a:alpha val="10000"/>
              </a:srgbClr>
            </a:outerShdw>
          </a:effectLst>
        </p:spPr>
        <p:txBody>
          <a:bodyPr wrap="square" lIns="45719" tIns="45719" rIns="45719" bIns="45719" numCol="1" anchor="ctr">
            <a:noAutofit/>
          </a:bodyPr>
          <a:lstStyle>
            <a:lvl1pPr>
              <a:defRPr/>
            </a:lvl1pPr>
          </a:lstStyle>
          <a:p>
            <a:pPr algn="ctr">
              <a:defRPr sz="1200">
                <a:solidFill>
                  <a:srgbClr val="FFFFFF"/>
                </a:solidFill>
                <a:latin typeface="思源宋体 SemiBold"/>
                <a:ea typeface="思源宋体 SemiBold"/>
                <a:cs typeface="思源宋体 SemiBold"/>
                <a:sym typeface="思源宋体 SemiBold"/>
              </a:defRPr>
            </a:pPr>
          </a:p>
        </p:txBody>
      </p:sp>
      <p:sp>
        <p:nvSpPr>
          <p:cNvPr id="15" name="图形"/>
          <p:cNvSpPr/>
          <p:nvPr/>
        </p:nvSpPr>
        <p:spPr xmlns:m="http://schemas.openxmlformats.org/officeDocument/2006/math" xmlns:a14="http://schemas.microsoft.com/office/drawing/2010/main">
          <a:xfrm>
            <a:off x="3205676" y="4740412"/>
            <a:ext cx="102675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200" y="0"/>
                </a:moveTo>
                <a:lnTo>
                  <a:pt x="8640" y="7104"/>
                </a:lnTo>
                <a:lnTo>
                  <a:pt x="1779" y="574"/>
                </a:lnTo>
                <a:lnTo>
                  <a:pt x="889" y="2225"/>
                </a:lnTo>
                <a:lnTo>
                  <a:pt x="0" y="3588"/>
                </a:lnTo>
                <a:lnTo>
                  <a:pt x="1525" y="5023"/>
                </a:lnTo>
                <a:lnTo>
                  <a:pt x="2986" y="6817"/>
                </a:lnTo>
                <a:lnTo>
                  <a:pt x="4320" y="8755"/>
                </a:lnTo>
                <a:lnTo>
                  <a:pt x="5336" y="10692"/>
                </a:lnTo>
                <a:lnTo>
                  <a:pt x="6289" y="12917"/>
                </a:lnTo>
                <a:lnTo>
                  <a:pt x="6925" y="15285"/>
                </a:lnTo>
                <a:lnTo>
                  <a:pt x="7306" y="17797"/>
                </a:lnTo>
                <a:lnTo>
                  <a:pt x="7433" y="20308"/>
                </a:lnTo>
                <a:lnTo>
                  <a:pt x="7306" y="21600"/>
                </a:lnTo>
                <a:lnTo>
                  <a:pt x="8640" y="21600"/>
                </a:lnTo>
                <a:lnTo>
                  <a:pt x="10609" y="21456"/>
                </a:lnTo>
                <a:lnTo>
                  <a:pt x="12706" y="21026"/>
                </a:lnTo>
                <a:lnTo>
                  <a:pt x="14802" y="20452"/>
                </a:lnTo>
                <a:lnTo>
                  <a:pt x="16899" y="19375"/>
                </a:lnTo>
                <a:lnTo>
                  <a:pt x="17915" y="18801"/>
                </a:lnTo>
                <a:lnTo>
                  <a:pt x="18741" y="18084"/>
                </a:lnTo>
                <a:lnTo>
                  <a:pt x="19504" y="17366"/>
                </a:lnTo>
                <a:lnTo>
                  <a:pt x="20266" y="16433"/>
                </a:lnTo>
                <a:lnTo>
                  <a:pt x="20838" y="15572"/>
                </a:lnTo>
                <a:lnTo>
                  <a:pt x="21219" y="14639"/>
                </a:lnTo>
                <a:lnTo>
                  <a:pt x="21473" y="13635"/>
                </a:lnTo>
                <a:lnTo>
                  <a:pt x="21600" y="12630"/>
                </a:lnTo>
                <a:lnTo>
                  <a:pt x="21473" y="10692"/>
                </a:lnTo>
                <a:lnTo>
                  <a:pt x="21219" y="8755"/>
                </a:lnTo>
                <a:lnTo>
                  <a:pt x="20838" y="6961"/>
                </a:lnTo>
                <a:lnTo>
                  <a:pt x="20139" y="5310"/>
                </a:lnTo>
                <a:lnTo>
                  <a:pt x="19376" y="3875"/>
                </a:lnTo>
                <a:lnTo>
                  <a:pt x="18424" y="2368"/>
                </a:lnTo>
                <a:lnTo>
                  <a:pt x="17407" y="1076"/>
                </a:lnTo>
                <a:lnTo>
                  <a:pt x="162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6" name="图形"/>
          <p:cNvSpPr/>
          <p:nvPr/>
        </p:nvSpPr>
        <p:spPr xmlns:m="http://schemas.openxmlformats.org/officeDocument/2006/math" xmlns:a14="http://schemas.microsoft.com/office/drawing/2010/main">
          <a:xfrm>
            <a:off x="3206280" y="4657089"/>
            <a:ext cx="83952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3807" y="17113"/>
                </a:moveTo>
                <a:lnTo>
                  <a:pt x="3807" y="18177"/>
                </a:lnTo>
                <a:lnTo>
                  <a:pt x="3652" y="19394"/>
                </a:lnTo>
                <a:lnTo>
                  <a:pt x="5128" y="20383"/>
                </a:lnTo>
                <a:lnTo>
                  <a:pt x="6837" y="20992"/>
                </a:lnTo>
                <a:lnTo>
                  <a:pt x="8624" y="21448"/>
                </a:lnTo>
                <a:lnTo>
                  <a:pt x="10412" y="21600"/>
                </a:lnTo>
                <a:lnTo>
                  <a:pt x="11499" y="21600"/>
                </a:lnTo>
                <a:lnTo>
                  <a:pt x="12665" y="21448"/>
                </a:lnTo>
                <a:lnTo>
                  <a:pt x="13753" y="21144"/>
                </a:lnTo>
                <a:lnTo>
                  <a:pt x="14685" y="20839"/>
                </a:lnTo>
                <a:lnTo>
                  <a:pt x="15695" y="20383"/>
                </a:lnTo>
                <a:lnTo>
                  <a:pt x="16627" y="19775"/>
                </a:lnTo>
                <a:lnTo>
                  <a:pt x="17404" y="19090"/>
                </a:lnTo>
                <a:lnTo>
                  <a:pt x="18259" y="18482"/>
                </a:lnTo>
                <a:lnTo>
                  <a:pt x="19036" y="17721"/>
                </a:lnTo>
                <a:lnTo>
                  <a:pt x="19658" y="16885"/>
                </a:lnTo>
                <a:lnTo>
                  <a:pt x="20201" y="15972"/>
                </a:lnTo>
                <a:lnTo>
                  <a:pt x="20668" y="15059"/>
                </a:lnTo>
                <a:lnTo>
                  <a:pt x="21134" y="14070"/>
                </a:lnTo>
                <a:lnTo>
                  <a:pt x="21289" y="13006"/>
                </a:lnTo>
                <a:lnTo>
                  <a:pt x="21445" y="11865"/>
                </a:lnTo>
                <a:lnTo>
                  <a:pt x="21600" y="10800"/>
                </a:lnTo>
                <a:lnTo>
                  <a:pt x="21445" y="9735"/>
                </a:lnTo>
                <a:lnTo>
                  <a:pt x="21289" y="8594"/>
                </a:lnTo>
                <a:lnTo>
                  <a:pt x="21134" y="7530"/>
                </a:lnTo>
                <a:lnTo>
                  <a:pt x="20668" y="6541"/>
                </a:lnTo>
                <a:lnTo>
                  <a:pt x="20201" y="5628"/>
                </a:lnTo>
                <a:lnTo>
                  <a:pt x="19658" y="4715"/>
                </a:lnTo>
                <a:lnTo>
                  <a:pt x="19036" y="3879"/>
                </a:lnTo>
                <a:lnTo>
                  <a:pt x="18259" y="3118"/>
                </a:lnTo>
                <a:lnTo>
                  <a:pt x="17404" y="2358"/>
                </a:lnTo>
                <a:lnTo>
                  <a:pt x="16627" y="1673"/>
                </a:lnTo>
                <a:lnTo>
                  <a:pt x="15695" y="1217"/>
                </a:lnTo>
                <a:lnTo>
                  <a:pt x="14685" y="761"/>
                </a:lnTo>
                <a:lnTo>
                  <a:pt x="13753" y="456"/>
                </a:lnTo>
                <a:lnTo>
                  <a:pt x="12665" y="152"/>
                </a:lnTo>
                <a:lnTo>
                  <a:pt x="11499" y="0"/>
                </a:lnTo>
                <a:lnTo>
                  <a:pt x="8624" y="0"/>
                </a:lnTo>
                <a:lnTo>
                  <a:pt x="6993" y="456"/>
                </a:lnTo>
                <a:lnTo>
                  <a:pt x="5439" y="1065"/>
                </a:lnTo>
                <a:lnTo>
                  <a:pt x="3963" y="1825"/>
                </a:lnTo>
                <a:lnTo>
                  <a:pt x="2719" y="2966"/>
                </a:lnTo>
                <a:lnTo>
                  <a:pt x="1554" y="4183"/>
                </a:lnTo>
                <a:lnTo>
                  <a:pt x="777" y="5476"/>
                </a:lnTo>
                <a:lnTo>
                  <a:pt x="0" y="6997"/>
                </a:lnTo>
                <a:lnTo>
                  <a:pt x="932" y="8138"/>
                </a:lnTo>
                <a:lnTo>
                  <a:pt x="1554" y="9203"/>
                </a:lnTo>
                <a:lnTo>
                  <a:pt x="2176" y="10344"/>
                </a:lnTo>
                <a:lnTo>
                  <a:pt x="2875" y="11561"/>
                </a:lnTo>
                <a:lnTo>
                  <a:pt x="3341" y="12854"/>
                </a:lnTo>
                <a:lnTo>
                  <a:pt x="3652" y="14223"/>
                </a:lnTo>
                <a:lnTo>
                  <a:pt x="3807" y="15668"/>
                </a:lnTo>
                <a:lnTo>
                  <a:pt x="3807" y="17113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7" name="图形"/>
          <p:cNvSpPr/>
          <p:nvPr/>
        </p:nvSpPr>
        <p:spPr xmlns:m="http://schemas.openxmlformats.org/officeDocument/2006/math" xmlns:a14="http://schemas.microsoft.com/office/drawing/2010/main">
          <a:xfrm>
            <a:off x="3011804" y="4740412"/>
            <a:ext cx="103279" cy="811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2884" y="21600"/>
                </a:moveTo>
                <a:lnTo>
                  <a:pt x="14211" y="21600"/>
                </a:lnTo>
                <a:lnTo>
                  <a:pt x="14211" y="20308"/>
                </a:lnTo>
                <a:lnTo>
                  <a:pt x="14337" y="17797"/>
                </a:lnTo>
                <a:lnTo>
                  <a:pt x="14716" y="15285"/>
                </a:lnTo>
                <a:lnTo>
                  <a:pt x="15347" y="12917"/>
                </a:lnTo>
                <a:lnTo>
                  <a:pt x="16168" y="10692"/>
                </a:lnTo>
                <a:lnTo>
                  <a:pt x="17179" y="8755"/>
                </a:lnTo>
                <a:lnTo>
                  <a:pt x="18505" y="6817"/>
                </a:lnTo>
                <a:lnTo>
                  <a:pt x="19958" y="5023"/>
                </a:lnTo>
                <a:lnTo>
                  <a:pt x="21600" y="3588"/>
                </a:lnTo>
                <a:lnTo>
                  <a:pt x="20589" y="2225"/>
                </a:lnTo>
                <a:lnTo>
                  <a:pt x="19768" y="574"/>
                </a:lnTo>
                <a:lnTo>
                  <a:pt x="12884" y="7104"/>
                </a:lnTo>
                <a:lnTo>
                  <a:pt x="5305" y="0"/>
                </a:lnTo>
                <a:lnTo>
                  <a:pt x="4168" y="1076"/>
                </a:lnTo>
                <a:lnTo>
                  <a:pt x="3095" y="2368"/>
                </a:lnTo>
                <a:lnTo>
                  <a:pt x="2211" y="3875"/>
                </a:lnTo>
                <a:lnTo>
                  <a:pt x="1453" y="5310"/>
                </a:lnTo>
                <a:lnTo>
                  <a:pt x="884" y="6961"/>
                </a:lnTo>
                <a:lnTo>
                  <a:pt x="379" y="8755"/>
                </a:lnTo>
                <a:lnTo>
                  <a:pt x="126" y="10692"/>
                </a:lnTo>
                <a:lnTo>
                  <a:pt x="0" y="12630"/>
                </a:lnTo>
                <a:lnTo>
                  <a:pt x="126" y="13635"/>
                </a:lnTo>
                <a:lnTo>
                  <a:pt x="379" y="14639"/>
                </a:lnTo>
                <a:lnTo>
                  <a:pt x="758" y="15572"/>
                </a:lnTo>
                <a:lnTo>
                  <a:pt x="1453" y="16433"/>
                </a:lnTo>
                <a:lnTo>
                  <a:pt x="2084" y="17366"/>
                </a:lnTo>
                <a:lnTo>
                  <a:pt x="2842" y="18084"/>
                </a:lnTo>
                <a:lnTo>
                  <a:pt x="3789" y="18801"/>
                </a:lnTo>
                <a:lnTo>
                  <a:pt x="4674" y="19375"/>
                </a:lnTo>
                <a:lnTo>
                  <a:pt x="6758" y="20452"/>
                </a:lnTo>
                <a:lnTo>
                  <a:pt x="8842" y="21026"/>
                </a:lnTo>
                <a:lnTo>
                  <a:pt x="10926" y="21456"/>
                </a:lnTo>
                <a:lnTo>
                  <a:pt x="12884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8" name="图形"/>
          <p:cNvSpPr/>
          <p:nvPr/>
        </p:nvSpPr>
        <p:spPr xmlns:m="http://schemas.openxmlformats.org/officeDocument/2006/math" xmlns:a14="http://schemas.microsoft.com/office/drawing/2010/main">
          <a:xfrm>
            <a:off x="3030527" y="4657089"/>
            <a:ext cx="83348" cy="765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1113" y="21600"/>
                </a:moveTo>
                <a:lnTo>
                  <a:pt x="13070" y="21448"/>
                </a:lnTo>
                <a:lnTo>
                  <a:pt x="14870" y="20992"/>
                </a:lnTo>
                <a:lnTo>
                  <a:pt x="16435" y="20383"/>
                </a:lnTo>
                <a:lnTo>
                  <a:pt x="17922" y="19394"/>
                </a:lnTo>
                <a:lnTo>
                  <a:pt x="17922" y="18177"/>
                </a:lnTo>
                <a:lnTo>
                  <a:pt x="17765" y="17113"/>
                </a:lnTo>
                <a:lnTo>
                  <a:pt x="18078" y="14223"/>
                </a:lnTo>
                <a:lnTo>
                  <a:pt x="18391" y="12854"/>
                </a:lnTo>
                <a:lnTo>
                  <a:pt x="18861" y="11561"/>
                </a:lnTo>
                <a:lnTo>
                  <a:pt x="19330" y="10344"/>
                </a:lnTo>
                <a:lnTo>
                  <a:pt x="20035" y="9203"/>
                </a:lnTo>
                <a:lnTo>
                  <a:pt x="20817" y="8138"/>
                </a:lnTo>
                <a:lnTo>
                  <a:pt x="21600" y="6997"/>
                </a:lnTo>
                <a:lnTo>
                  <a:pt x="20974" y="5476"/>
                </a:lnTo>
                <a:lnTo>
                  <a:pt x="20035" y="4183"/>
                </a:lnTo>
                <a:lnTo>
                  <a:pt x="18861" y="2966"/>
                </a:lnTo>
                <a:lnTo>
                  <a:pt x="17609" y="1825"/>
                </a:lnTo>
                <a:lnTo>
                  <a:pt x="16122" y="1065"/>
                </a:lnTo>
                <a:lnTo>
                  <a:pt x="14478" y="456"/>
                </a:lnTo>
                <a:lnTo>
                  <a:pt x="12913" y="0"/>
                </a:lnTo>
                <a:lnTo>
                  <a:pt x="10017" y="0"/>
                </a:lnTo>
                <a:lnTo>
                  <a:pt x="8843" y="152"/>
                </a:lnTo>
                <a:lnTo>
                  <a:pt x="7748" y="456"/>
                </a:lnTo>
                <a:lnTo>
                  <a:pt x="6730" y="761"/>
                </a:lnTo>
                <a:lnTo>
                  <a:pt x="4852" y="1673"/>
                </a:lnTo>
                <a:lnTo>
                  <a:pt x="3991" y="2358"/>
                </a:lnTo>
                <a:lnTo>
                  <a:pt x="2426" y="3879"/>
                </a:lnTo>
                <a:lnTo>
                  <a:pt x="1722" y="4715"/>
                </a:lnTo>
                <a:lnTo>
                  <a:pt x="783" y="6541"/>
                </a:lnTo>
                <a:lnTo>
                  <a:pt x="470" y="7530"/>
                </a:lnTo>
                <a:lnTo>
                  <a:pt x="157" y="8594"/>
                </a:lnTo>
                <a:lnTo>
                  <a:pt x="0" y="9735"/>
                </a:lnTo>
                <a:lnTo>
                  <a:pt x="0" y="11865"/>
                </a:lnTo>
                <a:lnTo>
                  <a:pt x="157" y="13006"/>
                </a:lnTo>
                <a:lnTo>
                  <a:pt x="470" y="14070"/>
                </a:lnTo>
                <a:lnTo>
                  <a:pt x="783" y="15059"/>
                </a:lnTo>
                <a:lnTo>
                  <a:pt x="1722" y="16885"/>
                </a:lnTo>
                <a:lnTo>
                  <a:pt x="2426" y="17721"/>
                </a:lnTo>
                <a:lnTo>
                  <a:pt x="3209" y="18482"/>
                </a:lnTo>
                <a:lnTo>
                  <a:pt x="3991" y="19090"/>
                </a:lnTo>
                <a:lnTo>
                  <a:pt x="4852" y="19775"/>
                </a:lnTo>
                <a:lnTo>
                  <a:pt x="5791" y="20383"/>
                </a:lnTo>
                <a:lnTo>
                  <a:pt x="6730" y="20839"/>
                </a:lnTo>
                <a:lnTo>
                  <a:pt x="7748" y="21144"/>
                </a:lnTo>
                <a:lnTo>
                  <a:pt x="8843" y="21448"/>
                </a:lnTo>
                <a:lnTo>
                  <a:pt x="10017" y="21600"/>
                </a:lnTo>
                <a:lnTo>
                  <a:pt x="11113" y="2160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19" name="图形"/>
          <p:cNvSpPr/>
          <p:nvPr/>
        </p:nvSpPr>
        <p:spPr xmlns:m="http://schemas.openxmlformats.org/officeDocument/2006/math" xmlns:a14="http://schemas.microsoft.com/office/drawing/2010/main">
          <a:xfrm>
            <a:off x="3093943" y="4765490"/>
            <a:ext cx="132873" cy="88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12512"/>
                </a:moveTo>
                <a:lnTo>
                  <a:pt x="21502" y="10602"/>
                </a:lnTo>
                <a:lnTo>
                  <a:pt x="21158" y="8824"/>
                </a:lnTo>
                <a:lnTo>
                  <a:pt x="20864" y="7046"/>
                </a:lnTo>
                <a:lnTo>
                  <a:pt x="20275" y="5466"/>
                </a:lnTo>
                <a:lnTo>
                  <a:pt x="19636" y="3820"/>
                </a:lnTo>
                <a:lnTo>
                  <a:pt x="18851" y="2437"/>
                </a:lnTo>
                <a:lnTo>
                  <a:pt x="17918" y="1054"/>
                </a:lnTo>
                <a:lnTo>
                  <a:pt x="17035" y="0"/>
                </a:lnTo>
                <a:lnTo>
                  <a:pt x="10751" y="6915"/>
                </a:lnTo>
                <a:lnTo>
                  <a:pt x="4565" y="0"/>
                </a:lnTo>
                <a:lnTo>
                  <a:pt x="3535" y="1054"/>
                </a:lnTo>
                <a:lnTo>
                  <a:pt x="2651" y="2437"/>
                </a:lnTo>
                <a:lnTo>
                  <a:pt x="1915" y="3820"/>
                </a:lnTo>
                <a:lnTo>
                  <a:pt x="1227" y="5466"/>
                </a:lnTo>
                <a:lnTo>
                  <a:pt x="736" y="7046"/>
                </a:lnTo>
                <a:lnTo>
                  <a:pt x="295" y="8824"/>
                </a:lnTo>
                <a:lnTo>
                  <a:pt x="98" y="10602"/>
                </a:lnTo>
                <a:lnTo>
                  <a:pt x="0" y="12512"/>
                </a:lnTo>
                <a:lnTo>
                  <a:pt x="0" y="13566"/>
                </a:lnTo>
                <a:lnTo>
                  <a:pt x="295" y="14685"/>
                </a:lnTo>
                <a:lnTo>
                  <a:pt x="638" y="15607"/>
                </a:lnTo>
                <a:lnTo>
                  <a:pt x="1129" y="16463"/>
                </a:lnTo>
                <a:lnTo>
                  <a:pt x="1718" y="17254"/>
                </a:lnTo>
                <a:lnTo>
                  <a:pt x="2356" y="18044"/>
                </a:lnTo>
                <a:lnTo>
                  <a:pt x="3142" y="18768"/>
                </a:lnTo>
                <a:lnTo>
                  <a:pt x="3878" y="19295"/>
                </a:lnTo>
                <a:lnTo>
                  <a:pt x="4762" y="19822"/>
                </a:lnTo>
                <a:lnTo>
                  <a:pt x="5695" y="20349"/>
                </a:lnTo>
                <a:lnTo>
                  <a:pt x="7413" y="21073"/>
                </a:lnTo>
                <a:lnTo>
                  <a:pt x="9229" y="21468"/>
                </a:lnTo>
                <a:lnTo>
                  <a:pt x="10751" y="21600"/>
                </a:lnTo>
                <a:lnTo>
                  <a:pt x="12371" y="21468"/>
                </a:lnTo>
                <a:lnTo>
                  <a:pt x="14089" y="21073"/>
                </a:lnTo>
                <a:lnTo>
                  <a:pt x="15905" y="20349"/>
                </a:lnTo>
                <a:lnTo>
                  <a:pt x="16838" y="19822"/>
                </a:lnTo>
                <a:lnTo>
                  <a:pt x="17624" y="19295"/>
                </a:lnTo>
                <a:lnTo>
                  <a:pt x="18458" y="18768"/>
                </a:lnTo>
                <a:lnTo>
                  <a:pt x="19145" y="18044"/>
                </a:lnTo>
                <a:lnTo>
                  <a:pt x="19882" y="17254"/>
                </a:lnTo>
                <a:lnTo>
                  <a:pt x="20373" y="16463"/>
                </a:lnTo>
                <a:lnTo>
                  <a:pt x="20864" y="15607"/>
                </a:lnTo>
                <a:lnTo>
                  <a:pt x="21256" y="14685"/>
                </a:lnTo>
                <a:lnTo>
                  <a:pt x="21502" y="13566"/>
                </a:lnTo>
                <a:lnTo>
                  <a:pt x="21600" y="12512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sp>
        <p:nvSpPr>
          <p:cNvPr id="20" name="图形"/>
          <p:cNvSpPr/>
          <p:nvPr/>
        </p:nvSpPr>
        <p:spPr xmlns:m="http://schemas.openxmlformats.org/officeDocument/2006/math" xmlns:a14="http://schemas.microsoft.com/office/drawing/2010/main">
          <a:xfrm>
            <a:off x="3113270" y="4675964"/>
            <a:ext cx="93615" cy="827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lnTo>
                  <a:pt x="9755" y="0"/>
                </a:lnTo>
                <a:lnTo>
                  <a:pt x="8640" y="141"/>
                </a:lnTo>
                <a:lnTo>
                  <a:pt x="7595" y="422"/>
                </a:lnTo>
                <a:lnTo>
                  <a:pt x="6619" y="844"/>
                </a:lnTo>
                <a:lnTo>
                  <a:pt x="5783" y="1266"/>
                </a:lnTo>
                <a:lnTo>
                  <a:pt x="4738" y="1900"/>
                </a:lnTo>
                <a:lnTo>
                  <a:pt x="4041" y="2463"/>
                </a:lnTo>
                <a:lnTo>
                  <a:pt x="3205" y="3166"/>
                </a:lnTo>
                <a:lnTo>
                  <a:pt x="2439" y="3940"/>
                </a:lnTo>
                <a:lnTo>
                  <a:pt x="1324" y="5629"/>
                </a:lnTo>
                <a:lnTo>
                  <a:pt x="906" y="6684"/>
                </a:lnTo>
                <a:lnTo>
                  <a:pt x="557" y="7528"/>
                </a:lnTo>
                <a:lnTo>
                  <a:pt x="279" y="8724"/>
                </a:lnTo>
                <a:lnTo>
                  <a:pt x="139" y="9709"/>
                </a:lnTo>
                <a:lnTo>
                  <a:pt x="0" y="10906"/>
                </a:lnTo>
                <a:lnTo>
                  <a:pt x="139" y="11891"/>
                </a:lnTo>
                <a:lnTo>
                  <a:pt x="279" y="13016"/>
                </a:lnTo>
                <a:lnTo>
                  <a:pt x="557" y="14072"/>
                </a:lnTo>
                <a:lnTo>
                  <a:pt x="906" y="15057"/>
                </a:lnTo>
                <a:lnTo>
                  <a:pt x="1324" y="15971"/>
                </a:lnTo>
                <a:lnTo>
                  <a:pt x="1881" y="16956"/>
                </a:lnTo>
                <a:lnTo>
                  <a:pt x="2439" y="17730"/>
                </a:lnTo>
                <a:lnTo>
                  <a:pt x="3205" y="18575"/>
                </a:lnTo>
                <a:lnTo>
                  <a:pt x="4041" y="19137"/>
                </a:lnTo>
                <a:lnTo>
                  <a:pt x="4738" y="19841"/>
                </a:lnTo>
                <a:lnTo>
                  <a:pt x="5783" y="20334"/>
                </a:lnTo>
                <a:lnTo>
                  <a:pt x="6619" y="20896"/>
                </a:lnTo>
                <a:lnTo>
                  <a:pt x="7595" y="21178"/>
                </a:lnTo>
                <a:lnTo>
                  <a:pt x="8640" y="21459"/>
                </a:lnTo>
                <a:lnTo>
                  <a:pt x="9755" y="21600"/>
                </a:lnTo>
                <a:lnTo>
                  <a:pt x="11915" y="21600"/>
                </a:lnTo>
                <a:lnTo>
                  <a:pt x="12960" y="21459"/>
                </a:lnTo>
                <a:lnTo>
                  <a:pt x="13935" y="21178"/>
                </a:lnTo>
                <a:lnTo>
                  <a:pt x="14981" y="20896"/>
                </a:lnTo>
                <a:lnTo>
                  <a:pt x="15956" y="20334"/>
                </a:lnTo>
                <a:lnTo>
                  <a:pt x="16862" y="19841"/>
                </a:lnTo>
                <a:lnTo>
                  <a:pt x="17698" y="19137"/>
                </a:lnTo>
                <a:lnTo>
                  <a:pt x="18395" y="18575"/>
                </a:lnTo>
                <a:lnTo>
                  <a:pt x="19161" y="17730"/>
                </a:lnTo>
                <a:lnTo>
                  <a:pt x="19719" y="16956"/>
                </a:lnTo>
                <a:lnTo>
                  <a:pt x="20276" y="15971"/>
                </a:lnTo>
                <a:lnTo>
                  <a:pt x="20694" y="15057"/>
                </a:lnTo>
                <a:lnTo>
                  <a:pt x="21112" y="14072"/>
                </a:lnTo>
                <a:lnTo>
                  <a:pt x="21321" y="13016"/>
                </a:lnTo>
                <a:lnTo>
                  <a:pt x="21600" y="11891"/>
                </a:lnTo>
                <a:lnTo>
                  <a:pt x="21600" y="9709"/>
                </a:lnTo>
                <a:lnTo>
                  <a:pt x="21321" y="8724"/>
                </a:lnTo>
                <a:lnTo>
                  <a:pt x="21112" y="7528"/>
                </a:lnTo>
                <a:lnTo>
                  <a:pt x="20694" y="6684"/>
                </a:lnTo>
                <a:lnTo>
                  <a:pt x="20276" y="5629"/>
                </a:lnTo>
                <a:lnTo>
                  <a:pt x="19161" y="3940"/>
                </a:lnTo>
                <a:lnTo>
                  <a:pt x="18395" y="3166"/>
                </a:lnTo>
                <a:lnTo>
                  <a:pt x="17698" y="2463"/>
                </a:lnTo>
                <a:lnTo>
                  <a:pt x="16862" y="1900"/>
                </a:lnTo>
                <a:lnTo>
                  <a:pt x="15956" y="1266"/>
                </a:lnTo>
                <a:lnTo>
                  <a:pt x="14981" y="844"/>
                </a:lnTo>
                <a:lnTo>
                  <a:pt x="13935" y="422"/>
                </a:lnTo>
                <a:lnTo>
                  <a:pt x="12960" y="141"/>
                </a:lnTo>
                <a:lnTo>
                  <a:pt x="11915" y="0"/>
                </a:lnTo>
                <a:lnTo>
                  <a:pt x="1080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t">
            <a:noAutofit/>
          </a:bodyPr>
          <a:lstStyle>
            <a:lvl1pPr>
              <a:defRPr/>
            </a:lvl1pPr>
          </a:lstStyle>
          <a:p>
            <a:pPr/>
          </a:p>
        </p:txBody>
      </p:sp>
      <p:pic>
        <p:nvPicPr>
          <p:cNvPr id="21" name="图形" descr="cc43ea53a92cf935fa80d63d91f2b4e55f28b2ef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88974" y="4612639"/>
            <a:ext cx="290831" cy="2908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第一PPT，www.1ppt.com">
  <a:themeElements>
    <a:clrScheme name="第一PPT，www.1ppt.c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7FF6"/>
      </a:accent1>
      <a:accent2>
        <a:srgbClr val="41A3FF"/>
      </a:accent2>
      <a:accent3>
        <a:srgbClr val="00478A"/>
      </a:accent3>
      <a:accent4>
        <a:srgbClr val="245B8F"/>
      </a:accent4>
      <a:accent5>
        <a:srgbClr val="00376A"/>
      </a:accent5>
      <a:accent6>
        <a:srgbClr val="1C466E"/>
      </a:accent6>
      <a:hlink>
        <a:srgbClr val="0000FF"/>
      </a:hlink>
      <a:folHlink>
        <a:srgbClr val="FF00FF"/>
      </a:folHlink>
    </a:clrScheme>
    <a:fontScheme name="第一PPT，www.1ppt.com">
      <a:majorFont>
        <a:latin typeface="Helvetica"/>
        <a:ea typeface="Helvetica"/>
        <a:cs typeface="Helvetica"/>
      </a:majorFont>
      <a:minorFont>
        <a:latin typeface="思源黑体 CN Normal"/>
        <a:ea typeface="思源黑体 CN Normal"/>
        <a:cs typeface="思源黑体 CN Normal"/>
      </a:minorFont>
    </a:fontScheme>
    <a:fmtScheme name="第一PPT，www.1ppt.c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思源黑体 CN Norm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cp:lastModifiedBy>PPTAgent</cp:lastModifiedBy>
</cp:coreProperties>
</file>