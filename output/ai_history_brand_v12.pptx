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1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0FF"/>
          </a:solidFill>
        </a:fill>
      </a:tcStyle>
    </a:wholeTbl>
    <a:band2H>
      <a:tcTxStyle b="def" i="def"/>
      <a:tcStyle>
        <a:tcBdr/>
        <a:fill>
          <a:solidFill>
            <a:srgbClr val="E8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思源黑体 CN Normal"/>
      </a:defRPr>
    </a:lvl1pPr>
    <a:lvl2pPr indent="228600" latinLnBrk="0">
      <a:defRPr sz="1200">
        <a:latin typeface="+mn-lt"/>
        <a:ea typeface="+mn-ea"/>
        <a:cs typeface="+mn-cs"/>
        <a:sym typeface="思源黑体 CN Normal"/>
      </a:defRPr>
    </a:lvl2pPr>
    <a:lvl3pPr indent="457200" latinLnBrk="0">
      <a:defRPr sz="1200">
        <a:latin typeface="+mn-lt"/>
        <a:ea typeface="+mn-ea"/>
        <a:cs typeface="+mn-cs"/>
        <a:sym typeface="思源黑体 CN Normal"/>
      </a:defRPr>
    </a:lvl3pPr>
    <a:lvl4pPr indent="685800" latinLnBrk="0">
      <a:defRPr sz="1200">
        <a:latin typeface="+mn-lt"/>
        <a:ea typeface="+mn-ea"/>
        <a:cs typeface="+mn-cs"/>
        <a:sym typeface="思源黑体 CN Normal"/>
      </a:defRPr>
    </a:lvl4pPr>
    <a:lvl5pPr indent="914400" latinLnBrk="0">
      <a:defRPr sz="1200">
        <a:latin typeface="+mn-lt"/>
        <a:ea typeface="+mn-ea"/>
        <a:cs typeface="+mn-cs"/>
        <a:sym typeface="思源黑体 CN Normal"/>
      </a:defRPr>
    </a:lvl5pPr>
    <a:lvl6pPr indent="1143000" latinLnBrk="0">
      <a:defRPr sz="1200">
        <a:latin typeface="+mn-lt"/>
        <a:ea typeface="+mn-ea"/>
        <a:cs typeface="+mn-cs"/>
        <a:sym typeface="思源黑体 CN Normal"/>
      </a:defRPr>
    </a:lvl6pPr>
    <a:lvl7pPr indent="1371600" latinLnBrk="0">
      <a:defRPr sz="1200">
        <a:latin typeface="+mn-lt"/>
        <a:ea typeface="+mn-ea"/>
        <a:cs typeface="+mn-cs"/>
        <a:sym typeface="思源黑体 CN Normal"/>
      </a:defRPr>
    </a:lvl7pPr>
    <a:lvl8pPr indent="1600200" latinLnBrk="0">
      <a:defRPr sz="1200">
        <a:latin typeface="+mn-lt"/>
        <a:ea typeface="+mn-ea"/>
        <a:cs typeface="+mn-cs"/>
        <a:sym typeface="思源黑体 CN Normal"/>
      </a:defRPr>
    </a:lvl8pPr>
    <a:lvl9pPr indent="1828800" latinLnBrk="0">
      <a:defRPr sz="1200">
        <a:latin typeface="+mn-lt"/>
        <a:ea typeface="+mn-ea"/>
        <a:cs typeface="+mn-cs"/>
        <a:sym typeface="思源黑体 CN Norm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7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3pPr>
      <a:lvl4pPr marL="16655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4pPr>
      <a:lvl5pPr marL="21227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HISTORY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AI发展史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从1956年Dartmouth会议到大语言模型时代，探索人工智能七十年波澜壮阔的演进历程。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回顾AI寒冬、机器学习革命与深度学习崛起，展望通用人工智能AGI的未来图景。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人工智能发展简史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AI研究院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Apr 15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3b8add963136f361ab5c80602bd6fe9fa41541a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4731"/>
            <a:ext cx="12192000" cy="6832601"/>
          </a:xfrm>
          <a:prstGeom prst="rect">
            <a:avLst/>
          </a:prstGeom>
        </p:spPr>
      </p:pic>
      <p:sp>
        <p:nvSpPr>
          <p:cNvPr id="3" name="图形"/>
          <p:cNvSpPr txBox="1"/>
          <p:nvPr/>
        </p:nvSpPr>
        <p:spPr>
          <a:xfrm>
            <a:off x="722630" y="464819"/>
            <a:ext cx="1783715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6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目录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2577465" y="770890"/>
            <a:ext cx="22453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CONTENTS</a:t>
            </a:r>
          </a:p>
        </p:txBody>
      </p:sp>
      <p:sp>
        <p:nvSpPr>
          <p:cNvPr id="5" name="TextBox 9"/>
          <p:cNvSpPr txBox="1"/>
          <p:nvPr/>
        </p:nvSpPr>
        <p:spPr>
          <a:xfrm>
            <a:off x="95622" y="36763"/>
            <a:ext cx="3622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AI发展历程 · 2026-04-15</a:t>
            </a: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30752" y="1766646"/>
            <a:ext cx="1839681" cy="12511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666749" y="1982541"/>
            <a:ext cx="2626996" cy="3886129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1167763" y="2335530"/>
            <a:ext cx="2011682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37009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4359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394334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02</a:t>
            </a: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64695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2045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6753223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03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2381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89731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 txBox="1"/>
          <p:nvPr/>
        </p:nvSpPr>
        <p:spPr>
          <a:xfrm>
            <a:off x="947800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04</a:t>
            </a: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969009" y="3248660"/>
            <a:ext cx="1948816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77253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572249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935037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2" name="图形"/>
          <p:cNvSpPr txBox="1"/>
          <p:nvPr/>
        </p:nvSpPr>
        <p:spPr>
          <a:xfrm>
            <a:off x="98488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AI的起源与愿景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早期里程碑与发展历程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98869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绪论</a:t>
            </a:r>
          </a:p>
        </p:txBody>
      </p:sp>
      <p:sp>
        <p:nvSpPr>
          <p:cNvPr id="24" name="图形"/>
          <p:cNvSpPr txBox="1"/>
          <p:nvPr/>
        </p:nvSpPr>
        <p:spPr>
          <a:xfrm>
            <a:off x="382206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专家系统的兴衰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AI寒冬的成因与转折</a:t>
            </a:r>
          </a:p>
        </p:txBody>
      </p:sp>
      <p:sp>
        <p:nvSpPr>
          <p:cNvPr id="25" name="图形"/>
          <p:cNvSpPr txBox="1"/>
          <p:nvPr/>
        </p:nvSpPr>
        <p:spPr>
          <a:xfrm>
            <a:off x="382587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AI寒冬</a:t>
            </a:r>
          </a:p>
        </p:txBody>
      </p:sp>
      <p:sp>
        <p:nvSpPr>
          <p:cNvPr id="26" name="图形"/>
          <p:cNvSpPr txBox="1"/>
          <p:nvPr/>
        </p:nvSpPr>
        <p:spPr>
          <a:xfrm>
            <a:off x="662241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机器学习范式转变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数据驱动时代的突破</a:t>
            </a:r>
          </a:p>
        </p:txBody>
      </p:sp>
      <p:sp>
        <p:nvSpPr>
          <p:cNvPr id="27" name="图形"/>
          <p:cNvSpPr txBox="1"/>
          <p:nvPr/>
        </p:nvSpPr>
        <p:spPr>
          <a:xfrm>
            <a:off x="662622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</a:t>
            </a:r>
          </a:p>
        </p:txBody>
      </p:sp>
      <p:sp>
        <p:nvSpPr>
          <p:cNvPr id="28" name="图形"/>
          <p:cNvSpPr txBox="1"/>
          <p:nvPr/>
        </p:nvSpPr>
        <p:spPr>
          <a:xfrm>
            <a:off x="945959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深度学习革命与AlexNet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大语言模型与AGI展望</a:t>
            </a:r>
          </a:p>
        </p:txBody>
      </p:sp>
      <p:sp>
        <p:nvSpPr>
          <p:cNvPr id="29" name="图形"/>
          <p:cNvSpPr txBox="1"/>
          <p:nvPr/>
        </p:nvSpPr>
        <p:spPr>
          <a:xfrm>
            <a:off x="946340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</a:t>
            </a:r>
          </a:p>
        </p:txBody>
      </p:sp>
      <p:sp>
        <p:nvSpPr>
          <p:cNvPr id="30" name="图形"/>
          <p:cNvSpPr txBox="1"/>
          <p:nvPr/>
        </p:nvSpPr>
        <p:spPr>
          <a:xfrm>
            <a:off x="1225549" y="3305810"/>
            <a:ext cx="138557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ONE</a:t>
            </a:r>
          </a:p>
        </p:txBody>
      </p:sp>
      <p:sp>
        <p:nvSpPr>
          <p:cNvPr id="31" name="图形"/>
          <p:cNvSpPr txBox="1"/>
          <p:nvPr/>
        </p:nvSpPr>
        <p:spPr>
          <a:xfrm>
            <a:off x="3816349" y="3305810"/>
            <a:ext cx="186563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TWO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6620508" y="3305810"/>
            <a:ext cx="183451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THREE</a:t>
            </a:r>
          </a:p>
        </p:txBody>
      </p:sp>
      <p:sp>
        <p:nvSpPr>
          <p:cNvPr id="33" name="图形"/>
          <p:cNvSpPr txBox="1"/>
          <p:nvPr/>
        </p:nvSpPr>
        <p:spPr>
          <a:xfrm>
            <a:off x="9451339" y="3305810"/>
            <a:ext cx="173418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FOUR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ONE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引言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回顾人工智能自1956年达特茅斯会议诞生以来的奠基历程，探寻AI发展的核心愿景与早期里程碑。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通过全景时间线，展示AI从符号主义起源到现代大语言模型时代的六个关键演进阶段。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AI七十年发展史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AI起源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1956年达特茅斯会议标志着人工智能作为独立学科的诞生，McCarthy、Minsky等人首次提出"人工智能"术语，确立了符号主义范式，开启了探索智能本质的七十年征程。</a:t>
            </a:r>
          </a:p>
        </p:txBody>
      </p:sp>
      <p:pic>
        <p:nvPicPr>
          <p:cNvPr id="4" name="图形" descr="eniac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687469"/>
            <a:ext cx="5156200" cy="3940260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核心理念：智能的每个方面原则上都可被精确描述，从而制造机器加以模拟。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感知机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1958年Rosenblatt发明感知机，首个可学习神经元模型，奠定神经网络理论基础。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早期局限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AI发展史全景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时间线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七十年来，人工智能经历了从理论设想到工业革命的完整蜕变，共分为六个关键时代，涵盖符号AI探索、两次寒冬低谷、机器学习崛起、深度学习革命以及大语言模型的兴起。</a:t>
            </a:r>
          </a:p>
        </p:txBody>
      </p:sp>
      <p:pic>
        <p:nvPicPr>
          <p:cNvPr id="4" name="图形" descr="ai_timelin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2052367"/>
            <a:ext cx="5156200" cy="3210464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AI发展历经六个时代，从符号AI到大语言模型，完成理论到工业的蜕变。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早期探索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符号AI（1953–1973）到两次AI寒冬，暴露计算局限与期望落差。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现代突破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TWO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AI寒冬与专家系统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探讨1970至1997年间AI经历的两次寒冬，剖析技术瓶颈、资金断裂与过度承诺等深层成因。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回顾专家系统的实用价值，以及Deep Blue战胜卡斯帕罗夫这一重燃公众信心的历史转折点。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02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TWO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ai_funding_curv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672233"/>
            <a:ext cx="5562600" cy="3564332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7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1974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1987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1997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1997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第一次AI寒冬：计算能力不足，DARPA削减预算，组合爆炸问题难以攻克。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第二次AI寒冬：专家系统维护成本高，LISP市场崩溃，第五代计算机计划失败。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IBM深蓝击败国际象棋冠军卡斯帕罗夫，重新点燃公众对AI的信心。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3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机器学习革命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从手工编码规则到数据驱动的范式转移，SVM、随机森林、DBN等关键技术相继突破，重塑AI发展路径。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Netflix推荐系统与IBM Watson的成功案例，标志着机器学习在大规模商业化应用中的全面崛起。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03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THREE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technology_evoluti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625600"/>
            <a:ext cx="5512702" cy="36576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7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1995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2001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2006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2011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Vladimir Vapnik 提出 SVM，实现高维空间有效分类，广泛应用于文本与图像识别。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Leo Breiman 提出随机森林，集成学习降低过拟合，成为工业界主流算法。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Geoffrey Hinton 提出深度信念网络（DBN），逐层预训练为深度学习复兴奠定基础。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FOUR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从2012年AlexNet的里程碑式突破，到GAN、ResNet等关键技术的相继涌现，深度学习全面重塑了AI格局。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AlphaGo击败李世石，标志着神经网络的全面胜利，开启了人工智能发展的黄金时代（2012-2019）。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04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FOUR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FIVE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大语言模型时代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从Transformer架构的诞生到GPT系列模型的规模指数级增长，LLM带来了语言理解的革命性突破。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涌现能力的出现与算力、数据、算法三大驱动力，正将人类推向通用智能的黎明时刻。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05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FIVE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AI发展史全景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大语言模型时代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2017年，Vaswani等人提出Transformer，以自注意力机制取代RNN/LSTM，开启大语言模型新纪元。</a:t>
            </a:r>
          </a:p>
        </p:txBody>
      </p:sp>
      <p:pic>
        <p:nvPicPr>
          <p:cNvPr id="4" name="图形" descr="transformer_architectur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805725"/>
            <a:ext cx="5156199" cy="3703749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Transformer架构成为现代NLP的基础，推动模型参数从亿级跃升至千亿级规模。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Transformer革命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自注意力机制取代RNN/LSTM，支持并行训练，擅长长距离依赖建模，奠定LLM基础架构。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规模指数增长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谢谢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感谢观看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感谢您的聆听与关注，希望本次演讲对您有所启发与帮助。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如有任何问题或交流意见，欢迎随时与我们联系探讨。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AI发展历程回顾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展望未来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cc43ea53a92cf935fa80d63d91f2b4e55f28b2e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