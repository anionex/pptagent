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1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E0FF"/>
          </a:solidFill>
        </a:fill>
      </a:tcStyle>
    </a:wholeTbl>
    <a:band2H>
      <a:tcTxStyle b="def" i="def"/>
      <a:tcStyle>
        <a:tcBdr/>
        <a:fill>
          <a:solidFill>
            <a:srgbClr val="E8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" name="Shape 7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思源黑体 CN Normal"/>
      </a:defRPr>
    </a:lvl1pPr>
    <a:lvl2pPr indent="228600" latinLnBrk="0">
      <a:defRPr sz="1200">
        <a:latin typeface="+mn-lt"/>
        <a:ea typeface="+mn-ea"/>
        <a:cs typeface="+mn-cs"/>
        <a:sym typeface="思源黑体 CN Normal"/>
      </a:defRPr>
    </a:lvl2pPr>
    <a:lvl3pPr indent="457200" latinLnBrk="0">
      <a:defRPr sz="1200">
        <a:latin typeface="+mn-lt"/>
        <a:ea typeface="+mn-ea"/>
        <a:cs typeface="+mn-cs"/>
        <a:sym typeface="思源黑体 CN Normal"/>
      </a:defRPr>
    </a:lvl3pPr>
    <a:lvl4pPr indent="685800" latinLnBrk="0">
      <a:defRPr sz="1200">
        <a:latin typeface="+mn-lt"/>
        <a:ea typeface="+mn-ea"/>
        <a:cs typeface="+mn-cs"/>
        <a:sym typeface="思源黑体 CN Normal"/>
      </a:defRPr>
    </a:lvl4pPr>
    <a:lvl5pPr indent="914400" latinLnBrk="0">
      <a:defRPr sz="1200">
        <a:latin typeface="+mn-lt"/>
        <a:ea typeface="+mn-ea"/>
        <a:cs typeface="+mn-cs"/>
        <a:sym typeface="思源黑体 CN Normal"/>
      </a:defRPr>
    </a:lvl5pPr>
    <a:lvl6pPr indent="1143000" latinLnBrk="0">
      <a:defRPr sz="1200">
        <a:latin typeface="+mn-lt"/>
        <a:ea typeface="+mn-ea"/>
        <a:cs typeface="+mn-cs"/>
        <a:sym typeface="思源黑体 CN Normal"/>
      </a:defRPr>
    </a:lvl6pPr>
    <a:lvl7pPr indent="1371600" latinLnBrk="0">
      <a:defRPr sz="1200">
        <a:latin typeface="+mn-lt"/>
        <a:ea typeface="+mn-ea"/>
        <a:cs typeface="+mn-cs"/>
        <a:sym typeface="思源黑体 CN Normal"/>
      </a:defRPr>
    </a:lvl7pPr>
    <a:lvl8pPr indent="1600200" latinLnBrk="0">
      <a:defRPr sz="1200">
        <a:latin typeface="+mn-lt"/>
        <a:ea typeface="+mn-ea"/>
        <a:cs typeface="+mn-cs"/>
        <a:sym typeface="思源黑体 CN Normal"/>
      </a:defRPr>
    </a:lvl8pPr>
    <a:lvl9pPr indent="1828800" latinLnBrk="0">
      <a:defRPr sz="1200">
        <a:latin typeface="+mn-lt"/>
        <a:ea typeface="+mn-ea"/>
        <a:cs typeface="+mn-cs"/>
        <a:sym typeface="思源黑体 CN Norm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xiazai/" TargetMode="Externa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6" name="标题文本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标题文本</a:t>
            </a:r>
          </a:p>
        </p:txBody>
      </p:sp>
      <p:sp>
        <p:nvSpPr>
          <p:cNvPr id="7" name="正文级别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1pPr>
      <a:lvl2pPr marL="7143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2pPr>
      <a:lvl3pPr marL="11715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3pPr>
      <a:lvl4pPr marL="16655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4pPr>
      <a:lvl5pPr marL="21227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5pPr>
      <a:lvl6pPr marL="2514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6pPr>
      <a:lvl7pPr marL="29718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7pPr>
      <a:lvl8pPr marL="34290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8pPr>
      <a:lvl9pPr marL="38862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AI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AI发展史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回顾人工智能70年波澜壮阔的发展历程，从Dartmouth会议到大语言模型时代。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探索六大发展纪元的关键突破与里程碑事件，展望通用人工智能的未来图景。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人工智能发展简史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AI研究院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Apr 15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1" name="图形" descr="3b8add963136f361ab5c80602bd6fe9fa41541a5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4731"/>
            <a:ext cx="12192000" cy="6832601"/>
          </a:xfrm>
          <a:prstGeom prst="rect">
            <a:avLst/>
          </a:prstGeom>
        </p:spPr>
      </p:pic>
      <p:sp>
        <p:nvSpPr>
          <p:cNvPr id="3" name="图形"/>
          <p:cNvSpPr txBox="1"/>
          <p:nvPr/>
        </p:nvSpPr>
        <p:spPr>
          <a:xfrm>
            <a:off x="722630" y="464819"/>
            <a:ext cx="1783715" cy="115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b="1" sz="6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目录</a:t>
            </a:r>
          </a:p>
        </p:txBody>
      </p:sp>
      <p:sp>
        <p:nvSpPr>
          <p:cNvPr id="4" name="图形"/>
          <p:cNvSpPr txBox="1"/>
          <p:nvPr/>
        </p:nvSpPr>
        <p:spPr>
          <a:xfrm>
            <a:off x="2577465" y="770890"/>
            <a:ext cx="224536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28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CONTENTS</a:t>
            </a:r>
          </a:p>
        </p:txBody>
      </p:sp>
      <p:sp>
        <p:nvSpPr>
          <p:cNvPr id="5" name="TextBox 9"/>
          <p:cNvSpPr txBox="1"/>
          <p:nvPr/>
        </p:nvSpPr>
        <p:spPr>
          <a:xfrm>
            <a:off x="95622" y="36763"/>
            <a:ext cx="3622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00">
                <a:noFill/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人工智能发展史 | 2026-04-15</a:t>
            </a: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30752" y="1766646"/>
            <a:ext cx="1839681" cy="12511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666749" y="1982541"/>
            <a:ext cx="2626996" cy="3886129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1167763" y="2335530"/>
            <a:ext cx="2011682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01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37009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4359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394334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02</a:t>
            </a:r>
          </a:p>
        </p:txBody>
      </p:sp>
      <p:sp>
        <p:nvSpPr>
          <p:cNvPr id="12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64695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62045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图形"/>
          <p:cNvSpPr txBox="1"/>
          <p:nvPr/>
        </p:nvSpPr>
        <p:spPr>
          <a:xfrm>
            <a:off x="6753223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03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2381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89731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图形"/>
          <p:cNvSpPr txBox="1"/>
          <p:nvPr/>
        </p:nvSpPr>
        <p:spPr>
          <a:xfrm>
            <a:off x="947800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04</a:t>
            </a: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969009" y="3248660"/>
            <a:ext cx="1948816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77253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6572249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935037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2" name="图形"/>
          <p:cNvSpPr txBox="1"/>
          <p:nvPr/>
        </p:nvSpPr>
        <p:spPr>
          <a:xfrm>
            <a:off x="98488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AI发展70年历程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六大时代演进总览</a:t>
            </a:r>
          </a:p>
        </p:txBody>
      </p:sp>
      <p:sp>
        <p:nvSpPr>
          <p:cNvPr id="23" name="图形"/>
          <p:cNvSpPr txBox="1"/>
          <p:nvPr/>
        </p:nvSpPr>
        <p:spPr>
          <a:xfrm>
            <a:off x="98869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Intro</a:t>
            </a:r>
          </a:p>
        </p:txBody>
      </p:sp>
      <p:sp>
        <p:nvSpPr>
          <p:cNvPr id="24" name="图形"/>
          <p:cNvSpPr txBox="1"/>
          <p:nvPr/>
        </p:nvSpPr>
        <p:spPr>
          <a:xfrm>
            <a:off x="382206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专家系统的实用价值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两次AI寒冬与Deep Blue</a:t>
            </a:r>
          </a:p>
        </p:txBody>
      </p:sp>
      <p:sp>
        <p:nvSpPr>
          <p:cNvPr id="25" name="图形"/>
          <p:cNvSpPr txBox="1"/>
          <p:nvPr/>
        </p:nvSpPr>
        <p:spPr>
          <a:xfrm>
            <a:off x="382587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300"/>
              <a:t>寒冬与复苏</a:t>
            </a:r>
          </a:p>
        </p:txBody>
      </p:sp>
      <p:sp>
        <p:nvSpPr>
          <p:cNvPr id="26" name="图形"/>
          <p:cNvSpPr txBox="1"/>
          <p:nvPr/>
        </p:nvSpPr>
        <p:spPr>
          <a:xfrm>
            <a:off x="662241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机器学习范式转变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关键技术突破与应用</a:t>
            </a:r>
          </a:p>
        </p:txBody>
      </p:sp>
      <p:sp>
        <p:nvSpPr>
          <p:cNvPr id="27" name="图形"/>
          <p:cNvSpPr txBox="1"/>
          <p:nvPr/>
        </p:nvSpPr>
        <p:spPr>
          <a:xfrm>
            <a:off x="662622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300"/>
              <a:t>机器学习崛起</a:t>
            </a:r>
          </a:p>
        </p:txBody>
      </p:sp>
      <p:sp>
        <p:nvSpPr>
          <p:cNvPr id="28" name="图形"/>
          <p:cNvSpPr txBox="1"/>
          <p:nvPr/>
        </p:nvSpPr>
        <p:spPr>
          <a:xfrm>
            <a:off x="945959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深度学习与大语言模型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AlphaGo到LLM新时代</a:t>
            </a:r>
          </a:p>
        </p:txBody>
      </p:sp>
      <p:sp>
        <p:nvSpPr>
          <p:cNvPr id="29" name="图形"/>
          <p:cNvSpPr txBox="1"/>
          <p:nvPr/>
        </p:nvSpPr>
        <p:spPr>
          <a:xfrm>
            <a:off x="946340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300"/>
              <a:t>深度学习与LLM</a:t>
            </a:r>
          </a:p>
        </p:txBody>
      </p:sp>
      <p:sp>
        <p:nvSpPr>
          <p:cNvPr id="30" name="图形"/>
          <p:cNvSpPr txBox="1"/>
          <p:nvPr/>
        </p:nvSpPr>
        <p:spPr>
          <a:xfrm>
            <a:off x="1225549" y="3305810"/>
            <a:ext cx="138557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ONE</a:t>
            </a:r>
          </a:p>
        </p:txBody>
      </p:sp>
      <p:sp>
        <p:nvSpPr>
          <p:cNvPr id="31" name="图形"/>
          <p:cNvSpPr txBox="1"/>
          <p:nvPr/>
        </p:nvSpPr>
        <p:spPr>
          <a:xfrm>
            <a:off x="3816349" y="3305810"/>
            <a:ext cx="186563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TWO</a:t>
            </a:r>
          </a:p>
        </p:txBody>
      </p:sp>
      <p:sp>
        <p:nvSpPr>
          <p:cNvPr id="32" name="图形"/>
          <p:cNvSpPr txBox="1"/>
          <p:nvPr/>
        </p:nvSpPr>
        <p:spPr>
          <a:xfrm>
            <a:off x="6620508" y="3305810"/>
            <a:ext cx="183451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THREE</a:t>
            </a:r>
          </a:p>
        </p:txBody>
      </p:sp>
      <p:sp>
        <p:nvSpPr>
          <p:cNvPr id="33" name="图形"/>
          <p:cNvSpPr txBox="1"/>
          <p:nvPr/>
        </p:nvSpPr>
        <p:spPr>
          <a:xfrm>
            <a:off x="9451339" y="3305810"/>
            <a:ext cx="173418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FOUR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ONE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引言简介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969"/>
              <a:t>回顾人工智能从1956年至今跨越七十年的发展历程，涵盖六个关键时代。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969"/>
              <a:t>从达特茅斯会议的历史起源，到感知机等奠基性里程碑，探索AI学科的诞生与早期演进。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01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ai_timelin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1722647"/>
            <a:ext cx="5562599" cy="346350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1386204" y="3837305"/>
            <a:ext cx="67500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775" y="21600"/>
                </a:moveTo>
                <a:lnTo>
                  <a:pt x="4825" y="21600"/>
                </a:lnTo>
                <a:lnTo>
                  <a:pt x="4825" y="5067"/>
                </a:lnTo>
                <a:lnTo>
                  <a:pt x="0" y="5067"/>
                </a:lnTo>
                <a:lnTo>
                  <a:pt x="10667" y="0"/>
                </a:lnTo>
                <a:lnTo>
                  <a:pt x="21600" y="5067"/>
                </a:lnTo>
                <a:lnTo>
                  <a:pt x="16775" y="5067"/>
                </a:lnTo>
                <a:lnTo>
                  <a:pt x="16775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>
            <a:off x="2771139" y="2990849"/>
            <a:ext cx="675006" cy="1249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5835"/>
                </a:lnTo>
                <a:lnTo>
                  <a:pt x="21600" y="15835"/>
                </a:lnTo>
                <a:lnTo>
                  <a:pt x="10933" y="21600"/>
                </a:lnTo>
                <a:lnTo>
                  <a:pt x="0" y="15835"/>
                </a:lnTo>
                <a:lnTo>
                  <a:pt x="5090" y="15835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>
            <a:off x="4153534" y="3837305"/>
            <a:ext cx="67373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544" y="21600"/>
                </a:moveTo>
                <a:lnTo>
                  <a:pt x="4834" y="21600"/>
                </a:lnTo>
                <a:lnTo>
                  <a:pt x="4834" y="5067"/>
                </a:lnTo>
                <a:lnTo>
                  <a:pt x="0" y="5067"/>
                </a:lnTo>
                <a:lnTo>
                  <a:pt x="10689" y="0"/>
                </a:lnTo>
                <a:lnTo>
                  <a:pt x="21600" y="5067"/>
                </a:lnTo>
                <a:lnTo>
                  <a:pt x="16544" y="5067"/>
                </a:lnTo>
                <a:lnTo>
                  <a:pt x="16544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5538469" y="2527935"/>
            <a:ext cx="675006" cy="1663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7161"/>
                </a:lnTo>
                <a:lnTo>
                  <a:pt x="21600" y="17161"/>
                </a:lnTo>
                <a:lnTo>
                  <a:pt x="10933" y="21600"/>
                </a:lnTo>
                <a:lnTo>
                  <a:pt x="0" y="17161"/>
                </a:lnTo>
                <a:lnTo>
                  <a:pt x="5090" y="17161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7" name="图形"/>
          <p:cNvSpPr txBox="1"/>
          <p:nvPr/>
        </p:nvSpPr>
        <p:spPr>
          <a:xfrm>
            <a:off x="548512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1956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409892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1997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271779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2012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133286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2020</a:t>
            </a: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6995159" y="454151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" name="图形"/>
          <p:cNvSpPr txBox="1"/>
          <p:nvPr/>
        </p:nvSpPr>
        <p:spPr>
          <a:xfrm>
            <a:off x="7539989" y="206882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符号AI时代：探索逻辑推理与问题求解，奠定AI理论基础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7539989" y="324103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机器学习时代：数据驱动方法崛起，推动AI走向实用化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7539989" y="4413250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大语言模型时代：通用人工智能黎明开启，重塑人类文明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218947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3386455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7097394" y="4640580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227329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346201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AI发展史演讲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AI的起源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1956年达特茅斯会议由McCarthy、Minsky、Shannon等人发起，首次提出"人工智能"术语，确立符号主义范式，标志着AI作为独立学科的正式诞生。</a:t>
            </a:r>
          </a:p>
        </p:txBody>
      </p:sp>
      <p:pic>
        <p:nvPicPr>
          <p:cNvPr id="4" name="图形" descr="eniac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1687469"/>
            <a:ext cx="5156200" cy="3940260"/>
          </a:xfrm>
          <a:prstGeom prst="rect">
            <a:avLst/>
          </a:prstGeom>
        </p:spPr>
      </p:pic>
      <p:sp>
        <p:nvSpPr>
          <p:cNvPr id="5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达特茅斯会议确立了符号主义作为早期AI的核心范式，奠定学科基础。</a:t>
            </a:r>
          </a:p>
        </p:txBody>
      </p:sp>
      <p:sp>
        <p:nvSpPr>
          <p:cNvPr id="6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7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感知机诞生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1958年Rosenblatt发明感知机，首个可学习的神经元模型，奠定神经网络理论基础。</a:t>
            </a:r>
          </a:p>
        </p:txBody>
      </p:sp>
      <p:sp>
        <p:nvSpPr>
          <p:cNvPr id="9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0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早期挫折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TWO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专家系统时代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969"/>
              <a:t>回顾1970至1997年间AI研究的起伏历程，深入解析两次AI寒冬的技术与资金成因。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969"/>
              <a:t>聚焦专家系统的实用价值，以及IBM深蓝战胜卡斯帕罗夫这一历史性事件如何重燃公众信心。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02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TWO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ai_funding_curv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1672233"/>
            <a:ext cx="5562600" cy="3564332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1386204" y="3837305"/>
            <a:ext cx="67500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775" y="21600"/>
                </a:moveTo>
                <a:lnTo>
                  <a:pt x="4825" y="21600"/>
                </a:lnTo>
                <a:lnTo>
                  <a:pt x="4825" y="5067"/>
                </a:lnTo>
                <a:lnTo>
                  <a:pt x="0" y="5067"/>
                </a:lnTo>
                <a:lnTo>
                  <a:pt x="10667" y="0"/>
                </a:lnTo>
                <a:lnTo>
                  <a:pt x="21600" y="5067"/>
                </a:lnTo>
                <a:lnTo>
                  <a:pt x="16775" y="5067"/>
                </a:lnTo>
                <a:lnTo>
                  <a:pt x="16775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>
            <a:off x="2771139" y="2990849"/>
            <a:ext cx="675006" cy="1249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5835"/>
                </a:lnTo>
                <a:lnTo>
                  <a:pt x="21600" y="15835"/>
                </a:lnTo>
                <a:lnTo>
                  <a:pt x="10933" y="21600"/>
                </a:lnTo>
                <a:lnTo>
                  <a:pt x="0" y="15835"/>
                </a:lnTo>
                <a:lnTo>
                  <a:pt x="5090" y="15835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>
            <a:off x="4153534" y="3837305"/>
            <a:ext cx="67373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544" y="21600"/>
                </a:moveTo>
                <a:lnTo>
                  <a:pt x="4834" y="21600"/>
                </a:lnTo>
                <a:lnTo>
                  <a:pt x="4834" y="5067"/>
                </a:lnTo>
                <a:lnTo>
                  <a:pt x="0" y="5067"/>
                </a:lnTo>
                <a:lnTo>
                  <a:pt x="10689" y="0"/>
                </a:lnTo>
                <a:lnTo>
                  <a:pt x="21600" y="5067"/>
                </a:lnTo>
                <a:lnTo>
                  <a:pt x="16544" y="5067"/>
                </a:lnTo>
                <a:lnTo>
                  <a:pt x="16544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5538469" y="2527935"/>
            <a:ext cx="675006" cy="1663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7161"/>
                </a:lnTo>
                <a:lnTo>
                  <a:pt x="21600" y="17161"/>
                </a:lnTo>
                <a:lnTo>
                  <a:pt x="10933" y="21600"/>
                </a:lnTo>
                <a:lnTo>
                  <a:pt x="0" y="17161"/>
                </a:lnTo>
                <a:lnTo>
                  <a:pt x="5090" y="17161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7" name="图形"/>
          <p:cNvSpPr txBox="1"/>
          <p:nvPr/>
        </p:nvSpPr>
        <p:spPr>
          <a:xfrm>
            <a:off x="548512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1974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409892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1980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271779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1987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133286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1997</a:t>
            </a: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6995159" y="454151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" name="图形"/>
          <p:cNvSpPr txBox="1"/>
          <p:nvPr/>
        </p:nvSpPr>
        <p:spPr>
          <a:xfrm>
            <a:off x="7539989" y="206882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专家系统短暂辉煌，证明AI实用价值，为后续发展奠定基础。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7539989" y="324103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两次AI寒冬：计算力不足、预算削减、维护成本高昂等多重因素叠加所致。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7539989" y="4413250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IBM深蓝以暴力搜索结合启发式评估战胜卡斯帕罗夫，重燃公众对AI的信心。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218947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3386455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7097394" y="4640580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227329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346201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三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机器学习崛起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727"/>
              <a:t>1997–2012年间，AI研究完成从手工编码规则向数据驱动学习的范式转移，SVM、随机森林、DBN等技术相继突破。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727"/>
              <a:t>Netflix推荐系统与IBM Watson的成功，标志着机器学习在商业应用中迈入全新发展阶段。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03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THREE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AI发展史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机器学习崛起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AI研究完成根本性范式革命，从手工编码规则转向数据驱动学习，机器自动从数据中学习成为新范式，深刻影响整个人工智能领域的发展方向。</a:t>
            </a:r>
          </a:p>
        </p:txBody>
      </p:sp>
      <p:pic>
        <p:nvPicPr>
          <p:cNvPr id="4" name="图形" descr="technology_evolution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1947067"/>
            <a:ext cx="5156200" cy="3421065"/>
          </a:xfrm>
          <a:prstGeom prst="rect">
            <a:avLst/>
          </a:prstGeom>
        </p:spPr>
      </p:pic>
      <p:sp>
        <p:nvSpPr>
          <p:cNvPr id="5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Netflix推荐系统成功；IBM Watson展示NLP突破</a:t>
            </a:r>
          </a:p>
        </p:txBody>
      </p:sp>
      <p:sp>
        <p:nvSpPr>
          <p:cNvPr id="6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7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关键技术突破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SVM（1995）；随机森林（2001）；深度信念网络（2006）</a:t>
            </a:r>
          </a:p>
        </p:txBody>
      </p:sp>
      <p:sp>
        <p:nvSpPr>
          <p:cNvPr id="9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0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标志性应用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FOUR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深度学习革命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从2012年AlexNet夺冠到GAN、ResNet的相继诞生，深度学习迎来爆发式增长。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AlphaGo战胜李世石，神经网络确立了在计算机视觉与AI领域的统治地位。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04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FOUR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FIVE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4466"/>
              <a:t>大语言模型时代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727"/>
              <a:t>从Transformer架构的诞生到GPT-4，模型规模实现指数级增长，AI进入通用智能的黎明。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727"/>
              <a:t>涌现出思维链推理、上下文学习等新能力，多模态大模型与具身智能引领未来前沿方向。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05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FIVE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llm_growth_performanc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33394" y="2440406"/>
            <a:ext cx="5257800" cy="2231186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616584" y="1948815"/>
            <a:ext cx="3102611" cy="1745616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808080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1099819" y="2465705"/>
            <a:ext cx="2327911" cy="86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大模型时代的开端：Transformer革命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42949" y="3844290"/>
            <a:ext cx="2209166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lnSpc>
                <a:spcPct val="150000"/>
              </a:lnSpc>
              <a:defRPr sz="10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模型规模指数增长，涌现能力突破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721359" y="4471034"/>
            <a:ext cx="2209166" cy="9779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lnSpc>
                <a:spcPct val="150000"/>
              </a:lnSpc>
              <a:defRPr sz="10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「Attention is All You Need」以自注意力机制取代RNN/LSTM，开启现代NLP新纪元，LLM规模从BERT激增至GPT-4。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443864" y="2071370"/>
            <a:ext cx="684531" cy="828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sz="48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“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8512173" y="1652270"/>
            <a:ext cx="815862" cy="523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0.3B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8595359" y="2209800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BERT（2018）双向预训练，开创预训练语言模型新范式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9377044" y="1729105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BERT参数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8512173" y="3023235"/>
            <a:ext cx="815862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175B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8595359" y="3580765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GPT-3（2020）实现few-shot涌现能力，引发AI新浪潮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9377044" y="3100070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GPT-3参数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8512173" y="4394200"/>
            <a:ext cx="815862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1716"/>
              <a:t>多模态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8595359" y="4951730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GPT-4（2023）引入RLHF对齐，通过美国律师资格考试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9377044" y="4471035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GPT-4能力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llm_growth_performanc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33394" y="2440406"/>
            <a:ext cx="5257800" cy="2231186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616584" y="1948815"/>
            <a:ext cx="3102611" cy="1745616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808080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1099819" y="2465705"/>
            <a:ext cx="2327911" cy="86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大模型涌现能力与AI未来前沿方向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42949" y="3844290"/>
            <a:ext cx="2209166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lnSpc>
                <a:spcPct val="150000"/>
              </a:lnSpc>
              <a:defRPr sz="10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迈向通用智能的关键洞见与展望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721359" y="4471034"/>
            <a:ext cx="2209166" cy="9779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lnSpc>
                <a:spcPct val="150000"/>
              </a:lnSpc>
              <a:defRPr sz="10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当模型规模突破临界点，思维链推理、上下文学习、指令遵循等未明确优化的能力随之涌现，AI已从未来承诺成为现在的现实。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443864" y="2071370"/>
            <a:ext cx="684531" cy="828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sz="48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“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8512173" y="1652270"/>
            <a:ext cx="815862" cy="523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1716"/>
              <a:t>×百万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8595359" y="2209800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从ENIAC到GPU集群，算力增长逾百万倍，驱动AI技术持续跃升。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9377044" y="1729105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算力驱动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8512173" y="3023235"/>
            <a:ext cx="815862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4+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8595359" y="3580765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多模态、具身智能、神经符号结合、AI对齐四大前沿方向引领未来发展。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9377044" y="3100070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前沿方向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8512173" y="4394200"/>
            <a:ext cx="815862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3项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8595359" y="4951730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思维链推理、上下文学习、指令遵循——大模型三大核心涌现能力。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9377044" y="4471035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涌现能力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谢谢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感谢聆听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感谢您的耐心聆听，希望本次关于 AI 发展历程的分享对您有所启发。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从 Dartmouth 会议到大语言模型时代，AI 的未来值得我们共同期待。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人工智能发展史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谢谢观看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1" name="图形" descr="cc43ea53a92cf935fa80d63d91f2b4e55f28b2ef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PPTAgent</cp:lastModifiedBy>
</cp:coreProperties>
</file>