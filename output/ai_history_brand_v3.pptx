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1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E0FF"/>
          </a:solidFill>
        </a:fill>
      </a:tcStyle>
    </a:wholeTbl>
    <a:band2H>
      <a:tcTxStyle b="def" i="def"/>
      <a:tcStyle>
        <a:tcBdr/>
        <a:fill>
          <a:solidFill>
            <a:srgbClr val="E8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思源黑体 CN Normal"/>
      </a:defRPr>
    </a:lvl1pPr>
    <a:lvl2pPr indent="228600" latinLnBrk="0">
      <a:defRPr sz="1200">
        <a:latin typeface="+mn-lt"/>
        <a:ea typeface="+mn-ea"/>
        <a:cs typeface="+mn-cs"/>
        <a:sym typeface="思源黑体 CN Normal"/>
      </a:defRPr>
    </a:lvl2pPr>
    <a:lvl3pPr indent="457200" latinLnBrk="0">
      <a:defRPr sz="1200">
        <a:latin typeface="+mn-lt"/>
        <a:ea typeface="+mn-ea"/>
        <a:cs typeface="+mn-cs"/>
        <a:sym typeface="思源黑体 CN Normal"/>
      </a:defRPr>
    </a:lvl3pPr>
    <a:lvl4pPr indent="685800" latinLnBrk="0">
      <a:defRPr sz="1200">
        <a:latin typeface="+mn-lt"/>
        <a:ea typeface="+mn-ea"/>
        <a:cs typeface="+mn-cs"/>
        <a:sym typeface="思源黑体 CN Normal"/>
      </a:defRPr>
    </a:lvl4pPr>
    <a:lvl5pPr indent="914400" latinLnBrk="0">
      <a:defRPr sz="1200">
        <a:latin typeface="+mn-lt"/>
        <a:ea typeface="+mn-ea"/>
        <a:cs typeface="+mn-cs"/>
        <a:sym typeface="思源黑体 CN Normal"/>
      </a:defRPr>
    </a:lvl5pPr>
    <a:lvl6pPr indent="1143000" latinLnBrk="0">
      <a:defRPr sz="1200">
        <a:latin typeface="+mn-lt"/>
        <a:ea typeface="+mn-ea"/>
        <a:cs typeface="+mn-cs"/>
        <a:sym typeface="思源黑体 CN Normal"/>
      </a:defRPr>
    </a:lvl6pPr>
    <a:lvl7pPr indent="1371600" latinLnBrk="0">
      <a:defRPr sz="1200">
        <a:latin typeface="+mn-lt"/>
        <a:ea typeface="+mn-ea"/>
        <a:cs typeface="+mn-cs"/>
        <a:sym typeface="思源黑体 CN Normal"/>
      </a:defRPr>
    </a:lvl7pPr>
    <a:lvl8pPr indent="1600200" latinLnBrk="0">
      <a:defRPr sz="1200">
        <a:latin typeface="+mn-lt"/>
        <a:ea typeface="+mn-ea"/>
        <a:cs typeface="+mn-cs"/>
        <a:sym typeface="思源黑体 CN Normal"/>
      </a:defRPr>
    </a:lvl8pPr>
    <a:lvl9pPr indent="1828800" latinLnBrk="0">
      <a:defRPr sz="1200">
        <a:latin typeface="+mn-lt"/>
        <a:ea typeface="+mn-ea"/>
        <a:cs typeface="+mn-cs"/>
        <a:sym typeface="思源黑体 CN Norm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xiazai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/>
            <a:r>
              <a:t>产品系列展示</a:t>
            </a:r>
          </a:p>
        </p:txBody>
      </p:sp>
      <p:sp>
        <p:nvSpPr>
          <p:cNvPr id="3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/>
            <a:r>
              <a:t>商业运营模式</a:t>
            </a:r>
          </a:p>
        </p:txBody>
      </p:sp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9"/>
          <p:cNvSpPr txBox="1"/>
          <p:nvPr/>
        </p:nvSpPr>
        <p:spPr>
          <a:xfrm>
            <a:off x="11805670" y="-1"/>
            <a:ext cx="3406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1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u="sng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2" invalidUrl="" action="" tgtFrame="" tooltip="" history="1" highlightClick="0" endSnd="0"/>
              </a:rPr>
              <a:t>PPT</a:t>
            </a:r>
            <a:r>
              <a:rPr u="sng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2" invalidUrl="" action="" tgtFrame="" tooltip="" history="1" highlightClick="0" endSnd="0"/>
              </a:rPr>
              <a:t>下载</a:t>
            </a:r>
            <a:r>
              <a:t> </a:t>
            </a:r>
            <a:r>
              <a:t>http://www.1ppt.com/xiazai/</a:t>
            </a:r>
          </a:p>
        </p:txBody>
      </p:sp>
      <p:sp>
        <p:nvSpPr>
          <p:cNvPr id="5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/>
            <a:r>
              <a:t>企业品牌介绍</a:t>
            </a:r>
          </a:p>
        </p:txBody>
      </p:sp>
      <p:sp>
        <p:nvSpPr>
          <p:cNvPr id="6" name="标题文本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7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1pPr>
      <a:lvl2pPr marL="7143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2pPr>
      <a:lvl3pPr marL="11715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3pPr>
      <a:lvl4pPr marL="16655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4pPr>
      <a:lvl5pPr marL="21227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5pPr>
      <a:lvl6pPr marL="2514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6pPr>
      <a:lvl7pPr marL="29718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7pPr>
      <a:lvl8pPr marL="34290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8pPr>
      <a:lvl9pPr marL="38862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AI发展简史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人工智能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2026-04-14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AI发展简史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简介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748"/>
              <a:t>从1956年至今：人工智能的发展历程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历史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3b8add963136f361ab5c80602bd6fe9fa41541a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4731"/>
            <a:ext cx="12192000" cy="6832601"/>
          </a:xfrm>
          <a:prstGeom prst="rect">
            <a:avLst/>
          </a:prstGeom>
        </p:spPr>
      </p:pic>
      <p:sp>
        <p:nvSpPr>
          <p:cNvPr id="3" name="图形"/>
          <p:cNvSpPr txBox="1"/>
          <p:nvPr/>
        </p:nvSpPr>
        <p:spPr>
          <a:xfrm>
            <a:off x="722630" y="464819"/>
            <a:ext cx="1783715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6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目录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2577465" y="770890"/>
            <a:ext cx="22453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584"/>
              <a:t>Table of Contents</a:t>
            </a:r>
          </a:p>
        </p:txBody>
      </p:sp>
      <p:sp>
        <p:nvSpPr>
          <p:cNvPr id="5" name="TextBox 9"/>
          <p:cNvSpPr txBox="1"/>
          <p:nvPr/>
        </p:nvSpPr>
        <p:spPr>
          <a:xfrm>
            <a:off x="95622" y="36763"/>
            <a:ext cx="3622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00">
                <a:noFill/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sz="600"/>
              <a:t>2026-04-14</a:t>
            </a: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30752" y="1766646"/>
            <a:ext cx="1839681" cy="12511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666749" y="1982541"/>
            <a:ext cx="2626996" cy="3886129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1167763" y="2335530"/>
            <a:ext cx="2011682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37009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4359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394334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02</a:t>
            </a: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64695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2045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6753223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03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2381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89731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 txBox="1"/>
          <p:nvPr/>
        </p:nvSpPr>
        <p:spPr>
          <a:xfrm>
            <a:off x="947800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04</a:t>
            </a: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969009" y="3248660"/>
            <a:ext cx="1948816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77253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6572249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935037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2" name="图形"/>
          <p:cNvSpPr txBox="1"/>
          <p:nvPr/>
        </p:nvSpPr>
        <p:spPr>
          <a:xfrm>
            <a:off x="98488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从1956年至今的AI发展历程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关键时代与里程碑事件概览</a:t>
            </a:r>
          </a:p>
        </p:txBody>
      </p:sp>
      <p:sp>
        <p:nvSpPr>
          <p:cNvPr id="23" name="图形"/>
          <p:cNvSpPr txBox="1"/>
          <p:nvPr/>
        </p:nvSpPr>
        <p:spPr>
          <a:xfrm>
            <a:off x="98869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123"/>
              <a:t>AI发展简史</a:t>
            </a:r>
          </a:p>
        </p:txBody>
      </p:sp>
      <p:sp>
        <p:nvSpPr>
          <p:cNvPr id="24" name="图形"/>
          <p:cNvSpPr txBox="1"/>
          <p:nvPr/>
        </p:nvSpPr>
        <p:spPr>
          <a:xfrm>
            <a:off x="382206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待补充内容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待补充内容</a:t>
            </a:r>
          </a:p>
        </p:txBody>
      </p:sp>
      <p:sp>
        <p:nvSpPr>
          <p:cNvPr id="25" name="图形"/>
          <p:cNvSpPr txBox="1"/>
          <p:nvPr/>
        </p:nvSpPr>
        <p:spPr>
          <a:xfrm>
            <a:off x="382587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待定</a:t>
            </a:r>
          </a:p>
        </p:txBody>
      </p:sp>
      <p:sp>
        <p:nvSpPr>
          <p:cNvPr id="26" name="图形"/>
          <p:cNvSpPr txBox="1"/>
          <p:nvPr/>
        </p:nvSpPr>
        <p:spPr>
          <a:xfrm>
            <a:off x="662241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待补充内容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待补充内容</a:t>
            </a:r>
          </a:p>
        </p:txBody>
      </p:sp>
      <p:sp>
        <p:nvSpPr>
          <p:cNvPr id="27" name="图形"/>
          <p:cNvSpPr txBox="1"/>
          <p:nvPr/>
        </p:nvSpPr>
        <p:spPr>
          <a:xfrm>
            <a:off x="662622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待定</a:t>
            </a:r>
          </a:p>
        </p:txBody>
      </p:sp>
      <p:sp>
        <p:nvSpPr>
          <p:cNvPr id="28" name="图形"/>
          <p:cNvSpPr txBox="1"/>
          <p:nvPr/>
        </p:nvSpPr>
        <p:spPr>
          <a:xfrm>
            <a:off x="945959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待补充内容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待补充内容</a:t>
            </a:r>
          </a:p>
        </p:txBody>
      </p:sp>
      <p:sp>
        <p:nvSpPr>
          <p:cNvPr id="29" name="图形"/>
          <p:cNvSpPr txBox="1"/>
          <p:nvPr/>
        </p:nvSpPr>
        <p:spPr>
          <a:xfrm>
            <a:off x="946340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待定</a:t>
            </a:r>
          </a:p>
        </p:txBody>
      </p:sp>
      <p:sp>
        <p:nvSpPr>
          <p:cNvPr id="30" name="图形"/>
          <p:cNvSpPr txBox="1"/>
          <p:nvPr/>
        </p:nvSpPr>
        <p:spPr>
          <a:xfrm>
            <a:off x="1225549" y="3305810"/>
            <a:ext cx="138557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01</a:t>
            </a:r>
          </a:p>
        </p:txBody>
      </p:sp>
      <p:sp>
        <p:nvSpPr>
          <p:cNvPr id="31" name="图形"/>
          <p:cNvSpPr txBox="1"/>
          <p:nvPr/>
        </p:nvSpPr>
        <p:spPr>
          <a:xfrm>
            <a:off x="3816349" y="3305810"/>
            <a:ext cx="186563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02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6620508" y="3305810"/>
            <a:ext cx="183451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03</a:t>
            </a:r>
          </a:p>
        </p:txBody>
      </p:sp>
      <p:sp>
        <p:nvSpPr>
          <p:cNvPr id="33" name="图形"/>
          <p:cNvSpPr txBox="1"/>
          <p:nvPr/>
        </p:nvSpPr>
        <p:spPr>
          <a:xfrm>
            <a:off x="9451339" y="3305810"/>
            <a:ext cx="173418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简史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AI发展简史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从1956年达特茅斯会议确立AI学科地位，到符号推理与感知机的早期探索，再到2012年AlexNet开启的深度学习革命。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2020年至今，以Transformer架构为核心的大语言模型（LLM）驱动AI进入新时代，模型规模增长带来显著的涌现能力。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600"/>
              <a:t>A Brief History of Artificial Intelligence: From Dartmouth to the Era of Large Language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ai_timelin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3394" y="1919137"/>
            <a:ext cx="5257800" cy="3273724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616584" y="1948815"/>
            <a:ext cx="3102611" cy="1745616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808080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1099819" y="2465705"/>
            <a:ext cx="2327911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AI发展历程：从1956年至今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42949" y="3844290"/>
            <a:ext cx="2209166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跨越七十年的技术演进与突破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721359" y="4471034"/>
            <a:ext cx="2209166" cy="9779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从Symbolic AI到Machine Learning，再到Deep Learning与LLM Era，AI经历了多次革命性飞跃。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443864" y="2071370"/>
            <a:ext cx="684531" cy="828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48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❝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8512173" y="1652270"/>
            <a:ext cx="815862" cy="523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1956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8595359" y="220980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Symbolic AI时代：达特茅斯会议开启AI元年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9377044" y="172910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起源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8512173" y="3023235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2012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8595359" y="3580765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Deep Learning时代：深度神经网络引领突破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9377044" y="3100070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崛起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8512173" y="4394200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2022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8595359" y="495173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LLM Era：ChatGPT等大语言模型重塑AI格局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9377044" y="447103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现在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2984"/>
              <a:t>起源：达特茅斯会议与符号AI时代的诞生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2984"/>
              <a:t>1956年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1956年，John McCarthy、Marvin Minsky等人在达特茅斯会议上首次提出"人工智能"概念，标志着AI作为独立学科正式诞生。</a:t>
            </a:r>
          </a:p>
        </p:txBody>
      </p:sp>
      <p:pic>
        <p:nvPicPr>
          <p:cNvPr id="4" name="图形" descr="ai_timelin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2052367"/>
            <a:ext cx="5156200" cy="3210464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早期研究聚焦于符号推理与问题求解。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符号AI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1958年Frank Rosenblatt发明感知机，奠定神经网络基础。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感知机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deep_learning_layers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3394" y="1803400"/>
            <a:ext cx="4291445" cy="35052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616584" y="1948815"/>
            <a:ext cx="3102611" cy="1745616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808080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1099819" y="2465705"/>
            <a:ext cx="2327911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深度学习革命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42949" y="3844290"/>
            <a:ext cx="2209166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层次化特征提取重塑现代AI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721359" y="4471034"/>
            <a:ext cx="2209166" cy="9779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2012年AlexNet在ImageNet上取得突破，GAN、ResNet、AlphaGo相继问世，AI在图像识别与博弈领域全面超越人类水平。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443864" y="2071370"/>
            <a:ext cx="684531" cy="828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48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❝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8512173" y="1652270"/>
            <a:ext cx="815862" cy="523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26%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8595359" y="220980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AlexNet之前ImageNet的错误率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9377044" y="172910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赛前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8512173" y="3023235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584"/>
              <a:t>15.3%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8595359" y="3580765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AlexNet将错误率大幅降至15.3%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9377044" y="3100070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2012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8512173" y="4394200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3+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8595359" y="495173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GAN、ResNet、AlphaGo三大里程碑突破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9377044" y="447103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突破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2238"/>
              <a:t>大语言模型时代：Transformer架构如何重塑NLP与现代AI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2238"/>
              <a:t>LLM时代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2017年Transformer架构诞生，2022年ChatGPT引爆全球，开启大语言模型新纪元。</a:t>
            </a:r>
          </a:p>
        </p:txBody>
      </p:sp>
      <p:pic>
        <p:nvPicPr>
          <p:cNvPr id="4" name="图形" descr="transformer_architectur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805725"/>
            <a:ext cx="5156199" cy="3703749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模型参数从BERT的3.4亿增长至GPT-4的万亿级别。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能力涌现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涌现出思维链推理与上下文学习等新兴能力。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规模扩张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4700"/>
              <a:t>感谢您的聆听！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谢谢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AI发展简史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2026-04-14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结束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AI发展简史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致谢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cc43ea53a92cf935fa80d63d91f2b4e55f28b2e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