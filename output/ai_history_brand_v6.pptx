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1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E0FF"/>
          </a:solidFill>
        </a:fill>
      </a:tcStyle>
    </a:wholeTbl>
    <a:band2H>
      <a:tcTxStyle b="def" i="def"/>
      <a:tcStyle>
        <a:tcBdr/>
        <a:fill>
          <a:solidFill>
            <a:srgbClr val="E8F0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3" name="Shape 7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思源黑体 CN Normal"/>
      </a:defRPr>
    </a:lvl1pPr>
    <a:lvl2pPr indent="228600" latinLnBrk="0">
      <a:defRPr sz="1200">
        <a:latin typeface="+mn-lt"/>
        <a:ea typeface="+mn-ea"/>
        <a:cs typeface="+mn-cs"/>
        <a:sym typeface="思源黑体 CN Normal"/>
      </a:defRPr>
    </a:lvl2pPr>
    <a:lvl3pPr indent="457200" latinLnBrk="0">
      <a:defRPr sz="1200">
        <a:latin typeface="+mn-lt"/>
        <a:ea typeface="+mn-ea"/>
        <a:cs typeface="+mn-cs"/>
        <a:sym typeface="思源黑体 CN Normal"/>
      </a:defRPr>
    </a:lvl3pPr>
    <a:lvl4pPr indent="685800" latinLnBrk="0">
      <a:defRPr sz="1200">
        <a:latin typeface="+mn-lt"/>
        <a:ea typeface="+mn-ea"/>
        <a:cs typeface="+mn-cs"/>
        <a:sym typeface="思源黑体 CN Normal"/>
      </a:defRPr>
    </a:lvl4pPr>
    <a:lvl5pPr indent="914400" latinLnBrk="0">
      <a:defRPr sz="1200">
        <a:latin typeface="+mn-lt"/>
        <a:ea typeface="+mn-ea"/>
        <a:cs typeface="+mn-cs"/>
        <a:sym typeface="思源黑体 CN Normal"/>
      </a:defRPr>
    </a:lvl5pPr>
    <a:lvl6pPr indent="1143000" latinLnBrk="0">
      <a:defRPr sz="1200">
        <a:latin typeface="+mn-lt"/>
        <a:ea typeface="+mn-ea"/>
        <a:cs typeface="+mn-cs"/>
        <a:sym typeface="思源黑体 CN Normal"/>
      </a:defRPr>
    </a:lvl6pPr>
    <a:lvl7pPr indent="1371600" latinLnBrk="0">
      <a:defRPr sz="1200">
        <a:latin typeface="+mn-lt"/>
        <a:ea typeface="+mn-ea"/>
        <a:cs typeface="+mn-cs"/>
        <a:sym typeface="思源黑体 CN Normal"/>
      </a:defRPr>
    </a:lvl7pPr>
    <a:lvl8pPr indent="1600200" latinLnBrk="0">
      <a:defRPr sz="1200">
        <a:latin typeface="+mn-lt"/>
        <a:ea typeface="+mn-ea"/>
        <a:cs typeface="+mn-cs"/>
        <a:sym typeface="思源黑体 CN Normal"/>
      </a:defRPr>
    </a:lvl8pPr>
    <a:lvl9pPr indent="1828800" latinLnBrk="0">
      <a:defRPr sz="1200">
        <a:latin typeface="+mn-lt"/>
        <a:ea typeface="+mn-ea"/>
        <a:cs typeface="+mn-cs"/>
        <a:sym typeface="思源黑体 CN Norm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1ppt.com/xiazai/" TargetMode="Externa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2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/>
            <a:r>
              <a:t>产品系列展示</a:t>
            </a:r>
          </a:p>
        </p:txBody>
      </p:sp>
      <p:sp>
        <p:nvSpPr>
          <p:cNvPr id="3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3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/>
            <a:r>
              <a:t>商业运营模式</a:t>
            </a:r>
          </a:p>
        </p:txBody>
      </p:sp>
      <p:sp>
        <p:nvSpPr>
          <p:cNvPr id="4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9"/>
          <p:cNvSpPr txBox="1"/>
          <p:nvPr/>
        </p:nvSpPr>
        <p:spPr>
          <a:xfrm>
            <a:off x="11805670" y="-1"/>
            <a:ext cx="34061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200000"/>
              </a:lnSpc>
              <a:defRPr sz="1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u="sng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  <a:hlinkClick r:id="rId2" invalidUrl="" action="" tgtFrame="" tooltip="" history="1" highlightClick="0" endSnd="0"/>
              </a:rPr>
              <a:t>PPT</a:t>
            </a:r>
            <a:r>
              <a:rPr u="sng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  <a:hlinkClick r:id="rId2" invalidUrl="" action="" tgtFrame="" tooltip="" history="1" highlightClick="0" endSnd="0"/>
              </a:rPr>
              <a:t>下载</a:t>
            </a:r>
            <a:r>
              <a:t> </a:t>
            </a:r>
            <a:r>
              <a:t>http://www.1ppt.com/xiazai/</a:t>
            </a:r>
          </a:p>
        </p:txBody>
      </p:sp>
      <p:sp>
        <p:nvSpPr>
          <p:cNvPr id="5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/>
            <a:r>
              <a:t>企业品牌介绍</a:t>
            </a:r>
          </a:p>
        </p:txBody>
      </p:sp>
      <p:sp>
        <p:nvSpPr>
          <p:cNvPr id="6" name="标题文本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标题文本</a:t>
            </a:r>
          </a:p>
        </p:txBody>
      </p:sp>
      <p:sp>
        <p:nvSpPr>
          <p:cNvPr id="7" name="正文级别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1pPr>
      <a:lvl2pPr marL="7143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2pPr>
      <a:lvl3pPr marL="11715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3pPr>
      <a:lvl4pPr marL="16655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4pPr>
      <a:lvl5pPr marL="21227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5pPr>
      <a:lvl6pPr marL="2514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6pPr>
      <a:lvl7pPr marL="29718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7pPr>
      <a:lvl8pPr marL="34290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8pPr>
      <a:lvl9pPr marL="38862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6b15b2b44a99abb9a7cb4a896242c5aaf878cd05.png"/>
          <p:cNvPicPr>
            <a:picLocks noChangeAspect="1"/>
          </p:cNvPicPr>
          <p:nvPr/>
        </p:nvPicPr>
        <p:blipFill>
          <a:blip r:embed="rId2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AI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5661"/>
              <a:t>人工智能发展史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2026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AI史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AI发展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开篇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AI展望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1" name="图形" descr="3b8add963136f361ab5c80602bd6fe9fa41541a5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24731"/>
            <a:ext cx="12192000" cy="6832601"/>
          </a:xfrm>
          <a:prstGeom prst="rect">
            <a:avLst/>
          </a:prstGeom>
        </p:spPr>
      </p:pic>
      <p:sp>
        <p:nvSpPr>
          <p:cNvPr id="3" name="图形"/>
          <p:cNvSpPr txBox="1"/>
          <p:nvPr/>
        </p:nvSpPr>
        <p:spPr>
          <a:xfrm>
            <a:off x="722630" y="464819"/>
            <a:ext cx="1783715" cy="1158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6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目录</a:t>
            </a:r>
          </a:p>
        </p:txBody>
      </p:sp>
      <p:sp>
        <p:nvSpPr>
          <p:cNvPr id="4" name="图形"/>
          <p:cNvSpPr txBox="1"/>
          <p:nvPr/>
        </p:nvSpPr>
        <p:spPr>
          <a:xfrm>
            <a:off x="2577465" y="770890"/>
            <a:ext cx="224536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TOC</a:t>
            </a:r>
          </a:p>
        </p:txBody>
      </p:sp>
      <p:sp>
        <p:nvSpPr>
          <p:cNvPr id="5" name="TextBox 9"/>
          <p:cNvSpPr txBox="1"/>
          <p:nvPr/>
        </p:nvSpPr>
        <p:spPr>
          <a:xfrm>
            <a:off x="95622" y="36763"/>
            <a:ext cx="3622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00">
                <a:noFill/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2026</a:t>
            </a: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30752" y="1766646"/>
            <a:ext cx="1839681" cy="12511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666749" y="1982541"/>
            <a:ext cx="2626996" cy="3886129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1167763" y="2335530"/>
            <a:ext cx="2011682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01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37009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4359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394334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02</a:t>
            </a:r>
          </a:p>
        </p:txBody>
      </p:sp>
      <p:sp>
        <p:nvSpPr>
          <p:cNvPr id="12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64695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62045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" name="图形"/>
          <p:cNvSpPr txBox="1"/>
          <p:nvPr/>
        </p:nvSpPr>
        <p:spPr>
          <a:xfrm>
            <a:off x="6753223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03</a:t>
            </a: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2381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89731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图形"/>
          <p:cNvSpPr txBox="1"/>
          <p:nvPr/>
        </p:nvSpPr>
        <p:spPr>
          <a:xfrm>
            <a:off x="947800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04</a:t>
            </a: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969009" y="3248660"/>
            <a:ext cx="1948816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77253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6572249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935037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2" name="图形"/>
          <p:cNvSpPr txBox="1"/>
          <p:nvPr/>
        </p:nvSpPr>
        <p:spPr>
          <a:xfrm>
            <a:off x="98488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AI发展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里程碑</a:t>
            </a:r>
          </a:p>
        </p:txBody>
      </p:sp>
      <p:sp>
        <p:nvSpPr>
          <p:cNvPr id="23" name="图形"/>
          <p:cNvSpPr txBox="1"/>
          <p:nvPr/>
        </p:nvSpPr>
        <p:spPr>
          <a:xfrm>
            <a:off x="98869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引言</a:t>
            </a:r>
          </a:p>
        </p:txBody>
      </p:sp>
      <p:sp>
        <p:nvSpPr>
          <p:cNvPr id="24" name="图形"/>
          <p:cNvSpPr txBox="1"/>
          <p:nvPr/>
        </p:nvSpPr>
        <p:spPr>
          <a:xfrm>
            <a:off x="382206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专家系统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AI寒冬</a:t>
            </a:r>
          </a:p>
        </p:txBody>
      </p:sp>
      <p:sp>
        <p:nvSpPr>
          <p:cNvPr id="25" name="图形"/>
          <p:cNvSpPr txBox="1"/>
          <p:nvPr/>
        </p:nvSpPr>
        <p:spPr>
          <a:xfrm>
            <a:off x="382587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 寒冬</a:t>
            </a:r>
          </a:p>
        </p:txBody>
      </p:sp>
      <p:sp>
        <p:nvSpPr>
          <p:cNvPr id="26" name="图形"/>
          <p:cNvSpPr txBox="1"/>
          <p:nvPr/>
        </p:nvSpPr>
        <p:spPr>
          <a:xfrm>
            <a:off x="662241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数据驱动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技术应用</a:t>
            </a:r>
          </a:p>
        </p:txBody>
      </p:sp>
      <p:sp>
        <p:nvSpPr>
          <p:cNvPr id="27" name="图形"/>
          <p:cNvSpPr txBox="1"/>
          <p:nvPr/>
        </p:nvSpPr>
        <p:spPr>
          <a:xfrm>
            <a:off x="662622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机器学习</a:t>
            </a:r>
          </a:p>
        </p:txBody>
      </p:sp>
      <p:sp>
        <p:nvSpPr>
          <p:cNvPr id="28" name="图形"/>
          <p:cNvSpPr txBox="1"/>
          <p:nvPr/>
        </p:nvSpPr>
        <p:spPr>
          <a:xfrm>
            <a:off x="945959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深度学习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大语言模型</a:t>
            </a:r>
          </a:p>
        </p:txBody>
      </p:sp>
      <p:sp>
        <p:nvSpPr>
          <p:cNvPr id="29" name="图形"/>
          <p:cNvSpPr txBox="1"/>
          <p:nvPr/>
        </p:nvSpPr>
        <p:spPr>
          <a:xfrm>
            <a:off x="946340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123"/>
              <a:t>深度学习革命</a:t>
            </a:r>
          </a:p>
        </p:txBody>
      </p:sp>
      <p:sp>
        <p:nvSpPr>
          <p:cNvPr id="30" name="图形"/>
          <p:cNvSpPr txBox="1"/>
          <p:nvPr/>
        </p:nvSpPr>
        <p:spPr>
          <a:xfrm>
            <a:off x="1225549" y="3305810"/>
            <a:ext cx="138557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Intro</a:t>
            </a:r>
          </a:p>
        </p:txBody>
      </p:sp>
      <p:sp>
        <p:nvSpPr>
          <p:cNvPr id="31" name="图形"/>
          <p:cNvSpPr txBox="1"/>
          <p:nvPr/>
        </p:nvSpPr>
        <p:spPr>
          <a:xfrm>
            <a:off x="3816349" y="3305810"/>
            <a:ext cx="186563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AI</a:t>
            </a:r>
          </a:p>
        </p:txBody>
      </p:sp>
      <p:sp>
        <p:nvSpPr>
          <p:cNvPr id="32" name="图形"/>
          <p:cNvSpPr txBox="1"/>
          <p:nvPr/>
        </p:nvSpPr>
        <p:spPr>
          <a:xfrm>
            <a:off x="6620508" y="3305810"/>
            <a:ext cx="183451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ML</a:t>
            </a:r>
          </a:p>
        </p:txBody>
      </p:sp>
      <p:sp>
        <p:nvSpPr>
          <p:cNvPr id="33" name="图形"/>
          <p:cNvSpPr txBox="1"/>
          <p:nvPr/>
        </p:nvSpPr>
        <p:spPr>
          <a:xfrm>
            <a:off x="9451339" y="3305810"/>
            <a:ext cx="173418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DL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ONE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引言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AI七十年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发展历程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01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INTRO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 sz="2984"/>
              <a:t>概述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 sz="2984"/>
              <a:t>人工智能七十年发展全景（1956–2026）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从符号主义起步，历经寒冬与复兴，迈向大语言模型时代</a:t>
            </a:r>
          </a:p>
        </p:txBody>
      </p:sp>
      <p:pic>
        <p:nvPicPr>
          <p:cNvPr id="4" name="图形" descr="ai_timelin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2052367"/>
            <a:ext cx="5156200" cy="3210464"/>
          </a:xfrm>
          <a:prstGeom prst="rect">
            <a:avLst/>
          </a:prstGeom>
        </p:spPr>
      </p:pic>
      <p:sp>
        <p:nvSpPr>
          <p:cNvPr id="5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AI发展历经六大关键时代，深刻重塑人类文明未来走向</a:t>
            </a:r>
          </a:p>
        </p:txBody>
      </p:sp>
      <p:sp>
        <p:nvSpPr>
          <p:cNvPr id="6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7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769"/>
              <a:t>早期探索（1956–1996）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符号AI时代兴起，两次AI寒冬相继出现，专家系统局限暴露</a:t>
            </a:r>
          </a:p>
        </p:txBody>
      </p:sp>
      <p:sp>
        <p:nvSpPr>
          <p:cNvPr id="9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0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769"/>
              <a:t>现代腾飞（1997–至今）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 sz="2984"/>
              <a:t>起源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 sz="2984"/>
              <a:t>符号主义与早期AI的奠基性里程碑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1956年达特茅斯会议确立符号主义范式，标志AI学科诞生</a:t>
            </a:r>
          </a:p>
        </p:txBody>
      </p:sp>
      <p:pic>
        <p:nvPicPr>
          <p:cNvPr id="4" name="图形" descr="eniac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1687469"/>
            <a:ext cx="5156200" cy="3940260"/>
          </a:xfrm>
          <a:prstGeom prst="rect">
            <a:avLst/>
          </a:prstGeom>
        </p:spPr>
      </p:pic>
      <p:sp>
        <p:nvSpPr>
          <p:cNvPr id="5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早期计算机系统为AI研究奠定硬件基础</a:t>
            </a:r>
          </a:p>
        </p:txBody>
      </p:sp>
      <p:sp>
        <p:nvSpPr>
          <p:cNvPr id="6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7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769"/>
              <a:t>感知机（Perceptron）的诞生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1958年Rosenblatt发明首个可学习的人工神经元模型</a:t>
            </a:r>
          </a:p>
        </p:txBody>
      </p:sp>
      <p:sp>
        <p:nvSpPr>
          <p:cNvPr id="9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0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769"/>
              <a:t>单层感知机局限性的揭示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TWO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寒冬与复苏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两次寒冬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AI复苏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02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/>
          <p:nvPr/>
        </p:nvSpPr>
        <p:spPr xmlns:m="http://schemas.openxmlformats.org/officeDocument/2006/math" xmlns:a14="http://schemas.microsoft.com/office/drawing/2010/main">
          <a:xfrm>
            <a:off x="1386204" y="3837305"/>
            <a:ext cx="67500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775" y="21600"/>
                </a:moveTo>
                <a:lnTo>
                  <a:pt x="4825" y="21600"/>
                </a:lnTo>
                <a:lnTo>
                  <a:pt x="4825" y="5067"/>
                </a:lnTo>
                <a:lnTo>
                  <a:pt x="0" y="5067"/>
                </a:lnTo>
                <a:lnTo>
                  <a:pt x="10667" y="0"/>
                </a:lnTo>
                <a:lnTo>
                  <a:pt x="21600" y="5067"/>
                </a:lnTo>
                <a:lnTo>
                  <a:pt x="16775" y="5067"/>
                </a:lnTo>
                <a:lnTo>
                  <a:pt x="16775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2771139" y="2990849"/>
            <a:ext cx="675006" cy="1249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5835"/>
                </a:lnTo>
                <a:lnTo>
                  <a:pt x="21600" y="15835"/>
                </a:lnTo>
                <a:lnTo>
                  <a:pt x="10933" y="21600"/>
                </a:lnTo>
                <a:lnTo>
                  <a:pt x="0" y="15835"/>
                </a:lnTo>
                <a:lnTo>
                  <a:pt x="5090" y="15835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>
            <a:off x="4153534" y="3837305"/>
            <a:ext cx="67373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544" y="21600"/>
                </a:moveTo>
                <a:lnTo>
                  <a:pt x="4834" y="21600"/>
                </a:lnTo>
                <a:lnTo>
                  <a:pt x="4834" y="5067"/>
                </a:lnTo>
                <a:lnTo>
                  <a:pt x="0" y="5067"/>
                </a:lnTo>
                <a:lnTo>
                  <a:pt x="10689" y="0"/>
                </a:lnTo>
                <a:lnTo>
                  <a:pt x="21600" y="5067"/>
                </a:lnTo>
                <a:lnTo>
                  <a:pt x="16544" y="5067"/>
                </a:lnTo>
                <a:lnTo>
                  <a:pt x="16544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5" name="图形"/>
          <p:cNvSpPr/>
          <p:nvPr/>
        </p:nvSpPr>
        <p:spPr xmlns:m="http://schemas.openxmlformats.org/officeDocument/2006/math" xmlns:a14="http://schemas.microsoft.com/office/drawing/2010/main">
          <a:xfrm>
            <a:off x="5538469" y="2527935"/>
            <a:ext cx="675006" cy="1663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7161"/>
                </a:lnTo>
                <a:lnTo>
                  <a:pt x="21600" y="17161"/>
                </a:lnTo>
                <a:lnTo>
                  <a:pt x="10933" y="21600"/>
                </a:lnTo>
                <a:lnTo>
                  <a:pt x="0" y="17161"/>
                </a:lnTo>
                <a:lnTo>
                  <a:pt x="5090" y="17161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6" name="图形"/>
          <p:cNvSpPr txBox="1"/>
          <p:nvPr/>
        </p:nvSpPr>
        <p:spPr>
          <a:xfrm>
            <a:off x="548512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1974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409892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1980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271779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1987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133286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1997</a:t>
            </a: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6995159" y="454151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7539989" y="206882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专家系统短暂辉煌，证明了AI的实用价值。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7539989" y="324103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两次AI寒冬：资金断裂、硬件崩溃、过度承诺。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7539989" y="4413250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IBM深蓝击败卡斯帕罗夫，重燃公众对AI的信心。</a:t>
            </a: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218947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3386455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7097394" y="4640580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227329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346201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5584"/>
              <a:t>THREE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机器学习崛起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AI转型期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商业化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03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FOUR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深度学习革命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深度学习崛起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AI多领域突破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04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DEEP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/>
          <p:nvPr/>
        </p:nvSpPr>
        <p:spPr xmlns:m="http://schemas.openxmlformats.org/officeDocument/2006/math" xmlns:a14="http://schemas.microsoft.com/office/drawing/2010/main">
          <a:xfrm>
            <a:off x="1386204" y="3837305"/>
            <a:ext cx="67500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775" y="21600"/>
                </a:moveTo>
                <a:lnTo>
                  <a:pt x="4825" y="21600"/>
                </a:lnTo>
                <a:lnTo>
                  <a:pt x="4825" y="5067"/>
                </a:lnTo>
                <a:lnTo>
                  <a:pt x="0" y="5067"/>
                </a:lnTo>
                <a:lnTo>
                  <a:pt x="10667" y="0"/>
                </a:lnTo>
                <a:lnTo>
                  <a:pt x="21600" y="5067"/>
                </a:lnTo>
                <a:lnTo>
                  <a:pt x="16775" y="5067"/>
                </a:lnTo>
                <a:lnTo>
                  <a:pt x="16775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2771139" y="2990849"/>
            <a:ext cx="675006" cy="1249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5835"/>
                </a:lnTo>
                <a:lnTo>
                  <a:pt x="21600" y="15835"/>
                </a:lnTo>
                <a:lnTo>
                  <a:pt x="10933" y="21600"/>
                </a:lnTo>
                <a:lnTo>
                  <a:pt x="0" y="15835"/>
                </a:lnTo>
                <a:lnTo>
                  <a:pt x="5090" y="15835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>
            <a:off x="4153534" y="3837305"/>
            <a:ext cx="67373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544" y="21600"/>
                </a:moveTo>
                <a:lnTo>
                  <a:pt x="4834" y="21600"/>
                </a:lnTo>
                <a:lnTo>
                  <a:pt x="4834" y="5067"/>
                </a:lnTo>
                <a:lnTo>
                  <a:pt x="0" y="5067"/>
                </a:lnTo>
                <a:lnTo>
                  <a:pt x="10689" y="0"/>
                </a:lnTo>
                <a:lnTo>
                  <a:pt x="21600" y="5067"/>
                </a:lnTo>
                <a:lnTo>
                  <a:pt x="16544" y="5067"/>
                </a:lnTo>
                <a:lnTo>
                  <a:pt x="16544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5" name="图形"/>
          <p:cNvSpPr/>
          <p:nvPr/>
        </p:nvSpPr>
        <p:spPr xmlns:m="http://schemas.openxmlformats.org/officeDocument/2006/math" xmlns:a14="http://schemas.microsoft.com/office/drawing/2010/main">
          <a:xfrm>
            <a:off x="5538469" y="2527935"/>
            <a:ext cx="675006" cy="1663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7161"/>
                </a:lnTo>
                <a:lnTo>
                  <a:pt x="21600" y="17161"/>
                </a:lnTo>
                <a:lnTo>
                  <a:pt x="10933" y="21600"/>
                </a:lnTo>
                <a:lnTo>
                  <a:pt x="0" y="17161"/>
                </a:lnTo>
                <a:lnTo>
                  <a:pt x="5090" y="17161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6" name="图形"/>
          <p:cNvSpPr txBox="1"/>
          <p:nvPr/>
        </p:nvSpPr>
        <p:spPr>
          <a:xfrm>
            <a:off x="548512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2012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409892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2014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271779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2015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133286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2016</a:t>
            </a: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6995159" y="454151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7539989" y="206882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AlexNet夺得ImageNet冠军，错误率从26%降至15.3%，深度学习时代正式到来。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7539989" y="324103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Ian Goodfellow提出GAN，ResNet成功训练152层网络，刷新多项记录。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7539989" y="4413250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AlphaGo结合深度强化学习与蒙特卡洛树搜索，首次超越人类围棋顶尖水平。</a:t>
            </a: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218947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3386455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7097394" y="4640580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227329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346201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FIVE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4123"/>
              <a:t>大语言模型时代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AI新纪元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三驱动力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05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FIVE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/>
          <p:nvPr/>
        </p:nvSpPr>
        <p:spPr xmlns:m="http://schemas.openxmlformats.org/officeDocument/2006/math" xmlns:a14="http://schemas.microsoft.com/office/drawing/2010/main">
          <a:xfrm>
            <a:off x="1386204" y="3837305"/>
            <a:ext cx="67500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775" y="21600"/>
                </a:moveTo>
                <a:lnTo>
                  <a:pt x="4825" y="21600"/>
                </a:lnTo>
                <a:lnTo>
                  <a:pt x="4825" y="5067"/>
                </a:lnTo>
                <a:lnTo>
                  <a:pt x="0" y="5067"/>
                </a:lnTo>
                <a:lnTo>
                  <a:pt x="10667" y="0"/>
                </a:lnTo>
                <a:lnTo>
                  <a:pt x="21600" y="5067"/>
                </a:lnTo>
                <a:lnTo>
                  <a:pt x="16775" y="5067"/>
                </a:lnTo>
                <a:lnTo>
                  <a:pt x="16775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2771139" y="2990849"/>
            <a:ext cx="675006" cy="1249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5835"/>
                </a:lnTo>
                <a:lnTo>
                  <a:pt x="21600" y="15835"/>
                </a:lnTo>
                <a:lnTo>
                  <a:pt x="10933" y="21600"/>
                </a:lnTo>
                <a:lnTo>
                  <a:pt x="0" y="15835"/>
                </a:lnTo>
                <a:lnTo>
                  <a:pt x="5090" y="15835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>
            <a:off x="4153534" y="3837305"/>
            <a:ext cx="67373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544" y="21600"/>
                </a:moveTo>
                <a:lnTo>
                  <a:pt x="4834" y="21600"/>
                </a:lnTo>
                <a:lnTo>
                  <a:pt x="4834" y="5067"/>
                </a:lnTo>
                <a:lnTo>
                  <a:pt x="0" y="5067"/>
                </a:lnTo>
                <a:lnTo>
                  <a:pt x="10689" y="0"/>
                </a:lnTo>
                <a:lnTo>
                  <a:pt x="21600" y="5067"/>
                </a:lnTo>
                <a:lnTo>
                  <a:pt x="16544" y="5067"/>
                </a:lnTo>
                <a:lnTo>
                  <a:pt x="16544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5" name="图形"/>
          <p:cNvSpPr/>
          <p:nvPr/>
        </p:nvSpPr>
        <p:spPr xmlns:m="http://schemas.openxmlformats.org/officeDocument/2006/math" xmlns:a14="http://schemas.microsoft.com/office/drawing/2010/main">
          <a:xfrm>
            <a:off x="5538469" y="2527935"/>
            <a:ext cx="675006" cy="1663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7161"/>
                </a:lnTo>
                <a:lnTo>
                  <a:pt x="21600" y="17161"/>
                </a:lnTo>
                <a:lnTo>
                  <a:pt x="10933" y="21600"/>
                </a:lnTo>
                <a:lnTo>
                  <a:pt x="0" y="17161"/>
                </a:lnTo>
                <a:lnTo>
                  <a:pt x="5090" y="17161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6" name="图形"/>
          <p:cNvSpPr txBox="1"/>
          <p:nvPr/>
        </p:nvSpPr>
        <p:spPr>
          <a:xfrm>
            <a:off x="548512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2017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409892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2018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271779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2020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133286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2023</a:t>
            </a: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6995159" y="454151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7539989" y="206882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Transformer架构：自注意力机制取代RNN/LSTM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7539989" y="324103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GPT-3达175B参数，涌现few-shot学习能力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7539989" y="4413250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GPT-4具备多模态能力，通过律师资格考试</a:t>
            </a: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218947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3386455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7097394" y="4640580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227329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346201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 sz="2984"/>
              <a:t>展望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 sz="2984"/>
              <a:t>大模型涌现能力、历史教训与未来前沿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规模突破临界点后，LLM涌现出训练时未优化的能力</a:t>
            </a:r>
          </a:p>
        </p:txBody>
      </p:sp>
      <p:pic>
        <p:nvPicPr>
          <p:cNvPr id="4" name="图形" descr="llm_growth_performanc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2563564"/>
            <a:ext cx="5156200" cy="2188071"/>
          </a:xfrm>
          <a:prstGeom prst="rect">
            <a:avLst/>
          </a:prstGeom>
        </p:spPr>
      </p:pic>
      <p:sp>
        <p:nvSpPr>
          <p:cNvPr id="5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思维链推理、上下文学习、指令遵循等能力相继涌现</a:t>
            </a:r>
          </a:p>
        </p:txBody>
      </p:sp>
      <p:sp>
        <p:nvSpPr>
          <p:cNvPr id="6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7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AI寒冬的历史教训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避免过度承诺；平衡基础研究与商业应用；跨学科合作是突破瓶颈的关键</a:t>
            </a:r>
          </a:p>
        </p:txBody>
      </p:sp>
      <p:sp>
        <p:nvSpPr>
          <p:cNvPr id="9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0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769"/>
              <a:t>未来前沿：迈向通用人工智能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6b15b2b44a99abb9a7cb4a896242c5aaf878cd05.png"/>
          <p:cNvPicPr>
            <a:picLocks noChangeAspect="1"/>
          </p:cNvPicPr>
          <p:nvPr/>
        </p:nvPicPr>
        <p:blipFill>
          <a:blip r:embed="rId2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谢谢！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830"/>
              <a:t>感谢您的聆听，期待与您共同探索 AI 的未来！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2026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04-15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Thank You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END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结语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1" name="图形" descr="cc43ea53a92cf935fa80d63d91f2b4e55f28b2ef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cp:lastModifiedBy>PPTAgent</cp:lastModifiedBy>
</cp:coreProperties>
</file>