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1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0FF"/>
          </a:solidFill>
        </a:fill>
      </a:tcStyle>
    </a:wholeTbl>
    <a:band2H>
      <a:tcTxStyle b="def" i="def"/>
      <a:tcStyle>
        <a:tcBdr/>
        <a:fill>
          <a:solidFill>
            <a:srgbClr val="E8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思源黑体 CN Normal"/>
      </a:defRPr>
    </a:lvl1pPr>
    <a:lvl2pPr indent="228600" latinLnBrk="0">
      <a:defRPr sz="1200">
        <a:latin typeface="+mn-lt"/>
        <a:ea typeface="+mn-ea"/>
        <a:cs typeface="+mn-cs"/>
        <a:sym typeface="思源黑体 CN Normal"/>
      </a:defRPr>
    </a:lvl2pPr>
    <a:lvl3pPr indent="457200" latinLnBrk="0">
      <a:defRPr sz="1200">
        <a:latin typeface="+mn-lt"/>
        <a:ea typeface="+mn-ea"/>
        <a:cs typeface="+mn-cs"/>
        <a:sym typeface="思源黑体 CN Normal"/>
      </a:defRPr>
    </a:lvl3pPr>
    <a:lvl4pPr indent="685800" latinLnBrk="0">
      <a:defRPr sz="1200">
        <a:latin typeface="+mn-lt"/>
        <a:ea typeface="+mn-ea"/>
        <a:cs typeface="+mn-cs"/>
        <a:sym typeface="思源黑体 CN Normal"/>
      </a:defRPr>
    </a:lvl4pPr>
    <a:lvl5pPr indent="914400" latinLnBrk="0">
      <a:defRPr sz="1200">
        <a:latin typeface="+mn-lt"/>
        <a:ea typeface="+mn-ea"/>
        <a:cs typeface="+mn-cs"/>
        <a:sym typeface="思源黑体 CN Normal"/>
      </a:defRPr>
    </a:lvl5pPr>
    <a:lvl6pPr indent="1143000" latinLnBrk="0">
      <a:defRPr sz="1200">
        <a:latin typeface="+mn-lt"/>
        <a:ea typeface="+mn-ea"/>
        <a:cs typeface="+mn-cs"/>
        <a:sym typeface="思源黑体 CN Normal"/>
      </a:defRPr>
    </a:lvl6pPr>
    <a:lvl7pPr indent="1371600" latinLnBrk="0">
      <a:defRPr sz="1200">
        <a:latin typeface="+mn-lt"/>
        <a:ea typeface="+mn-ea"/>
        <a:cs typeface="+mn-cs"/>
        <a:sym typeface="思源黑体 CN Normal"/>
      </a:defRPr>
    </a:lvl7pPr>
    <a:lvl8pPr indent="1600200" latinLnBrk="0">
      <a:defRPr sz="1200">
        <a:latin typeface="+mn-lt"/>
        <a:ea typeface="+mn-ea"/>
        <a:cs typeface="+mn-cs"/>
        <a:sym typeface="思源黑体 CN Normal"/>
      </a:defRPr>
    </a:lvl8pPr>
    <a:lvl9pPr indent="1828800" latinLnBrk="0">
      <a:defRPr sz="1200">
        <a:latin typeface="+mn-lt"/>
        <a:ea typeface="+mn-ea"/>
        <a:cs typeface="+mn-cs"/>
        <a:sym typeface="思源黑体 CN Norm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7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AI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发展史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 1956 年 Dartmouth 会议到当今大语言模型时代，AI 走过了七十年的发展历程。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本演讲将带您回顾 AI 各关键时代的里程碑事件与技术突破，展望通用智能的未来。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技术专题</a:t>
            </a: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人工智能七十年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AI史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2026.04</a:t>
            </a: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2" name="图形" descr="3b8add963136f361ab5c80602bd6fe9fa41541a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731"/>
            <a:ext cx="12192000" cy="6832601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22630" y="464819"/>
            <a:ext cx="1783715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6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2577465" y="770890"/>
            <a:ext cx="2245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内容概览</a:t>
            </a:r>
          </a:p>
        </p:txBody>
      </p:sp>
      <p:sp>
        <p:nvSpPr>
          <p:cNvPr id="5" name="TextBox 9"/>
          <p:cNvSpPr txBox="1"/>
          <p:nvPr/>
        </p:nvSpPr>
        <p:spPr>
          <a:xfrm>
            <a:off x="95622" y="3676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人工智能发展史 | 2026-04-15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30752" y="1766646"/>
            <a:ext cx="1839681" cy="12511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666749" y="1982541"/>
            <a:ext cx="2626996" cy="3886129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 txBox="1"/>
          <p:nvPr/>
        </p:nvSpPr>
        <p:spPr>
          <a:xfrm>
            <a:off x="1167763" y="2335530"/>
            <a:ext cx="2011682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01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37009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34359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394334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02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64695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62045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" name="图形"/>
          <p:cNvSpPr txBox="1"/>
          <p:nvPr/>
        </p:nvSpPr>
        <p:spPr>
          <a:xfrm>
            <a:off x="6753223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03</a:t>
            </a: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2381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89731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 txBox="1"/>
          <p:nvPr/>
        </p:nvSpPr>
        <p:spPr>
          <a:xfrm>
            <a:off x="947800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04</a:t>
            </a: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969009" y="3248660"/>
            <a:ext cx="1948816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77253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6572249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2" name="图形"/>
          <p:cNvSpPr/>
          <p:nvPr/>
        </p:nvSpPr>
        <p:spPr xmlns:m="http://schemas.openxmlformats.org/officeDocument/2006/math" xmlns:a14="http://schemas.microsoft.com/office/drawing/2010/main">
          <a:xfrm>
            <a:off x="935037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3" name="图形"/>
          <p:cNvSpPr txBox="1"/>
          <p:nvPr/>
        </p:nvSpPr>
        <p:spPr>
          <a:xfrm>
            <a:off x="98488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 发展历程概述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从1956年至今的里程碑</a:t>
            </a:r>
          </a:p>
        </p:txBody>
      </p:sp>
      <p:sp>
        <p:nvSpPr>
          <p:cNvPr id="24" name="图形"/>
          <p:cNvSpPr txBox="1"/>
          <p:nvPr/>
        </p:nvSpPr>
        <p:spPr>
          <a:xfrm>
            <a:off x="98869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引言</a:t>
            </a:r>
          </a:p>
        </p:txBody>
      </p:sp>
      <p:sp>
        <p:nvSpPr>
          <p:cNvPr id="25" name="图形"/>
          <p:cNvSpPr txBox="1"/>
          <p:nvPr/>
        </p:nvSpPr>
        <p:spPr>
          <a:xfrm>
            <a:off x="382206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符号推理与早期计算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Dartmouth会议等奠基事件</a:t>
            </a:r>
          </a:p>
        </p:txBody>
      </p:sp>
      <p:sp>
        <p:nvSpPr>
          <p:cNvPr id="26" name="图形"/>
          <p:cNvSpPr txBox="1"/>
          <p:nvPr/>
        </p:nvSpPr>
        <p:spPr>
          <a:xfrm>
            <a:off x="382587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早期AI</a:t>
            </a:r>
          </a:p>
        </p:txBody>
      </p:sp>
      <p:sp>
        <p:nvSpPr>
          <p:cNvPr id="27" name="图形"/>
          <p:cNvSpPr txBox="1"/>
          <p:nvPr/>
        </p:nvSpPr>
        <p:spPr>
          <a:xfrm>
            <a:off x="662241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AI寒冬的成因与影响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Deep Blue胜利标志复苏</a:t>
            </a:r>
          </a:p>
        </p:txBody>
      </p:sp>
      <p:sp>
        <p:nvSpPr>
          <p:cNvPr id="28" name="图形"/>
          <p:cNvSpPr txBox="1"/>
          <p:nvPr/>
        </p:nvSpPr>
        <p:spPr>
          <a:xfrm>
            <a:off x="662622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123"/>
              <a:t>寒冬与复苏</a:t>
            </a:r>
          </a:p>
        </p:txBody>
      </p:sp>
      <p:sp>
        <p:nvSpPr>
          <p:cNvPr id="29" name="图形"/>
          <p:cNvSpPr txBox="1"/>
          <p:nvPr/>
        </p:nvSpPr>
        <p:spPr>
          <a:xfrm>
            <a:off x="945959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从规则到机器学习的转变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关键技术突破与应用</a:t>
            </a:r>
          </a:p>
        </p:txBody>
      </p:sp>
      <p:sp>
        <p:nvSpPr>
          <p:cNvPr id="30" name="图形"/>
          <p:cNvSpPr txBox="1"/>
          <p:nvPr/>
        </p:nvSpPr>
        <p:spPr>
          <a:xfrm>
            <a:off x="946340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</a:t>
            </a:r>
          </a:p>
        </p:txBody>
      </p:sp>
      <p:sp>
        <p:nvSpPr>
          <p:cNvPr id="31" name="图形"/>
          <p:cNvSpPr txBox="1"/>
          <p:nvPr/>
        </p:nvSpPr>
        <p:spPr>
          <a:xfrm>
            <a:off x="1225549" y="3305810"/>
            <a:ext cx="138557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Intro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3816349" y="3305810"/>
            <a:ext cx="186563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Symbolic Era</a:t>
            </a:r>
          </a:p>
        </p:txBody>
      </p:sp>
      <p:sp>
        <p:nvSpPr>
          <p:cNvPr id="33" name="图形"/>
          <p:cNvSpPr txBox="1"/>
          <p:nvPr/>
        </p:nvSpPr>
        <p:spPr>
          <a:xfrm>
            <a:off x="6620508" y="3305810"/>
            <a:ext cx="183451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AI Winters</a:t>
            </a:r>
          </a:p>
        </p:txBody>
      </p:sp>
      <p:sp>
        <p:nvSpPr>
          <p:cNvPr id="34" name="图形"/>
          <p:cNvSpPr txBox="1"/>
          <p:nvPr/>
        </p:nvSpPr>
        <p:spPr>
          <a:xfrm>
            <a:off x="9451339" y="3305810"/>
            <a:ext cx="173418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ML Rise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Int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引言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回顾人工智能自1956年至今七十年的发展历程，梳理从符号主义起源到大语言模型时代的演进脉络。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通过六个关键时代的全景时间线，展现AI如何从理论设想逐步走向重塑人类文明的历史性变革。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引言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01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584"/>
              <a:t>人工智能发展史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七十年征程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AI发展概览</a:t>
            </a:r>
          </a:p>
        </p:txBody>
      </p:sp>
      <p:pic>
        <p:nvPicPr>
          <p:cNvPr id="4" name="图形" descr="ai_timelin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722647"/>
            <a:ext cx="5562599" cy="3463505"/>
          </a:xfrm>
          <a:prstGeom prst="rect">
            <a:avLst/>
          </a:prstGeom>
        </p:spPr>
      </p:pic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9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1956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1997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2012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2020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从符号AI到机器学习，AI历经理论构建与技术瓶颈的多个关键阶段。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深度学习革命与大语言模型的崛起，推动AI从学术走向广泛社会应用。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七十年蜕变，AI不断探索智能本质，深刻重塑人类文明的未来。</a:t>
            </a: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AI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123"/>
              <a:t>早期AI与符号主义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探索AI起源于符号推理的历程，聚焦1956年达特茅斯会议等奠基性里程碑。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从早期计算机科学理论到感知机的发明，揭示符号主义AI时代的思想根基与技术探索。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200"/>
              <a:t>起源与符号主义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02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早期AI时代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AI史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第二章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早期AI与符号主义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奠基性里程碑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1956年达特茅斯会议标志着AI作为独立学科的诞生，由McCarthy、Minsky等人发起，首次提出"人工智能"术语，确立符号主义范式。</a:t>
            </a:r>
          </a:p>
        </p:txBody>
      </p:sp>
      <p:pic>
        <p:nvPicPr>
          <p:cNvPr id="6" name="图形" descr="eniac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687469"/>
            <a:ext cx="5156200" cy="3940260"/>
          </a:xfrm>
          <a:prstGeom prst="rect">
            <a:avLst/>
          </a:prstGeom>
        </p:spPr>
      </p:pic>
      <p:sp>
        <p:nvSpPr>
          <p:cNvPr id="7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20世纪中叶大型计算机系统，早期计算技术的缩影</a:t>
            </a:r>
          </a:p>
        </p:txBody>
      </p:sp>
      <p:sp>
        <p:nvSpPr>
          <p:cNvPr id="8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9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感知机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1958年Rosenblatt发明感知机，首个可学习神经元模型，奠定神经网络理论基础。</a:t>
            </a:r>
          </a:p>
        </p:txBody>
      </p:sp>
      <p:sp>
        <p:nvSpPr>
          <p:cNvPr id="11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2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局限性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III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寒冬与复苏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分析计算瓶颈、资金削减与过度承诺导致的两次 AI 寒冬成因。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聚焦 1997 年 IBM 深蓝战胜卡斯帕罗夫，标志 AI 信心的关键复苏。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 Era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03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寒冬与复苏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AI历史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寒冬与复苏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AI寒冬与复苏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理想与现实的碰撞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AI研究经历了两次严峻寒冬，期望与现实的落差导致资金断裂、项目受阻，直至Deep Blue的胜利重燃公众信心。</a:t>
            </a:r>
          </a:p>
        </p:txBody>
      </p:sp>
      <p:pic>
        <p:nvPicPr>
          <p:cNvPr id="6" name="图形" descr="ai_funding_curv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2005637"/>
            <a:ext cx="5156200" cy="3303924"/>
          </a:xfrm>
          <a:prstGeom prst="rect">
            <a:avLst/>
          </a:prstGeom>
        </p:spPr>
      </p:pic>
      <p:sp>
        <p:nvSpPr>
          <p:cNvPr id="7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AI研究资金与热度走势（1950–2025），两次寒冬清晰可见</a:t>
            </a:r>
          </a:p>
        </p:txBody>
      </p:sp>
      <p:sp>
        <p:nvSpPr>
          <p:cNvPr id="8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9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两次寒冬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第一次（1974–1980）：算力不足、预算削减；第二次（1987–1997）：专家系统成本高、第五代计划失败</a:t>
            </a:r>
          </a:p>
        </p:txBody>
      </p:sp>
      <p:sp>
        <p:nvSpPr>
          <p:cNvPr id="11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2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Deep Blue胜利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ML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机器学习崛起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从手工编码规则到数据驱动学习的根本性范式转移，SVM、随机森林等关键技术相继突破。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Netflix推荐系统与IBM Watson等标志性应用，展示了机器学习在大规模商业场景中的强大潜力。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范式转移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04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584"/>
              <a:t>机器学习崛起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机器学习崛起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范式变革</a:t>
            </a:r>
          </a:p>
        </p:txBody>
      </p:sp>
      <p:pic>
        <p:nvPicPr>
          <p:cNvPr id="4" name="图形" descr="technology_evoluti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625600"/>
            <a:ext cx="5512702" cy="3657600"/>
          </a:xfrm>
          <a:prstGeom prst="rect">
            <a:avLst/>
          </a:prstGeom>
        </p:spPr>
      </p:pic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9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1995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2001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2006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2011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SVM（1995）：Vapnik提出，适用高维分类，泛化能力强，广泛用于文本与图像识别。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随机森林（2001）&amp; DBN（2006）：集成学习降低过拟合，逐层预训练推动深度学习复兴。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Netflix推荐系统成功商业化；IBM Watson赢得Jeopardy!</a:t>
            </a: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DL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2012年，AlexNet在ImageNet夺冠，开启深度学习新时代，GAN与ResNet相继突破。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从图像识别到AlphaGo博弈，深度学习黄金时期推动AI技术全面跃升。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05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584"/>
              <a:t>深度学习革命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革命时代</a:t>
            </a:r>
          </a:p>
        </p:txBody>
      </p:sp>
      <p:pic>
        <p:nvPicPr>
          <p:cNvPr id="4" name="图形" descr="deep_learning_layers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625600"/>
            <a:ext cx="4478030" cy="3657600"/>
          </a:xfrm>
          <a:prstGeom prst="rect">
            <a:avLst/>
          </a:prstGeom>
        </p:spPr>
      </p:pic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9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2012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2014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2015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2016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AlexNet夺得ImageNet冠军，错误率从26%降至15.3%，深度学习时代正式开启。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Ian Goodfellow提出GAN，何恺明团队提出ResNet，成功训练152层网络。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AlphaGo以深度强化学习战胜李世石，AI首次超越人类顶尖围棋水平。</a:t>
            </a: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LLM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123"/>
              <a:t>大语言模型时代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从Transformer架构的诞生到GPT-4的指数级规模跨越，解析大语言模型的崛起之路。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探索思维链推理等涌现能力，展望多模态、具身智能与AI安全等前沿方向。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200"/>
              <a:t>通用智能的黎明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06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2017–2026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200"/>
              <a:t>大语言模型时代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规模之道</a:t>
            </a:r>
          </a:p>
        </p:txBody>
      </p:sp>
      <p:pic>
        <p:nvPicPr>
          <p:cNvPr id="4" name="图形" descr="llm_growth_performanc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2274134"/>
            <a:ext cx="5562600" cy="2360530"/>
          </a:xfrm>
          <a:prstGeom prst="rect">
            <a:avLst/>
          </a:prstGeom>
        </p:spPr>
      </p:pic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9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2017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2018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2020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2023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2017年「Attention is All You Need」提出自注意力机制，取代RNN/LSTM，奠定现代NLP基础。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BERT(0.34B)→GPT-2(1.5B)→GPT-3(175B)，参数规模指数级增长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ChatGPT引入RLHF对齐训练，GPT-4具备多模态能力并通过律师资格考试，标志AI迈入新阶段。</a:t>
            </a: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大模型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涌现与展望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涌现能力与未来展望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迈向通用智能的下一步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当模型规模突破临界点，大模型展现出训练时未明确优化的涌现能力，包括思维链推理、上下文学习与指令遵循。展望未来，多模态、具身智能、神经符号结合与AI对齐将引领下一个七十年。</a:t>
            </a:r>
          </a:p>
        </p:txBody>
      </p:sp>
      <p:pic>
        <p:nvPicPr>
          <p:cNvPr id="6" name="图形" descr="llm_growth_performanc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2563564"/>
            <a:ext cx="5156200" cy="2188071"/>
          </a:xfrm>
          <a:prstGeom prst="rect">
            <a:avLst/>
          </a:prstGeom>
        </p:spPr>
      </p:pic>
      <p:sp>
        <p:nvSpPr>
          <p:cNvPr id="7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LLM参数规模指数级增长与AI能力里程碑演进</a:t>
            </a:r>
          </a:p>
        </p:txBody>
      </p:sp>
      <p:sp>
        <p:nvSpPr>
          <p:cNvPr id="8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9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涌现能力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思维链推理逐步分解复杂问题；上下文学习无需微调即可适应新任务；指令遵循理解并执行自然语言指令。</a:t>
            </a:r>
          </a:p>
        </p:txBody>
      </p:sp>
      <p:sp>
        <p:nvSpPr>
          <p:cNvPr id="11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2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未来方向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谢谢观看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感谢您的聆听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 的发展之旅从未停止，期待与您共同探索智能的未来。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 1956 年至今，人工智能正在重塑我们的世界与未来。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结语</a:t>
            </a: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 发展历程回顾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敬请指正</a:t>
            </a: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2" name="图形" descr="cc43ea53a92cf935fa80d63d91f2b4e55f28b2e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