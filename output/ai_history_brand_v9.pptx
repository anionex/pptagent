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思源黑体 CN Normal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思源黑体 CN Normal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思源黑体 CN Normal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思源黑体 CN Normal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思源黑体 CN Normal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思源黑体 CN Normal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思源黑体 CN Normal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思源黑体 CN Normal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思源黑体 CN Normal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1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D7FB"/>
          </a:solidFill>
        </a:fill>
      </a:tcStyle>
    </a:wholeTbl>
    <a:band2H>
      <a:tcTxStyle b="def" i="def"/>
      <a:tcStyle>
        <a:tcBdr/>
        <a:fill>
          <a:solidFill>
            <a:srgbClr val="E6ECFD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D7FB"/>
          </a:solidFill>
        </a:fill>
      </a:tcStyle>
    </a:wholeTbl>
    <a:band2H>
      <a:tcTxStyle b="def" i="def"/>
      <a:tcStyle>
        <a:tcBdr/>
        <a:fill>
          <a:solidFill>
            <a:srgbClr val="E6ECFD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E0FF"/>
          </a:solidFill>
        </a:fill>
      </a:tcStyle>
    </a:wholeTbl>
    <a:band2H>
      <a:tcTxStyle b="def" i="def"/>
      <a:tcStyle>
        <a:tcBdr/>
        <a:fill>
          <a:solidFill>
            <a:srgbClr val="E8F0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2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2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2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Shape 72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73" name="Shape 73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n-lt"/>
        <a:ea typeface="+mn-ea"/>
        <a:cs typeface="+mn-cs"/>
        <a:sym typeface="思源黑体 CN Normal"/>
      </a:defRPr>
    </a:lvl1pPr>
    <a:lvl2pPr indent="228600" latinLnBrk="0">
      <a:defRPr sz="1200">
        <a:latin typeface="+mn-lt"/>
        <a:ea typeface="+mn-ea"/>
        <a:cs typeface="+mn-cs"/>
        <a:sym typeface="思源黑体 CN Normal"/>
      </a:defRPr>
    </a:lvl2pPr>
    <a:lvl3pPr indent="457200" latinLnBrk="0">
      <a:defRPr sz="1200">
        <a:latin typeface="+mn-lt"/>
        <a:ea typeface="+mn-ea"/>
        <a:cs typeface="+mn-cs"/>
        <a:sym typeface="思源黑体 CN Normal"/>
      </a:defRPr>
    </a:lvl3pPr>
    <a:lvl4pPr indent="685800" latinLnBrk="0">
      <a:defRPr sz="1200">
        <a:latin typeface="+mn-lt"/>
        <a:ea typeface="+mn-ea"/>
        <a:cs typeface="+mn-cs"/>
        <a:sym typeface="思源黑体 CN Normal"/>
      </a:defRPr>
    </a:lvl4pPr>
    <a:lvl5pPr indent="914400" latinLnBrk="0">
      <a:defRPr sz="1200">
        <a:latin typeface="+mn-lt"/>
        <a:ea typeface="+mn-ea"/>
        <a:cs typeface="+mn-cs"/>
        <a:sym typeface="思源黑体 CN Normal"/>
      </a:defRPr>
    </a:lvl5pPr>
    <a:lvl6pPr indent="1143000" latinLnBrk="0">
      <a:defRPr sz="1200">
        <a:latin typeface="+mn-lt"/>
        <a:ea typeface="+mn-ea"/>
        <a:cs typeface="+mn-cs"/>
        <a:sym typeface="思源黑体 CN Normal"/>
      </a:defRPr>
    </a:lvl6pPr>
    <a:lvl7pPr indent="1371600" latinLnBrk="0">
      <a:defRPr sz="1200">
        <a:latin typeface="+mn-lt"/>
        <a:ea typeface="+mn-ea"/>
        <a:cs typeface="+mn-cs"/>
        <a:sym typeface="思源黑体 CN Normal"/>
      </a:defRPr>
    </a:lvl7pPr>
    <a:lvl8pPr indent="1600200" latinLnBrk="0">
      <a:defRPr sz="1200">
        <a:latin typeface="+mn-lt"/>
        <a:ea typeface="+mn-ea"/>
        <a:cs typeface="+mn-cs"/>
        <a:sym typeface="思源黑体 CN Normal"/>
      </a:defRPr>
    </a:lvl8pPr>
    <a:lvl9pPr indent="1828800" latinLnBrk="0">
      <a:defRPr sz="1200">
        <a:latin typeface="+mn-lt"/>
        <a:ea typeface="+mn-ea"/>
        <a:cs typeface="+mn-cs"/>
        <a:sym typeface="思源黑体 CN Norm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://www.1ppt.com/xiazai/" TargetMode="Externa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图片 11" descr="图片 1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12700"/>
            <a:ext cx="12192000" cy="6832600"/>
          </a:xfrm>
          <a:prstGeom prst="rect">
            <a:avLst/>
          </a:prstGeom>
          <a:ln w="12700">
            <a:miter lim="400000"/>
          </a:ln>
        </p:spPr>
      </p:pic>
      <p:sp>
        <p:nvSpPr>
          <p:cNvPr id="30" name="图形"/>
          <p:cNvSpPr/>
          <p:nvPr/>
        </p:nvSpPr>
        <p:spPr>
          <a:xfrm>
            <a:off x="267652" y="321945"/>
            <a:ext cx="11656696" cy="6214110"/>
          </a:xfrm>
          <a:prstGeom prst="roundRect">
            <a:avLst>
              <a:gd name="adj" fmla="val 4574"/>
            </a:avLst>
          </a:prstGeom>
          <a:gradFill>
            <a:gsLst>
              <a:gs pos="0">
                <a:srgbClr val="E1F2FF"/>
              </a:gs>
              <a:gs pos="100000">
                <a:srgbClr val="FFFFFF"/>
              </a:gs>
            </a:gsLst>
            <a:lin ang="16200000"/>
          </a:gradFill>
          <a:ln w="12700">
            <a:miter lim="400000"/>
          </a:ln>
          <a:effectLst>
            <a:outerShdw sx="100000" sy="100000" kx="0" ky="0" algn="b" rotWithShape="0" blurRad="50800" dist="38100" dir="5400000">
              <a:srgbClr val="000000">
                <a:alpha val="23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1" name="图形"/>
          <p:cNvSpPr txBox="1"/>
          <p:nvPr/>
        </p:nvSpPr>
        <p:spPr>
          <a:xfrm>
            <a:off x="313690" y="-12701"/>
            <a:ext cx="1666240" cy="1437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8800">
                <a:ln w="31750" cap="flat">
                  <a:solidFill>
                    <a:srgbClr val="79BCFB">
                      <a:alpha val="50000"/>
                    </a:srgbClr>
                  </a:solidFill>
                  <a:prstDash val="solid"/>
                  <a:round/>
                </a:ln>
                <a:noFill/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/>
            <a:r>
              <a:t>02</a:t>
            </a:r>
          </a:p>
        </p:txBody>
      </p:sp>
      <p:sp>
        <p:nvSpPr>
          <p:cNvPr id="33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图片 11" descr="图片 1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12700"/>
            <a:ext cx="12192000" cy="6832600"/>
          </a:xfrm>
          <a:prstGeom prst="rect">
            <a:avLst/>
          </a:prstGeom>
          <a:ln w="12700">
            <a:miter lim="400000"/>
          </a:ln>
        </p:spPr>
      </p:pic>
      <p:sp>
        <p:nvSpPr>
          <p:cNvPr id="41" name="图形"/>
          <p:cNvSpPr/>
          <p:nvPr/>
        </p:nvSpPr>
        <p:spPr>
          <a:xfrm>
            <a:off x="267652" y="321945"/>
            <a:ext cx="11656696" cy="6214110"/>
          </a:xfrm>
          <a:prstGeom prst="roundRect">
            <a:avLst>
              <a:gd name="adj" fmla="val 4574"/>
            </a:avLst>
          </a:prstGeom>
          <a:gradFill>
            <a:gsLst>
              <a:gs pos="0">
                <a:srgbClr val="E1F2FF"/>
              </a:gs>
              <a:gs pos="100000">
                <a:srgbClr val="FFFFFF"/>
              </a:gs>
            </a:gsLst>
            <a:lin ang="16200000"/>
          </a:gradFill>
          <a:ln w="12700">
            <a:miter lim="400000"/>
          </a:ln>
          <a:effectLst>
            <a:outerShdw sx="100000" sy="100000" kx="0" ky="0" algn="b" rotWithShape="0" blurRad="50800" dist="38100" dir="5400000">
              <a:srgbClr val="000000">
                <a:alpha val="23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2" name="图形"/>
          <p:cNvSpPr txBox="1"/>
          <p:nvPr/>
        </p:nvSpPr>
        <p:spPr>
          <a:xfrm>
            <a:off x="313690" y="-12701"/>
            <a:ext cx="1666240" cy="1437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8800">
                <a:ln w="31750" cap="flat">
                  <a:solidFill>
                    <a:srgbClr val="79BCFB">
                      <a:alpha val="50000"/>
                    </a:srgbClr>
                  </a:solidFill>
                  <a:prstDash val="solid"/>
                  <a:round/>
                </a:ln>
                <a:noFill/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/>
            <a:r>
              <a:t>03</a:t>
            </a:r>
          </a:p>
        </p:txBody>
      </p:sp>
      <p:sp>
        <p:nvSpPr>
          <p:cNvPr id="44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Relationship Id="rId9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1" descr="图片 1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12700"/>
            <a:ext cx="12192000" cy="6832600"/>
          </a:xfrm>
          <a:prstGeom prst="rect">
            <a:avLst/>
          </a:prstGeom>
          <a:ln w="12700">
            <a:miter lim="400000"/>
          </a:ln>
        </p:spPr>
      </p:pic>
      <p:sp>
        <p:nvSpPr>
          <p:cNvPr id="3" name="图形"/>
          <p:cNvSpPr/>
          <p:nvPr/>
        </p:nvSpPr>
        <p:spPr>
          <a:xfrm>
            <a:off x="267652" y="321945"/>
            <a:ext cx="11656696" cy="6214110"/>
          </a:xfrm>
          <a:prstGeom prst="roundRect">
            <a:avLst>
              <a:gd name="adj" fmla="val 4574"/>
            </a:avLst>
          </a:prstGeom>
          <a:gradFill>
            <a:gsLst>
              <a:gs pos="0">
                <a:srgbClr val="E1F2FF"/>
              </a:gs>
              <a:gs pos="100000">
                <a:srgbClr val="FFFFFF"/>
              </a:gs>
            </a:gsLst>
            <a:lin ang="16200000"/>
          </a:gradFill>
          <a:ln w="12700">
            <a:miter lim="400000"/>
          </a:ln>
          <a:effectLst>
            <a:outerShdw sx="100000" sy="100000" kx="0" ky="0" algn="b" rotWithShape="0" blurRad="50800" dist="38100" dir="5400000">
              <a:srgbClr val="000000">
                <a:alpha val="23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" name="图形"/>
          <p:cNvSpPr txBox="1"/>
          <p:nvPr/>
        </p:nvSpPr>
        <p:spPr>
          <a:xfrm>
            <a:off x="313690" y="-12701"/>
            <a:ext cx="1666240" cy="1437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8800">
                <a:ln w="31750" cap="flat">
                  <a:solidFill>
                    <a:srgbClr val="79BCFB">
                      <a:alpha val="50000"/>
                    </a:srgbClr>
                  </a:solidFill>
                  <a:prstDash val="solid"/>
                  <a:round/>
                </a:ln>
                <a:noFill/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/>
            <a:r>
              <a:t>01</a:t>
            </a:r>
          </a:p>
        </p:txBody>
      </p:sp>
      <p:sp>
        <p:nvSpPr>
          <p:cNvPr id="6" name="标题文本"/>
          <p:cNvSpPr txBox="1"/>
          <p:nvPr>
            <p:ph type="title"/>
          </p:nvPr>
        </p:nvSpPr>
        <p:spPr>
          <a:xfrm>
            <a:off x="609600" y="92074"/>
            <a:ext cx="10972800" cy="15081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/>
          <a:lstStyle/>
          <a:p>
            <a:pPr/>
            <a:r>
              <a:t>标题文本</a:t>
            </a:r>
          </a:p>
        </p:txBody>
      </p:sp>
      <p:sp>
        <p:nvSpPr>
          <p:cNvPr id="7" name="正文级别 1…"/>
          <p:cNvSpPr txBox="1"/>
          <p:nvPr>
            <p:ph type="body" idx="1"/>
          </p:nvPr>
        </p:nvSpPr>
        <p:spPr>
          <a:xfrm>
            <a:off x="609600" y="1600200"/>
            <a:ext cx="10972800" cy="525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/>
          <a:lstStyle/>
          <a:p>
            <a:pPr/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8" name="幻灯片编号"/>
          <p:cNvSpPr txBox="1"/>
          <p:nvPr>
            <p:ph type="sldNum" sz="quarter" idx="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/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</p:sldLayoutIdLst>
  <p:transition xmlns:p14="http://schemas.microsoft.com/office/powerpoint/2010/main" spd="med" advClick="1"/>
  <p:txStyles>
    <p:titleStyle>
      <a:lvl1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300" strike="noStrike" sz="3600" u="none">
          <a:solidFill>
            <a:srgbClr val="262626"/>
          </a:solidFill>
          <a:uFillTx/>
          <a:latin typeface="Arial"/>
          <a:ea typeface="Arial"/>
          <a:cs typeface="Arial"/>
          <a:sym typeface="Arial"/>
        </a:defRPr>
      </a:lvl1pPr>
      <a:lvl2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300" strike="noStrike" sz="3600" u="none">
          <a:solidFill>
            <a:srgbClr val="262626"/>
          </a:solidFill>
          <a:uFillTx/>
          <a:latin typeface="Arial"/>
          <a:ea typeface="Arial"/>
          <a:cs typeface="Arial"/>
          <a:sym typeface="Arial"/>
        </a:defRPr>
      </a:lvl2pPr>
      <a:lvl3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300" strike="noStrike" sz="3600" u="none">
          <a:solidFill>
            <a:srgbClr val="262626"/>
          </a:solidFill>
          <a:uFillTx/>
          <a:latin typeface="Arial"/>
          <a:ea typeface="Arial"/>
          <a:cs typeface="Arial"/>
          <a:sym typeface="Arial"/>
        </a:defRPr>
      </a:lvl3pPr>
      <a:lvl4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300" strike="noStrike" sz="3600" u="none">
          <a:solidFill>
            <a:srgbClr val="262626"/>
          </a:solidFill>
          <a:uFillTx/>
          <a:latin typeface="Arial"/>
          <a:ea typeface="Arial"/>
          <a:cs typeface="Arial"/>
          <a:sym typeface="Arial"/>
        </a:defRPr>
      </a:lvl4pPr>
      <a:lvl5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300" strike="noStrike" sz="3600" u="none">
          <a:solidFill>
            <a:srgbClr val="262626"/>
          </a:solidFill>
          <a:uFillTx/>
          <a:latin typeface="Arial"/>
          <a:ea typeface="Arial"/>
          <a:cs typeface="Arial"/>
          <a:sym typeface="Arial"/>
        </a:defRPr>
      </a:lvl5pPr>
      <a:lvl6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300" strike="noStrike" sz="3600" u="none">
          <a:solidFill>
            <a:srgbClr val="262626"/>
          </a:solidFill>
          <a:uFillTx/>
          <a:latin typeface="Arial"/>
          <a:ea typeface="Arial"/>
          <a:cs typeface="Arial"/>
          <a:sym typeface="Arial"/>
        </a:defRPr>
      </a:lvl6pPr>
      <a:lvl7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300" strike="noStrike" sz="3600" u="none">
          <a:solidFill>
            <a:srgbClr val="262626"/>
          </a:solidFill>
          <a:uFillTx/>
          <a:latin typeface="Arial"/>
          <a:ea typeface="Arial"/>
          <a:cs typeface="Arial"/>
          <a:sym typeface="Arial"/>
        </a:defRPr>
      </a:lvl7pPr>
      <a:lvl8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300" strike="noStrike" sz="3600" u="none">
          <a:solidFill>
            <a:srgbClr val="262626"/>
          </a:solidFill>
          <a:uFillTx/>
          <a:latin typeface="Arial"/>
          <a:ea typeface="Arial"/>
          <a:cs typeface="Arial"/>
          <a:sym typeface="Arial"/>
        </a:defRPr>
      </a:lvl8pPr>
      <a:lvl9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300" strike="noStrike" sz="3600" u="none">
          <a:solidFill>
            <a:srgbClr val="262626"/>
          </a:solidFill>
          <a:uFillTx/>
          <a:latin typeface="Arial"/>
          <a:ea typeface="Arial"/>
          <a:cs typeface="Arial"/>
          <a:sym typeface="Arial"/>
        </a:defRPr>
      </a:lvl9pPr>
    </p:titleStyle>
    <p:bodyStyle>
      <a:lvl1pPr marL="228600" marR="0" indent="-228600" algn="l" defTabSz="914400" rtl="0" latinLnBrk="0">
        <a:lnSpc>
          <a:spcPct val="13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●"/>
        <a:tabLst/>
        <a:defRPr b="0" baseline="0" cap="none" i="0" spc="150" strike="noStrike" sz="1800" u="none">
          <a:solidFill>
            <a:srgbClr val="595959"/>
          </a:solidFill>
          <a:uFillTx/>
          <a:latin typeface="Arial"/>
          <a:ea typeface="Arial"/>
          <a:cs typeface="Arial"/>
          <a:sym typeface="Arial"/>
        </a:defRPr>
      </a:lvl1pPr>
      <a:lvl2pPr marL="714375" marR="0" indent="-257175" algn="l" defTabSz="914400" rtl="0" latinLnBrk="0">
        <a:lnSpc>
          <a:spcPct val="13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●"/>
        <a:tabLst/>
        <a:defRPr b="0" baseline="0" cap="none" i="0" spc="150" strike="noStrike" sz="1800" u="none">
          <a:solidFill>
            <a:srgbClr val="595959"/>
          </a:solidFill>
          <a:uFillTx/>
          <a:latin typeface="Arial"/>
          <a:ea typeface="Arial"/>
          <a:cs typeface="Arial"/>
          <a:sym typeface="Arial"/>
        </a:defRPr>
      </a:lvl2pPr>
      <a:lvl3pPr marL="1171575" marR="0" indent="-257175" algn="l" defTabSz="914400" rtl="0" latinLnBrk="0">
        <a:lnSpc>
          <a:spcPct val="13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●"/>
        <a:tabLst/>
        <a:defRPr b="0" baseline="0" cap="none" i="0" spc="150" strike="noStrike" sz="1800" u="none">
          <a:solidFill>
            <a:srgbClr val="595959"/>
          </a:solidFill>
          <a:uFillTx/>
          <a:latin typeface="Arial"/>
          <a:ea typeface="Arial"/>
          <a:cs typeface="Arial"/>
          <a:sym typeface="Arial"/>
        </a:defRPr>
      </a:lvl3pPr>
      <a:lvl4pPr marL="1665514" marR="0" indent="-293914" algn="l" defTabSz="914400" rtl="0" latinLnBrk="0">
        <a:lnSpc>
          <a:spcPct val="13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150" strike="noStrike" sz="1800" u="none">
          <a:solidFill>
            <a:srgbClr val="595959"/>
          </a:solidFill>
          <a:uFillTx/>
          <a:latin typeface="Arial"/>
          <a:ea typeface="Arial"/>
          <a:cs typeface="Arial"/>
          <a:sym typeface="Arial"/>
        </a:defRPr>
      </a:lvl4pPr>
      <a:lvl5pPr marL="2122714" marR="0" indent="-293914" algn="l" defTabSz="914400" rtl="0" latinLnBrk="0">
        <a:lnSpc>
          <a:spcPct val="13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150" strike="noStrike" sz="1800" u="none">
          <a:solidFill>
            <a:srgbClr val="595959"/>
          </a:solidFill>
          <a:uFillTx/>
          <a:latin typeface="Arial"/>
          <a:ea typeface="Arial"/>
          <a:cs typeface="Arial"/>
          <a:sym typeface="Arial"/>
        </a:defRPr>
      </a:lvl5pPr>
      <a:lvl6pPr marL="2514600" marR="0" indent="-228600" algn="l" defTabSz="914400" rtl="0" latinLnBrk="0">
        <a:lnSpc>
          <a:spcPct val="13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150" strike="noStrike" sz="1800" u="none">
          <a:solidFill>
            <a:srgbClr val="595959"/>
          </a:solidFill>
          <a:uFillTx/>
          <a:latin typeface="Arial"/>
          <a:ea typeface="Arial"/>
          <a:cs typeface="Arial"/>
          <a:sym typeface="Arial"/>
        </a:defRPr>
      </a:lvl6pPr>
      <a:lvl7pPr marL="2971800" marR="0" indent="-228600" algn="l" defTabSz="914400" rtl="0" latinLnBrk="0">
        <a:lnSpc>
          <a:spcPct val="13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150" strike="noStrike" sz="1800" u="none">
          <a:solidFill>
            <a:srgbClr val="595959"/>
          </a:solidFill>
          <a:uFillTx/>
          <a:latin typeface="Arial"/>
          <a:ea typeface="Arial"/>
          <a:cs typeface="Arial"/>
          <a:sym typeface="Arial"/>
        </a:defRPr>
      </a:lvl7pPr>
      <a:lvl8pPr marL="3429000" marR="0" indent="-228600" algn="l" defTabSz="914400" rtl="0" latinLnBrk="0">
        <a:lnSpc>
          <a:spcPct val="13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150" strike="noStrike" sz="1800" u="none">
          <a:solidFill>
            <a:srgbClr val="595959"/>
          </a:solidFill>
          <a:uFillTx/>
          <a:latin typeface="Arial"/>
          <a:ea typeface="Arial"/>
          <a:cs typeface="Arial"/>
          <a:sym typeface="Arial"/>
        </a:defRPr>
      </a:lvl8pPr>
      <a:lvl9pPr marL="3886200" marR="0" indent="-228600" algn="l" defTabSz="914400" rtl="0" latinLnBrk="0">
        <a:lnSpc>
          <a:spcPct val="13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150" strike="noStrike" sz="1800" u="none">
          <a:solidFill>
            <a:srgbClr val="595959"/>
          </a:solidFill>
          <a:uFillTx/>
          <a:latin typeface="Arial"/>
          <a:ea typeface="Arial"/>
          <a:cs typeface="Arial"/>
          <a:sym typeface="Arial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思源黑体 CN Normal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思源黑体 CN Normal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思源黑体 CN Normal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思源黑体 CN Normal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思源黑体 CN Normal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思源黑体 CN Normal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思源黑体 CN Normal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思源黑体 CN Normal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思源黑体 CN Norm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6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9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图形" descr="6b15b2b44a99abb9a7cb4a896242c5aaf878cd05.png"/>
          <p:cNvPicPr>
            <a:picLocks noChangeAspect="1"/>
          </p:cNvPicPr>
          <p:nvPr/>
        </p:nvPicPr>
        <p:blipFill>
          <a:blip r:embed="rId2"/>
          <a:srcRect l="7597" r="7596"/>
          <a:stretch>
            <a:fillRect/>
          </a:stretch>
        </p:blipFill>
        <p:spPr>
          <a:xfrm>
            <a:off x="0" y="12700"/>
            <a:ext cx="12192001" cy="6845300"/>
          </a:xfrm>
          <a:prstGeom prst="rect">
            <a:avLst/>
          </a:prstGeom>
        </p:spPr>
      </p:pic>
      <p:sp>
        <p:nvSpPr>
          <p:cNvPr id="3" name="图形"/>
          <p:cNvSpPr/>
          <p:nvPr/>
        </p:nvSpPr>
        <p:spPr xmlns:m="http://schemas.openxmlformats.org/officeDocument/2006/math" xmlns:a14="http://schemas.microsoft.com/office/drawing/2010/main">
          <a:xfrm>
            <a:off x="0" y="0"/>
            <a:ext cx="12192635" cy="6858000"/>
          </a:xfrm>
          <a:prstGeom prst="rect">
            <a:avLst/>
          </a:prstGeom>
          <a:gradFill>
            <a:gsLst>
              <a:gs pos="0">
                <a:srgbClr val="F2F6FE">
                  <a:alpha val="69000"/>
                </a:srgbClr>
              </a:gs>
              <a:gs pos="40000">
                <a:srgbClr val="F2F6FE">
                  <a:alpha val="0"/>
                </a:srgbClr>
              </a:gs>
            </a:gsLst>
            <a:lin ang="5400000"/>
          </a:gradFill>
          <a:ln w="12700">
            <a:miter lim="400000"/>
          </a:ln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" name="图形"/>
          <p:cNvSpPr txBox="1"/>
          <p:nvPr/>
        </p:nvSpPr>
        <p:spPr>
          <a:xfrm>
            <a:off x="513079" y="763269"/>
            <a:ext cx="6514466" cy="1551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9600">
                <a:ln w="31750" cap="flat">
                  <a:solidFill>
                    <a:srgbClr val="79BCFB">
                      <a:alpha val="50000"/>
                    </a:srgbClr>
                  </a:solidFill>
                  <a:prstDash val="solid"/>
                  <a:round/>
                </a:ln>
                <a:noFill/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>
              <a:defRPr/>
            </a:pPr>
            <a:r>
              <a:rPr sz="9400"/>
              <a:t>AI</a:t>
            </a:r>
          </a:p>
        </p:txBody>
      </p:sp>
      <p:sp>
        <p:nvSpPr>
          <p:cNvPr id="5" name="图形"/>
          <p:cNvSpPr txBox="1"/>
          <p:nvPr/>
        </p:nvSpPr>
        <p:spPr>
          <a:xfrm>
            <a:off x="429260" y="1379219"/>
            <a:ext cx="8176895" cy="1869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0000">
                <a:solidFill>
                  <a:srgbClr val="007EE8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发展史</a:t>
            </a:r>
          </a:p>
        </p:txBody>
      </p:sp>
      <p:sp>
        <p:nvSpPr>
          <p:cNvPr id="6" name="图形"/>
          <p:cNvSpPr txBox="1"/>
          <p:nvPr/>
        </p:nvSpPr>
        <p:spPr>
          <a:xfrm>
            <a:off x="511809" y="3361054"/>
            <a:ext cx="6502401" cy="739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/>
            </a:lvl1pPr>
          </a:lstStyle>
          <a:p>
            <a:pPr>
              <a:lnSpc>
                <a:spcPct val="200000"/>
              </a:lnSpc>
              <a:defRPr sz="1400">
                <a:solidFill>
                  <a:srgbClr val="808080"/>
                </a:solidFill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  <a:r>
              <a:rPr/>
              <a:t>从 1956 年 Dartmouth 会议到大语言模型时代，回顾人工智能六大发展阶段。</a:t>
            </a:r>
          </a:p>
          <a:p>
            <a:pPr>
              <a:lnSpc>
                <a:spcPct val="200000"/>
              </a:lnSpc>
              <a:defRPr sz="1400">
                <a:solidFill>
                  <a:srgbClr val="808080"/>
                </a:solidFill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  <a:r>
              <a:rPr/>
              <a:t>探索 AI 的关键里程碑、技术突破与未来通用智能的发展方向。</a:t>
            </a:r>
          </a:p>
        </p:txBody>
      </p:sp>
      <p:sp>
        <p:nvSpPr>
          <p:cNvPr id="7" name="图形"/>
          <p:cNvSpPr txBox="1"/>
          <p:nvPr/>
        </p:nvSpPr>
        <p:spPr>
          <a:xfrm>
            <a:off x="722629" y="464819"/>
            <a:ext cx="3040382" cy="726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just">
              <a:defRPr b="1" sz="3600">
                <a:solidFill>
                  <a:srgbClr val="262626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人工智能</a:t>
            </a:r>
          </a:p>
        </p:txBody>
      </p:sp>
      <p:sp>
        <p:nvSpPr>
          <p:cNvPr id="8" name="图形"/>
          <p:cNvSpPr/>
          <p:nvPr/>
        </p:nvSpPr>
        <p:spPr xmlns:m="http://schemas.openxmlformats.org/officeDocument/2006/math" xmlns:a14="http://schemas.microsoft.com/office/drawing/2010/main">
          <a:xfrm>
            <a:off x="2371724" y="2976244"/>
            <a:ext cx="4533901" cy="42672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21600"/>
                </a:moveTo>
                <a:lnTo>
                  <a:pt x="508" y="0"/>
                </a:lnTo>
                <a:lnTo>
                  <a:pt x="21600" y="0"/>
                </a:lnTo>
                <a:lnTo>
                  <a:pt x="21092" y="21600"/>
                </a:lnTo>
                <a:close/>
              </a:path>
            </a:pathLst>
          </a:custGeom>
          <a:gradFill flip="none" rotWithShape="1">
            <a:gsLst>
              <a:gs pos="0">
                <a:srgbClr val="76BEFC">
                  <a:alpha val="46000"/>
                </a:srgbClr>
              </a:gs>
              <a:gs pos="66000">
                <a:srgbClr val="34ACFD">
                  <a:alpha val="0"/>
                </a:srgbClr>
              </a:gs>
            </a:gsLst>
            <a:lin ang="108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" name="图形"/>
          <p:cNvSpPr txBox="1"/>
          <p:nvPr/>
        </p:nvSpPr>
        <p:spPr>
          <a:xfrm>
            <a:off x="553719" y="2908935"/>
            <a:ext cx="6035675" cy="5994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defRPr/>
            </a:lvl1pPr>
          </a:lstStyle>
          <a:p>
            <a:pPr algn="just">
              <a:defRPr sz="2800">
                <a:latin typeface="思源宋体 CN Heavy"/>
                <a:ea typeface="思源宋体 CN Heavy"/>
                <a:cs typeface="思源宋体 CN Heavy"/>
                <a:sym typeface="思源宋体 CN Heavy"/>
              </a:defRPr>
            </a:pPr>
            <a:r>
              <a:rPr/>
              <a:t>人工智能发展简史</a:t>
            </a:r>
          </a:p>
        </p:txBody>
      </p:sp>
      <p:sp>
        <p:nvSpPr>
          <p:cNvPr id="10" name="图形"/>
          <p:cNvSpPr/>
          <p:nvPr/>
        </p:nvSpPr>
        <p:spPr xmlns:m="http://schemas.openxmlformats.org/officeDocument/2006/math" xmlns:a14="http://schemas.microsoft.com/office/drawing/2010/main">
          <a:xfrm>
            <a:off x="727709" y="4528184"/>
            <a:ext cx="1925321" cy="45910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21600"/>
                </a:moveTo>
                <a:lnTo>
                  <a:pt x="1288" y="0"/>
                </a:lnTo>
                <a:lnTo>
                  <a:pt x="21600" y="0"/>
                </a:lnTo>
                <a:lnTo>
                  <a:pt x="20312" y="21600"/>
                </a:lnTo>
                <a:close/>
              </a:path>
            </a:pathLst>
          </a:custGeom>
          <a:solidFill>
            <a:srgbClr val="FFFFFF">
              <a:alpha val="21000"/>
            </a:srgbClr>
          </a:solidFill>
          <a:ln w="3175" cap="flat">
            <a:solidFill>
              <a:srgbClr val="9AD6FE"/>
            </a:solidFill>
            <a:prstDash val="solid"/>
            <a:miter lim="8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1200">
                <a:solidFill>
                  <a:srgbClr val="FDCFB8"/>
                </a:solidFill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</a:p>
        </p:txBody>
      </p:sp>
      <p:sp>
        <p:nvSpPr>
          <p:cNvPr id="11" name="图形"/>
          <p:cNvSpPr/>
          <p:nvPr/>
        </p:nvSpPr>
        <p:spPr xmlns:m="http://schemas.openxmlformats.org/officeDocument/2006/math" xmlns:a14="http://schemas.microsoft.com/office/drawing/2010/main">
          <a:xfrm>
            <a:off x="3034030" y="4528184"/>
            <a:ext cx="1920875" cy="45910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21600"/>
                </a:moveTo>
                <a:lnTo>
                  <a:pt x="1291" y="0"/>
                </a:lnTo>
                <a:lnTo>
                  <a:pt x="21600" y="0"/>
                </a:lnTo>
                <a:lnTo>
                  <a:pt x="20309" y="21600"/>
                </a:lnTo>
                <a:close/>
              </a:path>
            </a:pathLst>
          </a:custGeom>
          <a:solidFill>
            <a:srgbClr val="FFFFFF">
              <a:alpha val="21000"/>
            </a:srgbClr>
          </a:solidFill>
          <a:ln w="3175" cap="flat">
            <a:solidFill>
              <a:srgbClr val="9AD6FE"/>
            </a:solidFill>
            <a:prstDash val="solid"/>
            <a:miter lim="8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1200">
                <a:solidFill>
                  <a:srgbClr val="FDCFB8"/>
                </a:solidFill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</a:p>
        </p:txBody>
      </p:sp>
      <p:sp>
        <p:nvSpPr>
          <p:cNvPr id="12" name="图形"/>
          <p:cNvSpPr txBox="1"/>
          <p:nvPr/>
        </p:nvSpPr>
        <p:spPr>
          <a:xfrm>
            <a:off x="1219199" y="4568189"/>
            <a:ext cx="1132206" cy="37084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defRPr/>
            </a:lvl1pPr>
          </a:lstStyle>
          <a:p>
            <a:pPr algn="just">
              <a:defRPr b="1" sz="1600">
                <a:solidFill>
                  <a:srgbClr val="262626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pPr>
            <a:r>
              <a:rPr/>
              <a:t>AI史</a:t>
            </a:r>
          </a:p>
        </p:txBody>
      </p:sp>
      <p:sp>
        <p:nvSpPr>
          <p:cNvPr id="13" name="图形"/>
          <p:cNvSpPr txBox="1"/>
          <p:nvPr/>
        </p:nvSpPr>
        <p:spPr>
          <a:xfrm>
            <a:off x="3438525" y="4587238"/>
            <a:ext cx="1354456" cy="37084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 algn="just">
              <a:defRPr b="1" sz="1600">
                <a:solidFill>
                  <a:srgbClr val="262626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2026.04</a:t>
            </a:r>
          </a:p>
        </p:txBody>
      </p:sp>
      <p:sp>
        <p:nvSpPr>
          <p:cNvPr id="14" name="图形"/>
          <p:cNvSpPr/>
          <p:nvPr/>
        </p:nvSpPr>
        <p:spPr xmlns:m="http://schemas.openxmlformats.org/officeDocument/2006/math" xmlns:a14="http://schemas.microsoft.com/office/drawing/2010/main">
          <a:xfrm>
            <a:off x="535304" y="4528184"/>
            <a:ext cx="636906" cy="45910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21600"/>
                </a:moveTo>
                <a:lnTo>
                  <a:pt x="3893" y="0"/>
                </a:lnTo>
                <a:lnTo>
                  <a:pt x="21600" y="0"/>
                </a:lnTo>
                <a:lnTo>
                  <a:pt x="17707" y="21600"/>
                </a:lnTo>
                <a:close/>
              </a:path>
            </a:pathLst>
          </a:cu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10800000" scaled="0"/>
          </a:gradFill>
          <a:ln w="12700" cap="flat">
            <a:noFill/>
            <a:miter lim="400000"/>
          </a:ln>
          <a:effectLst>
            <a:outerShdw sx="100000" sy="100000" kx="0" ky="0" algn="b" rotWithShape="0" blurRad="355600" dist="0" dir="0">
              <a:srgbClr val="000000">
                <a:alpha val="10000"/>
              </a:srgb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1200">
                <a:solidFill>
                  <a:srgbClr val="FFFFFF"/>
                </a:solidFill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</a:p>
        </p:txBody>
      </p:sp>
      <p:sp>
        <p:nvSpPr>
          <p:cNvPr id="15" name="图形"/>
          <p:cNvSpPr/>
          <p:nvPr/>
        </p:nvSpPr>
        <p:spPr xmlns:m="http://schemas.openxmlformats.org/officeDocument/2006/math" xmlns:a14="http://schemas.microsoft.com/office/drawing/2010/main">
          <a:xfrm>
            <a:off x="2840990" y="4528184"/>
            <a:ext cx="636906" cy="45910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21600"/>
                </a:moveTo>
                <a:lnTo>
                  <a:pt x="3893" y="0"/>
                </a:lnTo>
                <a:lnTo>
                  <a:pt x="21600" y="0"/>
                </a:lnTo>
                <a:lnTo>
                  <a:pt x="17707" y="21600"/>
                </a:lnTo>
                <a:close/>
              </a:path>
            </a:pathLst>
          </a:cu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10800000" scaled="0"/>
          </a:gradFill>
          <a:ln w="12700" cap="flat">
            <a:noFill/>
            <a:miter lim="400000"/>
          </a:ln>
          <a:effectLst>
            <a:outerShdw sx="100000" sy="100000" kx="0" ky="0" algn="b" rotWithShape="0" blurRad="355600" dist="0" dir="0">
              <a:srgbClr val="000000">
                <a:alpha val="10000"/>
              </a:srgb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1200">
                <a:solidFill>
                  <a:srgbClr val="FFFFFF"/>
                </a:solidFill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</a:p>
        </p:txBody>
      </p:sp>
      <p:sp>
        <p:nvSpPr>
          <p:cNvPr id="16" name="图形"/>
          <p:cNvSpPr/>
          <p:nvPr/>
        </p:nvSpPr>
        <p:spPr xmlns:m="http://schemas.openxmlformats.org/officeDocument/2006/math" xmlns:a14="http://schemas.microsoft.com/office/drawing/2010/main">
          <a:xfrm>
            <a:off x="3205676" y="4740412"/>
            <a:ext cx="102675" cy="8116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6200" y="0"/>
                </a:moveTo>
                <a:lnTo>
                  <a:pt x="8640" y="7104"/>
                </a:lnTo>
                <a:lnTo>
                  <a:pt x="1779" y="574"/>
                </a:lnTo>
                <a:lnTo>
                  <a:pt x="889" y="2225"/>
                </a:lnTo>
                <a:lnTo>
                  <a:pt x="0" y="3588"/>
                </a:lnTo>
                <a:lnTo>
                  <a:pt x="1525" y="5023"/>
                </a:lnTo>
                <a:lnTo>
                  <a:pt x="2986" y="6817"/>
                </a:lnTo>
                <a:lnTo>
                  <a:pt x="4320" y="8755"/>
                </a:lnTo>
                <a:lnTo>
                  <a:pt x="5336" y="10692"/>
                </a:lnTo>
                <a:lnTo>
                  <a:pt x="6289" y="12917"/>
                </a:lnTo>
                <a:lnTo>
                  <a:pt x="6925" y="15285"/>
                </a:lnTo>
                <a:lnTo>
                  <a:pt x="7306" y="17797"/>
                </a:lnTo>
                <a:lnTo>
                  <a:pt x="7433" y="20308"/>
                </a:lnTo>
                <a:lnTo>
                  <a:pt x="7306" y="21600"/>
                </a:lnTo>
                <a:lnTo>
                  <a:pt x="8640" y="21600"/>
                </a:lnTo>
                <a:lnTo>
                  <a:pt x="10609" y="21456"/>
                </a:lnTo>
                <a:lnTo>
                  <a:pt x="12706" y="21026"/>
                </a:lnTo>
                <a:lnTo>
                  <a:pt x="14802" y="20452"/>
                </a:lnTo>
                <a:lnTo>
                  <a:pt x="16899" y="19375"/>
                </a:lnTo>
                <a:lnTo>
                  <a:pt x="17915" y="18801"/>
                </a:lnTo>
                <a:lnTo>
                  <a:pt x="18741" y="18084"/>
                </a:lnTo>
                <a:lnTo>
                  <a:pt x="19504" y="17366"/>
                </a:lnTo>
                <a:lnTo>
                  <a:pt x="20266" y="16433"/>
                </a:lnTo>
                <a:lnTo>
                  <a:pt x="20838" y="15572"/>
                </a:lnTo>
                <a:lnTo>
                  <a:pt x="21219" y="14639"/>
                </a:lnTo>
                <a:lnTo>
                  <a:pt x="21473" y="13635"/>
                </a:lnTo>
                <a:lnTo>
                  <a:pt x="21600" y="12630"/>
                </a:lnTo>
                <a:lnTo>
                  <a:pt x="21473" y="10692"/>
                </a:lnTo>
                <a:lnTo>
                  <a:pt x="21219" y="8755"/>
                </a:lnTo>
                <a:lnTo>
                  <a:pt x="20838" y="6961"/>
                </a:lnTo>
                <a:lnTo>
                  <a:pt x="20139" y="5310"/>
                </a:lnTo>
                <a:lnTo>
                  <a:pt x="19376" y="3875"/>
                </a:lnTo>
                <a:lnTo>
                  <a:pt x="18424" y="2368"/>
                </a:lnTo>
                <a:lnTo>
                  <a:pt x="17407" y="1076"/>
                </a:lnTo>
                <a:lnTo>
                  <a:pt x="16200" y="0"/>
                </a:lnTo>
                <a:close/>
              </a:path>
            </a:pathLst>
          </a:cu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/>
          </a:p>
        </p:txBody>
      </p:sp>
      <p:sp>
        <p:nvSpPr>
          <p:cNvPr id="17" name="图形"/>
          <p:cNvSpPr/>
          <p:nvPr/>
        </p:nvSpPr>
        <p:spPr xmlns:m="http://schemas.openxmlformats.org/officeDocument/2006/math" xmlns:a14="http://schemas.microsoft.com/office/drawing/2010/main">
          <a:xfrm>
            <a:off x="3206280" y="4657089"/>
            <a:ext cx="83952" cy="7658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3807" y="17113"/>
                </a:moveTo>
                <a:lnTo>
                  <a:pt x="3807" y="18177"/>
                </a:lnTo>
                <a:lnTo>
                  <a:pt x="3652" y="19394"/>
                </a:lnTo>
                <a:lnTo>
                  <a:pt x="5128" y="20383"/>
                </a:lnTo>
                <a:lnTo>
                  <a:pt x="6837" y="20992"/>
                </a:lnTo>
                <a:lnTo>
                  <a:pt x="8624" y="21448"/>
                </a:lnTo>
                <a:lnTo>
                  <a:pt x="10412" y="21600"/>
                </a:lnTo>
                <a:lnTo>
                  <a:pt x="11499" y="21600"/>
                </a:lnTo>
                <a:lnTo>
                  <a:pt x="12665" y="21448"/>
                </a:lnTo>
                <a:lnTo>
                  <a:pt x="13753" y="21144"/>
                </a:lnTo>
                <a:lnTo>
                  <a:pt x="14685" y="20839"/>
                </a:lnTo>
                <a:lnTo>
                  <a:pt x="15695" y="20383"/>
                </a:lnTo>
                <a:lnTo>
                  <a:pt x="16627" y="19775"/>
                </a:lnTo>
                <a:lnTo>
                  <a:pt x="17404" y="19090"/>
                </a:lnTo>
                <a:lnTo>
                  <a:pt x="18259" y="18482"/>
                </a:lnTo>
                <a:lnTo>
                  <a:pt x="19036" y="17721"/>
                </a:lnTo>
                <a:lnTo>
                  <a:pt x="19658" y="16885"/>
                </a:lnTo>
                <a:lnTo>
                  <a:pt x="20201" y="15972"/>
                </a:lnTo>
                <a:lnTo>
                  <a:pt x="20668" y="15059"/>
                </a:lnTo>
                <a:lnTo>
                  <a:pt x="21134" y="14070"/>
                </a:lnTo>
                <a:lnTo>
                  <a:pt x="21289" y="13006"/>
                </a:lnTo>
                <a:lnTo>
                  <a:pt x="21445" y="11865"/>
                </a:lnTo>
                <a:lnTo>
                  <a:pt x="21600" y="10800"/>
                </a:lnTo>
                <a:lnTo>
                  <a:pt x="21445" y="9735"/>
                </a:lnTo>
                <a:lnTo>
                  <a:pt x="21289" y="8594"/>
                </a:lnTo>
                <a:lnTo>
                  <a:pt x="21134" y="7530"/>
                </a:lnTo>
                <a:lnTo>
                  <a:pt x="20668" y="6541"/>
                </a:lnTo>
                <a:lnTo>
                  <a:pt x="20201" y="5628"/>
                </a:lnTo>
                <a:lnTo>
                  <a:pt x="19658" y="4715"/>
                </a:lnTo>
                <a:lnTo>
                  <a:pt x="19036" y="3879"/>
                </a:lnTo>
                <a:lnTo>
                  <a:pt x="18259" y="3118"/>
                </a:lnTo>
                <a:lnTo>
                  <a:pt x="17404" y="2358"/>
                </a:lnTo>
                <a:lnTo>
                  <a:pt x="16627" y="1673"/>
                </a:lnTo>
                <a:lnTo>
                  <a:pt x="15695" y="1217"/>
                </a:lnTo>
                <a:lnTo>
                  <a:pt x="14685" y="761"/>
                </a:lnTo>
                <a:lnTo>
                  <a:pt x="13753" y="456"/>
                </a:lnTo>
                <a:lnTo>
                  <a:pt x="12665" y="152"/>
                </a:lnTo>
                <a:lnTo>
                  <a:pt x="11499" y="0"/>
                </a:lnTo>
                <a:lnTo>
                  <a:pt x="8624" y="0"/>
                </a:lnTo>
                <a:lnTo>
                  <a:pt x="6993" y="456"/>
                </a:lnTo>
                <a:lnTo>
                  <a:pt x="5439" y="1065"/>
                </a:lnTo>
                <a:lnTo>
                  <a:pt x="3963" y="1825"/>
                </a:lnTo>
                <a:lnTo>
                  <a:pt x="2719" y="2966"/>
                </a:lnTo>
                <a:lnTo>
                  <a:pt x="1554" y="4183"/>
                </a:lnTo>
                <a:lnTo>
                  <a:pt x="777" y="5476"/>
                </a:lnTo>
                <a:lnTo>
                  <a:pt x="0" y="6997"/>
                </a:lnTo>
                <a:lnTo>
                  <a:pt x="932" y="8138"/>
                </a:lnTo>
                <a:lnTo>
                  <a:pt x="1554" y="9203"/>
                </a:lnTo>
                <a:lnTo>
                  <a:pt x="2176" y="10344"/>
                </a:lnTo>
                <a:lnTo>
                  <a:pt x="2875" y="11561"/>
                </a:lnTo>
                <a:lnTo>
                  <a:pt x="3341" y="12854"/>
                </a:lnTo>
                <a:lnTo>
                  <a:pt x="3652" y="14223"/>
                </a:lnTo>
                <a:lnTo>
                  <a:pt x="3807" y="15668"/>
                </a:lnTo>
                <a:lnTo>
                  <a:pt x="3807" y="17113"/>
                </a:lnTo>
                <a:close/>
              </a:path>
            </a:pathLst>
          </a:cu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/>
          </a:p>
        </p:txBody>
      </p:sp>
      <p:sp>
        <p:nvSpPr>
          <p:cNvPr id="18" name="图形"/>
          <p:cNvSpPr/>
          <p:nvPr/>
        </p:nvSpPr>
        <p:spPr xmlns:m="http://schemas.openxmlformats.org/officeDocument/2006/math" xmlns:a14="http://schemas.microsoft.com/office/drawing/2010/main">
          <a:xfrm>
            <a:off x="3011804" y="4740412"/>
            <a:ext cx="103279" cy="8116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2884" y="21600"/>
                </a:moveTo>
                <a:lnTo>
                  <a:pt x="14211" y="21600"/>
                </a:lnTo>
                <a:lnTo>
                  <a:pt x="14211" y="20308"/>
                </a:lnTo>
                <a:lnTo>
                  <a:pt x="14337" y="17797"/>
                </a:lnTo>
                <a:lnTo>
                  <a:pt x="14716" y="15285"/>
                </a:lnTo>
                <a:lnTo>
                  <a:pt x="15347" y="12917"/>
                </a:lnTo>
                <a:lnTo>
                  <a:pt x="16168" y="10692"/>
                </a:lnTo>
                <a:lnTo>
                  <a:pt x="17179" y="8755"/>
                </a:lnTo>
                <a:lnTo>
                  <a:pt x="18505" y="6817"/>
                </a:lnTo>
                <a:lnTo>
                  <a:pt x="19958" y="5023"/>
                </a:lnTo>
                <a:lnTo>
                  <a:pt x="21600" y="3588"/>
                </a:lnTo>
                <a:lnTo>
                  <a:pt x="20589" y="2225"/>
                </a:lnTo>
                <a:lnTo>
                  <a:pt x="19768" y="574"/>
                </a:lnTo>
                <a:lnTo>
                  <a:pt x="12884" y="7104"/>
                </a:lnTo>
                <a:lnTo>
                  <a:pt x="5305" y="0"/>
                </a:lnTo>
                <a:lnTo>
                  <a:pt x="4168" y="1076"/>
                </a:lnTo>
                <a:lnTo>
                  <a:pt x="3095" y="2368"/>
                </a:lnTo>
                <a:lnTo>
                  <a:pt x="2211" y="3875"/>
                </a:lnTo>
                <a:lnTo>
                  <a:pt x="1453" y="5310"/>
                </a:lnTo>
                <a:lnTo>
                  <a:pt x="884" y="6961"/>
                </a:lnTo>
                <a:lnTo>
                  <a:pt x="379" y="8755"/>
                </a:lnTo>
                <a:lnTo>
                  <a:pt x="126" y="10692"/>
                </a:lnTo>
                <a:lnTo>
                  <a:pt x="0" y="12630"/>
                </a:lnTo>
                <a:lnTo>
                  <a:pt x="126" y="13635"/>
                </a:lnTo>
                <a:lnTo>
                  <a:pt x="379" y="14639"/>
                </a:lnTo>
                <a:lnTo>
                  <a:pt x="758" y="15572"/>
                </a:lnTo>
                <a:lnTo>
                  <a:pt x="1453" y="16433"/>
                </a:lnTo>
                <a:lnTo>
                  <a:pt x="2084" y="17366"/>
                </a:lnTo>
                <a:lnTo>
                  <a:pt x="2842" y="18084"/>
                </a:lnTo>
                <a:lnTo>
                  <a:pt x="3789" y="18801"/>
                </a:lnTo>
                <a:lnTo>
                  <a:pt x="4674" y="19375"/>
                </a:lnTo>
                <a:lnTo>
                  <a:pt x="6758" y="20452"/>
                </a:lnTo>
                <a:lnTo>
                  <a:pt x="8842" y="21026"/>
                </a:lnTo>
                <a:lnTo>
                  <a:pt x="10926" y="21456"/>
                </a:lnTo>
                <a:lnTo>
                  <a:pt x="12884" y="21600"/>
                </a:lnTo>
                <a:close/>
              </a:path>
            </a:pathLst>
          </a:cu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/>
          </a:p>
        </p:txBody>
      </p:sp>
      <p:sp>
        <p:nvSpPr>
          <p:cNvPr id="19" name="图形"/>
          <p:cNvSpPr/>
          <p:nvPr/>
        </p:nvSpPr>
        <p:spPr xmlns:m="http://schemas.openxmlformats.org/officeDocument/2006/math" xmlns:a14="http://schemas.microsoft.com/office/drawing/2010/main">
          <a:xfrm>
            <a:off x="3030527" y="4657089"/>
            <a:ext cx="83348" cy="7658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1113" y="21600"/>
                </a:moveTo>
                <a:lnTo>
                  <a:pt x="13070" y="21448"/>
                </a:lnTo>
                <a:lnTo>
                  <a:pt x="14870" y="20992"/>
                </a:lnTo>
                <a:lnTo>
                  <a:pt x="16435" y="20383"/>
                </a:lnTo>
                <a:lnTo>
                  <a:pt x="17922" y="19394"/>
                </a:lnTo>
                <a:lnTo>
                  <a:pt x="17922" y="18177"/>
                </a:lnTo>
                <a:lnTo>
                  <a:pt x="17765" y="17113"/>
                </a:lnTo>
                <a:lnTo>
                  <a:pt x="18078" y="14223"/>
                </a:lnTo>
                <a:lnTo>
                  <a:pt x="18391" y="12854"/>
                </a:lnTo>
                <a:lnTo>
                  <a:pt x="18861" y="11561"/>
                </a:lnTo>
                <a:lnTo>
                  <a:pt x="19330" y="10344"/>
                </a:lnTo>
                <a:lnTo>
                  <a:pt x="20035" y="9203"/>
                </a:lnTo>
                <a:lnTo>
                  <a:pt x="20817" y="8138"/>
                </a:lnTo>
                <a:lnTo>
                  <a:pt x="21600" y="6997"/>
                </a:lnTo>
                <a:lnTo>
                  <a:pt x="20974" y="5476"/>
                </a:lnTo>
                <a:lnTo>
                  <a:pt x="20035" y="4183"/>
                </a:lnTo>
                <a:lnTo>
                  <a:pt x="18861" y="2966"/>
                </a:lnTo>
                <a:lnTo>
                  <a:pt x="17609" y="1825"/>
                </a:lnTo>
                <a:lnTo>
                  <a:pt x="16122" y="1065"/>
                </a:lnTo>
                <a:lnTo>
                  <a:pt x="14478" y="456"/>
                </a:lnTo>
                <a:lnTo>
                  <a:pt x="12913" y="0"/>
                </a:lnTo>
                <a:lnTo>
                  <a:pt x="10017" y="0"/>
                </a:lnTo>
                <a:lnTo>
                  <a:pt x="8843" y="152"/>
                </a:lnTo>
                <a:lnTo>
                  <a:pt x="7748" y="456"/>
                </a:lnTo>
                <a:lnTo>
                  <a:pt x="6730" y="761"/>
                </a:lnTo>
                <a:lnTo>
                  <a:pt x="4852" y="1673"/>
                </a:lnTo>
                <a:lnTo>
                  <a:pt x="3991" y="2358"/>
                </a:lnTo>
                <a:lnTo>
                  <a:pt x="2426" y="3879"/>
                </a:lnTo>
                <a:lnTo>
                  <a:pt x="1722" y="4715"/>
                </a:lnTo>
                <a:lnTo>
                  <a:pt x="783" y="6541"/>
                </a:lnTo>
                <a:lnTo>
                  <a:pt x="470" y="7530"/>
                </a:lnTo>
                <a:lnTo>
                  <a:pt x="157" y="8594"/>
                </a:lnTo>
                <a:lnTo>
                  <a:pt x="0" y="9735"/>
                </a:lnTo>
                <a:lnTo>
                  <a:pt x="0" y="11865"/>
                </a:lnTo>
                <a:lnTo>
                  <a:pt x="157" y="13006"/>
                </a:lnTo>
                <a:lnTo>
                  <a:pt x="470" y="14070"/>
                </a:lnTo>
                <a:lnTo>
                  <a:pt x="783" y="15059"/>
                </a:lnTo>
                <a:lnTo>
                  <a:pt x="1722" y="16885"/>
                </a:lnTo>
                <a:lnTo>
                  <a:pt x="2426" y="17721"/>
                </a:lnTo>
                <a:lnTo>
                  <a:pt x="3209" y="18482"/>
                </a:lnTo>
                <a:lnTo>
                  <a:pt x="3991" y="19090"/>
                </a:lnTo>
                <a:lnTo>
                  <a:pt x="4852" y="19775"/>
                </a:lnTo>
                <a:lnTo>
                  <a:pt x="5791" y="20383"/>
                </a:lnTo>
                <a:lnTo>
                  <a:pt x="6730" y="20839"/>
                </a:lnTo>
                <a:lnTo>
                  <a:pt x="7748" y="21144"/>
                </a:lnTo>
                <a:lnTo>
                  <a:pt x="8843" y="21448"/>
                </a:lnTo>
                <a:lnTo>
                  <a:pt x="10017" y="21600"/>
                </a:lnTo>
                <a:lnTo>
                  <a:pt x="11113" y="21600"/>
                </a:lnTo>
                <a:close/>
              </a:path>
            </a:pathLst>
          </a:cu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/>
          </a:p>
        </p:txBody>
      </p:sp>
      <p:sp>
        <p:nvSpPr>
          <p:cNvPr id="20" name="图形"/>
          <p:cNvSpPr/>
          <p:nvPr/>
        </p:nvSpPr>
        <p:spPr xmlns:m="http://schemas.openxmlformats.org/officeDocument/2006/math" xmlns:a14="http://schemas.microsoft.com/office/drawing/2010/main">
          <a:xfrm>
            <a:off x="3093943" y="4765490"/>
            <a:ext cx="132873" cy="8844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12512"/>
                </a:moveTo>
                <a:lnTo>
                  <a:pt x="21502" y="10602"/>
                </a:lnTo>
                <a:lnTo>
                  <a:pt x="21158" y="8824"/>
                </a:lnTo>
                <a:lnTo>
                  <a:pt x="20864" y="7046"/>
                </a:lnTo>
                <a:lnTo>
                  <a:pt x="20275" y="5466"/>
                </a:lnTo>
                <a:lnTo>
                  <a:pt x="19636" y="3820"/>
                </a:lnTo>
                <a:lnTo>
                  <a:pt x="18851" y="2437"/>
                </a:lnTo>
                <a:lnTo>
                  <a:pt x="17918" y="1054"/>
                </a:lnTo>
                <a:lnTo>
                  <a:pt x="17035" y="0"/>
                </a:lnTo>
                <a:lnTo>
                  <a:pt x="10751" y="6915"/>
                </a:lnTo>
                <a:lnTo>
                  <a:pt x="4565" y="0"/>
                </a:lnTo>
                <a:lnTo>
                  <a:pt x="3535" y="1054"/>
                </a:lnTo>
                <a:lnTo>
                  <a:pt x="2651" y="2437"/>
                </a:lnTo>
                <a:lnTo>
                  <a:pt x="1915" y="3820"/>
                </a:lnTo>
                <a:lnTo>
                  <a:pt x="1227" y="5466"/>
                </a:lnTo>
                <a:lnTo>
                  <a:pt x="736" y="7046"/>
                </a:lnTo>
                <a:lnTo>
                  <a:pt x="295" y="8824"/>
                </a:lnTo>
                <a:lnTo>
                  <a:pt x="98" y="10602"/>
                </a:lnTo>
                <a:lnTo>
                  <a:pt x="0" y="12512"/>
                </a:lnTo>
                <a:lnTo>
                  <a:pt x="0" y="13566"/>
                </a:lnTo>
                <a:lnTo>
                  <a:pt x="295" y="14685"/>
                </a:lnTo>
                <a:lnTo>
                  <a:pt x="638" y="15607"/>
                </a:lnTo>
                <a:lnTo>
                  <a:pt x="1129" y="16463"/>
                </a:lnTo>
                <a:lnTo>
                  <a:pt x="1718" y="17254"/>
                </a:lnTo>
                <a:lnTo>
                  <a:pt x="2356" y="18044"/>
                </a:lnTo>
                <a:lnTo>
                  <a:pt x="3142" y="18768"/>
                </a:lnTo>
                <a:lnTo>
                  <a:pt x="3878" y="19295"/>
                </a:lnTo>
                <a:lnTo>
                  <a:pt x="4762" y="19822"/>
                </a:lnTo>
                <a:lnTo>
                  <a:pt x="5695" y="20349"/>
                </a:lnTo>
                <a:lnTo>
                  <a:pt x="7413" y="21073"/>
                </a:lnTo>
                <a:lnTo>
                  <a:pt x="9229" y="21468"/>
                </a:lnTo>
                <a:lnTo>
                  <a:pt x="10751" y="21600"/>
                </a:lnTo>
                <a:lnTo>
                  <a:pt x="12371" y="21468"/>
                </a:lnTo>
                <a:lnTo>
                  <a:pt x="14089" y="21073"/>
                </a:lnTo>
                <a:lnTo>
                  <a:pt x="15905" y="20349"/>
                </a:lnTo>
                <a:lnTo>
                  <a:pt x="16838" y="19822"/>
                </a:lnTo>
                <a:lnTo>
                  <a:pt x="17624" y="19295"/>
                </a:lnTo>
                <a:lnTo>
                  <a:pt x="18458" y="18768"/>
                </a:lnTo>
                <a:lnTo>
                  <a:pt x="19145" y="18044"/>
                </a:lnTo>
                <a:lnTo>
                  <a:pt x="19882" y="17254"/>
                </a:lnTo>
                <a:lnTo>
                  <a:pt x="20373" y="16463"/>
                </a:lnTo>
                <a:lnTo>
                  <a:pt x="20864" y="15607"/>
                </a:lnTo>
                <a:lnTo>
                  <a:pt x="21256" y="14685"/>
                </a:lnTo>
                <a:lnTo>
                  <a:pt x="21502" y="13566"/>
                </a:lnTo>
                <a:lnTo>
                  <a:pt x="21600" y="12512"/>
                </a:lnTo>
                <a:close/>
              </a:path>
            </a:pathLst>
          </a:cu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/>
          </a:p>
        </p:txBody>
      </p:sp>
      <p:sp>
        <p:nvSpPr>
          <p:cNvPr id="21" name="图形"/>
          <p:cNvSpPr/>
          <p:nvPr/>
        </p:nvSpPr>
        <p:spPr xmlns:m="http://schemas.openxmlformats.org/officeDocument/2006/math" xmlns:a14="http://schemas.microsoft.com/office/drawing/2010/main">
          <a:xfrm>
            <a:off x="3113270" y="4675964"/>
            <a:ext cx="93615" cy="8278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0800" y="0"/>
                </a:moveTo>
                <a:lnTo>
                  <a:pt x="9755" y="0"/>
                </a:lnTo>
                <a:lnTo>
                  <a:pt x="8640" y="141"/>
                </a:lnTo>
                <a:lnTo>
                  <a:pt x="7595" y="422"/>
                </a:lnTo>
                <a:lnTo>
                  <a:pt x="6619" y="844"/>
                </a:lnTo>
                <a:lnTo>
                  <a:pt x="5783" y="1266"/>
                </a:lnTo>
                <a:lnTo>
                  <a:pt x="4738" y="1900"/>
                </a:lnTo>
                <a:lnTo>
                  <a:pt x="4041" y="2463"/>
                </a:lnTo>
                <a:lnTo>
                  <a:pt x="3205" y="3166"/>
                </a:lnTo>
                <a:lnTo>
                  <a:pt x="2439" y="3940"/>
                </a:lnTo>
                <a:lnTo>
                  <a:pt x="1324" y="5629"/>
                </a:lnTo>
                <a:lnTo>
                  <a:pt x="906" y="6684"/>
                </a:lnTo>
                <a:lnTo>
                  <a:pt x="557" y="7528"/>
                </a:lnTo>
                <a:lnTo>
                  <a:pt x="279" y="8724"/>
                </a:lnTo>
                <a:lnTo>
                  <a:pt x="139" y="9709"/>
                </a:lnTo>
                <a:lnTo>
                  <a:pt x="0" y="10906"/>
                </a:lnTo>
                <a:lnTo>
                  <a:pt x="139" y="11891"/>
                </a:lnTo>
                <a:lnTo>
                  <a:pt x="279" y="13016"/>
                </a:lnTo>
                <a:lnTo>
                  <a:pt x="557" y="14072"/>
                </a:lnTo>
                <a:lnTo>
                  <a:pt x="906" y="15057"/>
                </a:lnTo>
                <a:lnTo>
                  <a:pt x="1324" y="15971"/>
                </a:lnTo>
                <a:lnTo>
                  <a:pt x="1881" y="16956"/>
                </a:lnTo>
                <a:lnTo>
                  <a:pt x="2439" y="17730"/>
                </a:lnTo>
                <a:lnTo>
                  <a:pt x="3205" y="18575"/>
                </a:lnTo>
                <a:lnTo>
                  <a:pt x="4041" y="19137"/>
                </a:lnTo>
                <a:lnTo>
                  <a:pt x="4738" y="19841"/>
                </a:lnTo>
                <a:lnTo>
                  <a:pt x="5783" y="20334"/>
                </a:lnTo>
                <a:lnTo>
                  <a:pt x="6619" y="20896"/>
                </a:lnTo>
                <a:lnTo>
                  <a:pt x="7595" y="21178"/>
                </a:lnTo>
                <a:lnTo>
                  <a:pt x="8640" y="21459"/>
                </a:lnTo>
                <a:lnTo>
                  <a:pt x="9755" y="21600"/>
                </a:lnTo>
                <a:lnTo>
                  <a:pt x="11915" y="21600"/>
                </a:lnTo>
                <a:lnTo>
                  <a:pt x="12960" y="21459"/>
                </a:lnTo>
                <a:lnTo>
                  <a:pt x="13935" y="21178"/>
                </a:lnTo>
                <a:lnTo>
                  <a:pt x="14981" y="20896"/>
                </a:lnTo>
                <a:lnTo>
                  <a:pt x="15956" y="20334"/>
                </a:lnTo>
                <a:lnTo>
                  <a:pt x="16862" y="19841"/>
                </a:lnTo>
                <a:lnTo>
                  <a:pt x="17698" y="19137"/>
                </a:lnTo>
                <a:lnTo>
                  <a:pt x="18395" y="18575"/>
                </a:lnTo>
                <a:lnTo>
                  <a:pt x="19161" y="17730"/>
                </a:lnTo>
                <a:lnTo>
                  <a:pt x="19719" y="16956"/>
                </a:lnTo>
                <a:lnTo>
                  <a:pt x="20276" y="15971"/>
                </a:lnTo>
                <a:lnTo>
                  <a:pt x="20694" y="15057"/>
                </a:lnTo>
                <a:lnTo>
                  <a:pt x="21112" y="14072"/>
                </a:lnTo>
                <a:lnTo>
                  <a:pt x="21321" y="13016"/>
                </a:lnTo>
                <a:lnTo>
                  <a:pt x="21600" y="11891"/>
                </a:lnTo>
                <a:lnTo>
                  <a:pt x="21600" y="9709"/>
                </a:lnTo>
                <a:lnTo>
                  <a:pt x="21321" y="8724"/>
                </a:lnTo>
                <a:lnTo>
                  <a:pt x="21112" y="7528"/>
                </a:lnTo>
                <a:lnTo>
                  <a:pt x="20694" y="6684"/>
                </a:lnTo>
                <a:lnTo>
                  <a:pt x="20276" y="5629"/>
                </a:lnTo>
                <a:lnTo>
                  <a:pt x="19161" y="3940"/>
                </a:lnTo>
                <a:lnTo>
                  <a:pt x="18395" y="3166"/>
                </a:lnTo>
                <a:lnTo>
                  <a:pt x="17698" y="2463"/>
                </a:lnTo>
                <a:lnTo>
                  <a:pt x="16862" y="1900"/>
                </a:lnTo>
                <a:lnTo>
                  <a:pt x="15956" y="1266"/>
                </a:lnTo>
                <a:lnTo>
                  <a:pt x="14981" y="844"/>
                </a:lnTo>
                <a:lnTo>
                  <a:pt x="13935" y="422"/>
                </a:lnTo>
                <a:lnTo>
                  <a:pt x="12960" y="141"/>
                </a:lnTo>
                <a:lnTo>
                  <a:pt x="11915" y="0"/>
                </a:lnTo>
                <a:lnTo>
                  <a:pt x="10800" y="0"/>
                </a:lnTo>
                <a:close/>
              </a:path>
            </a:pathLst>
          </a:cu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/>
          </a:p>
        </p:txBody>
      </p:sp>
      <p:pic>
        <p:nvPicPr>
          <p:cNvPr id="22" name="图形" descr="3b8add963136f361ab5c80602bd6fe9fa41541a5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688974" y="4612639"/>
            <a:ext cx="290831" cy="29083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图形" descr="image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0" y="24731"/>
            <a:ext cx="12192000" cy="6832601"/>
          </a:xfrm>
          <a:prstGeom prst="rect">
            <a:avLst/>
          </a:prstGeom>
        </p:spPr>
      </p:pic>
      <p:sp>
        <p:nvSpPr>
          <p:cNvPr id="3" name="图形"/>
          <p:cNvSpPr txBox="1"/>
          <p:nvPr/>
        </p:nvSpPr>
        <p:spPr>
          <a:xfrm>
            <a:off x="722630" y="464819"/>
            <a:ext cx="1783715" cy="1158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just">
              <a:defRPr b="1" sz="6000">
                <a:solidFill>
                  <a:schemeClr val="accent1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目录</a:t>
            </a:r>
          </a:p>
        </p:txBody>
      </p:sp>
      <p:sp>
        <p:nvSpPr>
          <p:cNvPr id="4" name="图形"/>
          <p:cNvSpPr txBox="1"/>
          <p:nvPr/>
        </p:nvSpPr>
        <p:spPr>
          <a:xfrm>
            <a:off x="2577465" y="770890"/>
            <a:ext cx="2245361" cy="523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2800">
                <a:solidFill>
                  <a:srgbClr val="262626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内容概览</a:t>
            </a:r>
          </a:p>
        </p:txBody>
      </p:sp>
      <p:sp>
        <p:nvSpPr>
          <p:cNvPr id="5" name="TextBox 9"/>
          <p:cNvSpPr txBox="1"/>
          <p:nvPr/>
        </p:nvSpPr>
        <p:spPr>
          <a:xfrm>
            <a:off x="95622" y="36763"/>
            <a:ext cx="36221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/>
            </a:lvl1pPr>
          </a:lstStyle>
          <a:p>
            <a:pPr>
              <a:lnSpc>
                <a:spcPct val="200000"/>
              </a:lnSpc>
              <a:defRPr sz="100">
                <a:noFill/>
                <a:latin typeface="微软雅黑"/>
                <a:ea typeface="微软雅黑"/>
                <a:cs typeface="微软雅黑"/>
                <a:sym typeface="微软雅黑"/>
              </a:defRPr>
            </a:pPr>
            <a:r>
              <a:rPr/>
              <a:t>人工智能发展历程 | 2026-04-15</a:t>
            </a:r>
          </a:p>
        </p:txBody>
      </p:sp>
      <p:sp>
        <p:nvSpPr>
          <p:cNvPr id="6" name="图形"/>
          <p:cNvSpPr txBox="1"/>
          <p:nvPr/>
        </p:nvSpPr>
        <p:spPr>
          <a:xfrm>
            <a:off x="722629" y="464819"/>
            <a:ext cx="3040382" cy="726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just">
              <a:defRPr b="1" sz="3600">
                <a:solidFill>
                  <a:srgbClr val="262626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目录</a:t>
            </a:r>
          </a:p>
        </p:txBody>
      </p:sp>
      <p:sp>
        <p:nvSpPr>
          <p:cNvPr id="7" name="图形"/>
          <p:cNvSpPr/>
          <p:nvPr/>
        </p:nvSpPr>
        <p:spPr xmlns:m="http://schemas.openxmlformats.org/officeDocument/2006/math" xmlns:a14="http://schemas.microsoft.com/office/drawing/2010/main">
          <a:xfrm rot="540000">
            <a:off x="930752" y="1766646"/>
            <a:ext cx="1839681" cy="1251117"/>
          </a:xfrm>
          <a:prstGeom prst="roundRect">
            <a:avLst>
              <a:gd name="adj" fmla="val 4574"/>
            </a:avLst>
          </a:prstGeom>
          <a:gradFill flip="none" rotWithShape="1">
            <a:gsLst>
              <a:gs pos="0">
                <a:srgbClr val="007EE8"/>
              </a:gs>
              <a:gs pos="100000">
                <a:schemeClr val="accent2"/>
              </a:gs>
            </a:gsLst>
            <a:lin ang="16200000" scaled="0"/>
          </a:gradFill>
          <a:ln w="12700" cap="flat">
            <a:noFill/>
            <a:miter lim="400000"/>
          </a:ln>
          <a:effectLst>
            <a:outerShdw sx="100000" sy="100000" kx="0" ky="0" algn="b" rotWithShape="0" blurRad="50800" dist="38100" dir="5400000">
              <a:srgbClr val="000000">
                <a:alpha val="23000"/>
              </a:srgb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" name="图形"/>
          <p:cNvSpPr/>
          <p:nvPr/>
        </p:nvSpPr>
        <p:spPr xmlns:m="http://schemas.openxmlformats.org/officeDocument/2006/math" xmlns:a14="http://schemas.microsoft.com/office/drawing/2010/main">
          <a:xfrm>
            <a:off x="666749" y="1982541"/>
            <a:ext cx="2626996" cy="3886129"/>
          </a:xfrm>
          <a:prstGeom prst="roundRect">
            <a:avLst>
              <a:gd name="adj" fmla="val 4574"/>
            </a:avLst>
          </a:prstGeom>
          <a:gradFill flip="none" rotWithShape="1">
            <a:gsLst>
              <a:gs pos="0">
                <a:srgbClr val="E1F2FF"/>
              </a:gs>
              <a:gs pos="100000">
                <a:srgbClr val="FFFFFF"/>
              </a:gs>
            </a:gsLst>
            <a:lin ang="16200000" scaled="0"/>
          </a:gradFill>
          <a:ln w="12700" cap="flat">
            <a:noFill/>
            <a:miter lim="400000"/>
          </a:ln>
          <a:effectLst>
            <a:outerShdw sx="100000" sy="100000" kx="0" ky="0" algn="b" rotWithShape="0" blurRad="50800" dist="38100" dir="5400000">
              <a:srgbClr val="000000">
                <a:alpha val="23000"/>
              </a:srgb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" name="图形"/>
          <p:cNvSpPr txBox="1"/>
          <p:nvPr/>
        </p:nvSpPr>
        <p:spPr>
          <a:xfrm>
            <a:off x="1167763" y="2335530"/>
            <a:ext cx="2011682" cy="15519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defRPr b="1" sz="9600">
                <a:ln w="31750" cap="flat">
                  <a:solidFill>
                    <a:srgbClr val="79BCFB">
                      <a:alpha val="50000"/>
                    </a:srgbClr>
                  </a:solidFill>
                  <a:prstDash val="solid"/>
                  <a:round/>
                </a:ln>
                <a:noFill/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>
              <a:defRPr/>
            </a:pPr>
            <a:r>
              <a:rPr sz="9400"/>
              <a:t>01</a:t>
            </a:r>
          </a:p>
        </p:txBody>
      </p:sp>
      <p:sp>
        <p:nvSpPr>
          <p:cNvPr id="10" name="图形"/>
          <p:cNvSpPr/>
          <p:nvPr/>
        </p:nvSpPr>
        <p:spPr xmlns:m="http://schemas.openxmlformats.org/officeDocument/2006/math" xmlns:a14="http://schemas.microsoft.com/office/drawing/2010/main">
          <a:xfrm rot="540000">
            <a:off x="3700967" y="1766762"/>
            <a:ext cx="1838192" cy="1251083"/>
          </a:xfrm>
          <a:prstGeom prst="roundRect">
            <a:avLst>
              <a:gd name="adj" fmla="val 4574"/>
            </a:avLst>
          </a:prstGeom>
          <a:gradFill flip="none" rotWithShape="1">
            <a:gsLst>
              <a:gs pos="0">
                <a:srgbClr val="007EE8"/>
              </a:gs>
              <a:gs pos="100000">
                <a:schemeClr val="accent2"/>
              </a:gs>
            </a:gsLst>
            <a:lin ang="16200000" scaled="0"/>
          </a:gradFill>
          <a:ln w="12700" cap="flat">
            <a:noFill/>
            <a:miter lim="400000"/>
          </a:ln>
          <a:effectLst>
            <a:outerShdw sx="100000" sy="100000" kx="0" ky="0" algn="b" rotWithShape="0" blurRad="50800" dist="38100" dir="5400000">
              <a:srgbClr val="000000">
                <a:alpha val="23000"/>
              </a:srgb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" name="图形"/>
          <p:cNvSpPr/>
          <p:nvPr/>
        </p:nvSpPr>
        <p:spPr xmlns:m="http://schemas.openxmlformats.org/officeDocument/2006/math" xmlns:a14="http://schemas.microsoft.com/office/drawing/2010/main">
          <a:xfrm>
            <a:off x="3435984" y="1982652"/>
            <a:ext cx="2626361" cy="3886017"/>
          </a:xfrm>
          <a:prstGeom prst="roundRect">
            <a:avLst>
              <a:gd name="adj" fmla="val 4574"/>
            </a:avLst>
          </a:prstGeom>
          <a:gradFill flip="none" rotWithShape="1">
            <a:gsLst>
              <a:gs pos="0">
                <a:srgbClr val="E1F2FF"/>
              </a:gs>
              <a:gs pos="100000">
                <a:srgbClr val="FFFFFF"/>
              </a:gs>
            </a:gsLst>
            <a:lin ang="16200000" scaled="0"/>
          </a:gradFill>
          <a:ln w="12700" cap="flat">
            <a:noFill/>
            <a:miter lim="400000"/>
          </a:ln>
          <a:effectLst>
            <a:outerShdw sx="100000" sy="100000" kx="0" ky="0" algn="b" rotWithShape="0" blurRad="50800" dist="38100" dir="5400000">
              <a:srgbClr val="000000">
                <a:alpha val="23000"/>
              </a:srgb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" name="图形"/>
          <p:cNvSpPr txBox="1"/>
          <p:nvPr/>
        </p:nvSpPr>
        <p:spPr>
          <a:xfrm>
            <a:off x="3943348" y="2335529"/>
            <a:ext cx="1699261" cy="15519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defRPr b="1" sz="9600">
                <a:ln w="31750" cap="flat">
                  <a:solidFill>
                    <a:srgbClr val="79BCFB">
                      <a:alpha val="50000"/>
                    </a:srgbClr>
                  </a:solidFill>
                  <a:prstDash val="solid"/>
                  <a:round/>
                </a:ln>
                <a:noFill/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>
              <a:defRPr/>
            </a:pPr>
            <a:r>
              <a:rPr sz="9400"/>
              <a:t>02</a:t>
            </a:r>
          </a:p>
        </p:txBody>
      </p:sp>
      <p:sp>
        <p:nvSpPr>
          <p:cNvPr id="13" name="图形"/>
          <p:cNvSpPr/>
          <p:nvPr/>
        </p:nvSpPr>
        <p:spPr xmlns:m="http://schemas.openxmlformats.org/officeDocument/2006/math" xmlns:a14="http://schemas.microsoft.com/office/drawing/2010/main">
          <a:xfrm rot="540000">
            <a:off x="6469567" y="1766762"/>
            <a:ext cx="1838192" cy="1251083"/>
          </a:xfrm>
          <a:prstGeom prst="roundRect">
            <a:avLst>
              <a:gd name="adj" fmla="val 4574"/>
            </a:avLst>
          </a:prstGeom>
          <a:gradFill flip="none" rotWithShape="1">
            <a:gsLst>
              <a:gs pos="0">
                <a:srgbClr val="007EE8"/>
              </a:gs>
              <a:gs pos="100000">
                <a:schemeClr val="accent2"/>
              </a:gs>
            </a:gsLst>
            <a:lin ang="16200000" scaled="0"/>
          </a:gradFill>
          <a:ln w="12700" cap="flat">
            <a:noFill/>
            <a:miter lim="400000"/>
          </a:ln>
          <a:effectLst>
            <a:outerShdw sx="100000" sy="100000" kx="0" ky="0" algn="b" rotWithShape="0" blurRad="50800" dist="38100" dir="5400000">
              <a:srgbClr val="000000">
                <a:alpha val="23000"/>
              </a:srgb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" name="图形"/>
          <p:cNvSpPr/>
          <p:nvPr/>
        </p:nvSpPr>
        <p:spPr xmlns:m="http://schemas.openxmlformats.org/officeDocument/2006/math" xmlns:a14="http://schemas.microsoft.com/office/drawing/2010/main">
          <a:xfrm>
            <a:off x="6204584" y="1982652"/>
            <a:ext cx="2626361" cy="3886017"/>
          </a:xfrm>
          <a:prstGeom prst="roundRect">
            <a:avLst>
              <a:gd name="adj" fmla="val 4574"/>
            </a:avLst>
          </a:prstGeom>
          <a:gradFill flip="none" rotWithShape="1">
            <a:gsLst>
              <a:gs pos="0">
                <a:srgbClr val="E1F2FF"/>
              </a:gs>
              <a:gs pos="100000">
                <a:srgbClr val="FFFFFF"/>
              </a:gs>
            </a:gsLst>
            <a:lin ang="16200000" scaled="0"/>
          </a:gradFill>
          <a:ln w="12700" cap="flat">
            <a:noFill/>
            <a:miter lim="400000"/>
          </a:ln>
          <a:effectLst>
            <a:outerShdw sx="100000" sy="100000" kx="0" ky="0" algn="b" rotWithShape="0" blurRad="50800" dist="38100" dir="5400000">
              <a:srgbClr val="000000">
                <a:alpha val="23000"/>
              </a:srgb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" name="图形"/>
          <p:cNvSpPr txBox="1"/>
          <p:nvPr/>
        </p:nvSpPr>
        <p:spPr>
          <a:xfrm>
            <a:off x="6753223" y="2335529"/>
            <a:ext cx="1699261" cy="15519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defRPr b="1" sz="9600">
                <a:ln w="31750" cap="flat">
                  <a:solidFill>
                    <a:srgbClr val="79BCFB">
                      <a:alpha val="50000"/>
                    </a:srgbClr>
                  </a:solidFill>
                  <a:prstDash val="solid"/>
                  <a:round/>
                </a:ln>
                <a:noFill/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>
              <a:defRPr/>
            </a:pPr>
            <a:r>
              <a:rPr sz="9400"/>
              <a:t>03</a:t>
            </a:r>
          </a:p>
        </p:txBody>
      </p:sp>
      <p:sp>
        <p:nvSpPr>
          <p:cNvPr id="16" name="图形"/>
          <p:cNvSpPr/>
          <p:nvPr/>
        </p:nvSpPr>
        <p:spPr xmlns:m="http://schemas.openxmlformats.org/officeDocument/2006/math" xmlns:a14="http://schemas.microsoft.com/office/drawing/2010/main">
          <a:xfrm rot="540000">
            <a:off x="9238167" y="1766762"/>
            <a:ext cx="1838192" cy="1251083"/>
          </a:xfrm>
          <a:prstGeom prst="roundRect">
            <a:avLst>
              <a:gd name="adj" fmla="val 4574"/>
            </a:avLst>
          </a:prstGeom>
          <a:gradFill flip="none" rotWithShape="1">
            <a:gsLst>
              <a:gs pos="0">
                <a:srgbClr val="007EE8"/>
              </a:gs>
              <a:gs pos="100000">
                <a:schemeClr val="accent2"/>
              </a:gs>
            </a:gsLst>
            <a:lin ang="16200000" scaled="0"/>
          </a:gradFill>
          <a:ln w="12700" cap="flat">
            <a:noFill/>
            <a:miter lim="400000"/>
          </a:ln>
          <a:effectLst>
            <a:outerShdw sx="100000" sy="100000" kx="0" ky="0" algn="b" rotWithShape="0" blurRad="50800" dist="38100" dir="5400000">
              <a:srgbClr val="000000">
                <a:alpha val="23000"/>
              </a:srgb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" name="图形"/>
          <p:cNvSpPr/>
          <p:nvPr/>
        </p:nvSpPr>
        <p:spPr xmlns:m="http://schemas.openxmlformats.org/officeDocument/2006/math" xmlns:a14="http://schemas.microsoft.com/office/drawing/2010/main">
          <a:xfrm>
            <a:off x="8973184" y="1982652"/>
            <a:ext cx="2626361" cy="3886017"/>
          </a:xfrm>
          <a:prstGeom prst="roundRect">
            <a:avLst>
              <a:gd name="adj" fmla="val 4574"/>
            </a:avLst>
          </a:prstGeom>
          <a:gradFill flip="none" rotWithShape="1">
            <a:gsLst>
              <a:gs pos="0">
                <a:srgbClr val="E1F2FF"/>
              </a:gs>
              <a:gs pos="100000">
                <a:srgbClr val="FFFFFF"/>
              </a:gs>
            </a:gsLst>
            <a:lin ang="16200000" scaled="0"/>
          </a:gradFill>
          <a:ln w="12700" cap="flat">
            <a:noFill/>
            <a:miter lim="400000"/>
          </a:ln>
          <a:effectLst>
            <a:outerShdw sx="100000" sy="100000" kx="0" ky="0" algn="b" rotWithShape="0" blurRad="50800" dist="38100" dir="5400000">
              <a:srgbClr val="000000">
                <a:alpha val="23000"/>
              </a:srgb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" name="图形"/>
          <p:cNvSpPr txBox="1"/>
          <p:nvPr/>
        </p:nvSpPr>
        <p:spPr>
          <a:xfrm>
            <a:off x="9478008" y="2335529"/>
            <a:ext cx="1699261" cy="15519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defRPr b="1" sz="9600">
                <a:ln w="31750" cap="flat">
                  <a:solidFill>
                    <a:srgbClr val="79BCFB">
                      <a:alpha val="50000"/>
                    </a:srgbClr>
                  </a:solidFill>
                  <a:prstDash val="solid"/>
                  <a:round/>
                </a:ln>
                <a:noFill/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>
              <a:defRPr/>
            </a:pPr>
            <a:r>
              <a:rPr sz="9400"/>
              <a:t>04</a:t>
            </a:r>
          </a:p>
        </p:txBody>
      </p:sp>
      <p:sp>
        <p:nvSpPr>
          <p:cNvPr id="19" name="图形"/>
          <p:cNvSpPr/>
          <p:nvPr/>
        </p:nvSpPr>
        <p:spPr xmlns:m="http://schemas.openxmlformats.org/officeDocument/2006/math" xmlns:a14="http://schemas.microsoft.com/office/drawing/2010/main">
          <a:xfrm>
            <a:off x="969009" y="3248660"/>
            <a:ext cx="1948816" cy="494031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3000">
                <a:srgbClr val="007EE8"/>
              </a:gs>
              <a:gs pos="100000">
                <a:schemeClr val="accent2"/>
              </a:gs>
            </a:gsLst>
            <a:lin ang="2700000" scaled="0"/>
          </a:gradFill>
          <a:ln w="12700" cap="flat">
            <a:noFill/>
            <a:miter lim="400000"/>
          </a:ln>
          <a:effectLst>
            <a:outerShdw sx="100000" sy="100000" kx="0" ky="0" algn="b" rotWithShape="0" blurRad="63500" dist="0" dir="0">
              <a:srgbClr val="3B4B9F">
                <a:alpha val="40000"/>
              </a:srgb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b="1">
                <a:solidFill>
                  <a:srgbClr val="FFFFFF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pPr>
          </a:p>
        </p:txBody>
      </p:sp>
      <p:sp>
        <p:nvSpPr>
          <p:cNvPr id="20" name="图形"/>
          <p:cNvSpPr/>
          <p:nvPr/>
        </p:nvSpPr>
        <p:spPr xmlns:m="http://schemas.openxmlformats.org/officeDocument/2006/math" xmlns:a14="http://schemas.microsoft.com/office/drawing/2010/main">
          <a:xfrm>
            <a:off x="3772534" y="3248660"/>
            <a:ext cx="1948815" cy="494031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3000">
                <a:srgbClr val="007EE8"/>
              </a:gs>
              <a:gs pos="100000">
                <a:schemeClr val="accent2"/>
              </a:gs>
            </a:gsLst>
            <a:lin ang="2700000" scaled="0"/>
          </a:gradFill>
          <a:ln w="12700" cap="flat">
            <a:noFill/>
            <a:miter lim="400000"/>
          </a:ln>
          <a:effectLst>
            <a:outerShdw sx="100000" sy="100000" kx="0" ky="0" algn="b" rotWithShape="0" blurRad="63500" dist="0" dir="0">
              <a:srgbClr val="3B4B9F">
                <a:alpha val="40000"/>
              </a:srgb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b="1">
                <a:solidFill>
                  <a:srgbClr val="FFFFFF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pPr>
          </a:p>
        </p:txBody>
      </p:sp>
      <p:sp>
        <p:nvSpPr>
          <p:cNvPr id="21" name="图形"/>
          <p:cNvSpPr/>
          <p:nvPr/>
        </p:nvSpPr>
        <p:spPr xmlns:m="http://schemas.openxmlformats.org/officeDocument/2006/math" xmlns:a14="http://schemas.microsoft.com/office/drawing/2010/main">
          <a:xfrm>
            <a:off x="6572249" y="3248660"/>
            <a:ext cx="1948815" cy="494031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3000">
                <a:srgbClr val="007EE8"/>
              </a:gs>
              <a:gs pos="100000">
                <a:schemeClr val="accent2"/>
              </a:gs>
            </a:gsLst>
            <a:lin ang="2700000" scaled="0"/>
          </a:gradFill>
          <a:ln w="12700" cap="flat">
            <a:noFill/>
            <a:miter lim="400000"/>
          </a:ln>
          <a:effectLst>
            <a:outerShdw sx="100000" sy="100000" kx="0" ky="0" algn="b" rotWithShape="0" blurRad="63500" dist="0" dir="0">
              <a:srgbClr val="3B4B9F">
                <a:alpha val="40000"/>
              </a:srgb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b="1">
                <a:solidFill>
                  <a:srgbClr val="FFFFFF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pPr>
          </a:p>
        </p:txBody>
      </p:sp>
      <p:sp>
        <p:nvSpPr>
          <p:cNvPr id="22" name="图形"/>
          <p:cNvSpPr/>
          <p:nvPr/>
        </p:nvSpPr>
        <p:spPr xmlns:m="http://schemas.openxmlformats.org/officeDocument/2006/math" xmlns:a14="http://schemas.microsoft.com/office/drawing/2010/main">
          <a:xfrm>
            <a:off x="9350374" y="3248660"/>
            <a:ext cx="1948815" cy="494031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3000">
                <a:srgbClr val="007EE8"/>
              </a:gs>
              <a:gs pos="100000">
                <a:schemeClr val="accent2"/>
              </a:gs>
            </a:gsLst>
            <a:lin ang="2700000" scaled="0"/>
          </a:gradFill>
          <a:ln w="12700" cap="flat">
            <a:noFill/>
            <a:miter lim="400000"/>
          </a:ln>
          <a:effectLst>
            <a:outerShdw sx="100000" sy="100000" kx="0" ky="0" algn="b" rotWithShape="0" blurRad="63500" dist="0" dir="0">
              <a:srgbClr val="3B4B9F">
                <a:alpha val="40000"/>
              </a:srgb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b="1">
                <a:solidFill>
                  <a:srgbClr val="FFFFFF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pPr>
          </a:p>
        </p:txBody>
      </p:sp>
      <p:sp>
        <p:nvSpPr>
          <p:cNvPr id="23" name="图形"/>
          <p:cNvSpPr txBox="1"/>
          <p:nvPr/>
        </p:nvSpPr>
        <p:spPr>
          <a:xfrm>
            <a:off x="984884" y="4620260"/>
            <a:ext cx="1854201" cy="44450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0" tIns="0" rIns="0" bIns="0" numCol="1" anchor="t">
            <a:spAutoFit/>
          </a:bodyPr>
          <a:lstStyle>
            <a:lvl1pPr>
              <a:defRPr/>
            </a:lvl1pPr>
          </a:lstStyle>
          <a:p>
            <a:pPr algn="ctr">
              <a:lnSpc>
                <a:spcPct val="150000"/>
              </a:lnSpc>
              <a:defRPr sz="1200"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  <a:r>
              <a:rPr sz="897"/>
              <a:t>AI发展历程与关键里程碑</a:t>
            </a:r>
          </a:p>
          <a:p>
            <a:pPr algn="ctr">
              <a:lnSpc>
                <a:spcPct val="150000"/>
              </a:lnSpc>
              <a:defRPr sz="1200"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  <a:r>
              <a:rPr sz="897"/>
              <a:t>奠基时期与早期重要成就</a:t>
            </a:r>
          </a:p>
        </p:txBody>
      </p:sp>
      <p:sp>
        <p:nvSpPr>
          <p:cNvPr id="24" name="图形"/>
          <p:cNvSpPr txBox="1"/>
          <p:nvPr/>
        </p:nvSpPr>
        <p:spPr>
          <a:xfrm>
            <a:off x="988693" y="3954145"/>
            <a:ext cx="1846582" cy="70104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 algn="ctr">
              <a:defRPr b="1" sz="3400">
                <a:solidFill>
                  <a:srgbClr val="404040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简介</a:t>
            </a:r>
          </a:p>
        </p:txBody>
      </p:sp>
      <p:sp>
        <p:nvSpPr>
          <p:cNvPr id="25" name="图形"/>
          <p:cNvSpPr txBox="1"/>
          <p:nvPr/>
        </p:nvSpPr>
        <p:spPr>
          <a:xfrm>
            <a:off x="3822064" y="4620260"/>
            <a:ext cx="1854201" cy="44450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0" tIns="0" rIns="0" bIns="0" numCol="1" anchor="t">
            <a:spAutoFit/>
          </a:bodyPr>
          <a:lstStyle>
            <a:lvl1pPr>
              <a:defRPr/>
            </a:lvl1pPr>
          </a:lstStyle>
          <a:p>
            <a:pPr algn="ctr">
              <a:lnSpc>
                <a:spcPct val="150000"/>
              </a:lnSpc>
              <a:defRPr sz="1200"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  <a:r>
              <a:rPr sz="897"/>
              <a:t>AI寒冬成因与专家系统</a:t>
            </a:r>
          </a:p>
          <a:p>
            <a:pPr algn="ctr">
              <a:lnSpc>
                <a:spcPct val="150000"/>
              </a:lnSpc>
              <a:defRPr sz="1200"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  <a:r>
              <a:rPr sz="897"/>
              <a:t>Deep Blue击败Kasparov</a:t>
            </a:r>
          </a:p>
        </p:txBody>
      </p:sp>
      <p:sp>
        <p:nvSpPr>
          <p:cNvPr id="26" name="图形"/>
          <p:cNvSpPr txBox="1"/>
          <p:nvPr/>
        </p:nvSpPr>
        <p:spPr>
          <a:xfrm>
            <a:off x="3825873" y="3954145"/>
            <a:ext cx="1846582" cy="70104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 algn="ctr">
              <a:defRPr b="1" sz="3400">
                <a:solidFill>
                  <a:srgbClr val="404040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寒冬期</a:t>
            </a:r>
          </a:p>
        </p:txBody>
      </p:sp>
      <p:sp>
        <p:nvSpPr>
          <p:cNvPr id="27" name="图形"/>
          <p:cNvSpPr txBox="1"/>
          <p:nvPr/>
        </p:nvSpPr>
        <p:spPr>
          <a:xfrm>
            <a:off x="6622414" y="4570095"/>
            <a:ext cx="1854201" cy="44450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0" tIns="0" rIns="0" bIns="0" numCol="1" anchor="t">
            <a:spAutoFit/>
          </a:bodyPr>
          <a:lstStyle>
            <a:lvl1pPr>
              <a:defRPr/>
            </a:lvl1pPr>
          </a:lstStyle>
          <a:p>
            <a:pPr algn="ctr">
              <a:lnSpc>
                <a:spcPct val="150000"/>
              </a:lnSpc>
              <a:defRPr sz="1200"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  <a:r>
              <a:rPr sz="897"/>
              <a:t>数据驱动的机器学习转型</a:t>
            </a:r>
          </a:p>
          <a:p>
            <a:pPr algn="ctr">
              <a:lnSpc>
                <a:spcPct val="150000"/>
              </a:lnSpc>
              <a:defRPr sz="1200"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  <a:r>
              <a:rPr sz="897"/>
              <a:t>关键技术突破与应用案例</a:t>
            </a:r>
          </a:p>
        </p:txBody>
      </p:sp>
      <p:sp>
        <p:nvSpPr>
          <p:cNvPr id="28" name="图形"/>
          <p:cNvSpPr txBox="1"/>
          <p:nvPr/>
        </p:nvSpPr>
        <p:spPr>
          <a:xfrm>
            <a:off x="6626223" y="3903980"/>
            <a:ext cx="1846582" cy="70104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 algn="ctr">
              <a:defRPr b="1" sz="3400">
                <a:solidFill>
                  <a:srgbClr val="404040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机器学习</a:t>
            </a:r>
          </a:p>
        </p:txBody>
      </p:sp>
      <p:sp>
        <p:nvSpPr>
          <p:cNvPr id="29" name="图形"/>
          <p:cNvSpPr txBox="1"/>
          <p:nvPr/>
        </p:nvSpPr>
        <p:spPr>
          <a:xfrm>
            <a:off x="9459594" y="4570095"/>
            <a:ext cx="1854201" cy="44450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0" tIns="0" rIns="0" bIns="0" numCol="1" anchor="t">
            <a:spAutoFit/>
          </a:bodyPr>
          <a:lstStyle>
            <a:lvl1pPr>
              <a:defRPr/>
            </a:lvl1pPr>
          </a:lstStyle>
          <a:p>
            <a:pPr algn="ctr">
              <a:lnSpc>
                <a:spcPct val="150000"/>
              </a:lnSpc>
              <a:defRPr sz="1200"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  <a:r>
              <a:rPr sz="897"/>
              <a:t>AlexNet、GAN与深度学习崛起</a:t>
            </a:r>
          </a:p>
          <a:p>
            <a:pPr algn="ctr">
              <a:lnSpc>
                <a:spcPct val="150000"/>
              </a:lnSpc>
              <a:defRPr sz="1200"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  <a:r>
              <a:rPr sz="897"/>
              <a:t>AlphaGo与神经网络的主导地位</a:t>
            </a:r>
          </a:p>
        </p:txBody>
      </p:sp>
      <p:sp>
        <p:nvSpPr>
          <p:cNvPr id="30" name="图形"/>
          <p:cNvSpPr txBox="1"/>
          <p:nvPr/>
        </p:nvSpPr>
        <p:spPr>
          <a:xfrm>
            <a:off x="9463403" y="3903980"/>
            <a:ext cx="1846582" cy="70104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 algn="ctr">
              <a:defRPr b="1" sz="3400">
                <a:solidFill>
                  <a:srgbClr val="404040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深度学习</a:t>
            </a:r>
          </a:p>
        </p:txBody>
      </p:sp>
      <p:sp>
        <p:nvSpPr>
          <p:cNvPr id="31" name="图形"/>
          <p:cNvSpPr txBox="1"/>
          <p:nvPr/>
        </p:nvSpPr>
        <p:spPr>
          <a:xfrm>
            <a:off x="1225549" y="3305810"/>
            <a:ext cx="1385571" cy="3962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 algn="ctr">
              <a:defRPr sz="2000">
                <a:solidFill>
                  <a:srgbClr val="FFFFFF"/>
                </a:solidFill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>
              <a:defRPr/>
            </a:pPr>
            <a:r>
              <a:rPr/>
              <a:t>介绍</a:t>
            </a:r>
          </a:p>
        </p:txBody>
      </p:sp>
      <p:sp>
        <p:nvSpPr>
          <p:cNvPr id="32" name="图形"/>
          <p:cNvSpPr txBox="1"/>
          <p:nvPr/>
        </p:nvSpPr>
        <p:spPr>
          <a:xfrm>
            <a:off x="3816349" y="3305810"/>
            <a:ext cx="1865631" cy="3962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 algn="ctr">
              <a:defRPr sz="2000">
                <a:solidFill>
                  <a:srgbClr val="FFFFFF"/>
                </a:solidFill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>
              <a:defRPr/>
            </a:pPr>
            <a:r>
              <a:rPr/>
              <a:t>专家系统</a:t>
            </a:r>
          </a:p>
        </p:txBody>
      </p:sp>
      <p:sp>
        <p:nvSpPr>
          <p:cNvPr id="33" name="图形"/>
          <p:cNvSpPr txBox="1"/>
          <p:nvPr/>
        </p:nvSpPr>
        <p:spPr>
          <a:xfrm>
            <a:off x="6620508" y="3305810"/>
            <a:ext cx="1834516" cy="3962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 algn="ctr">
              <a:defRPr sz="2000">
                <a:solidFill>
                  <a:srgbClr val="FFFFFF"/>
                </a:solidFill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>
              <a:defRPr/>
            </a:pPr>
            <a:r>
              <a:rPr/>
              <a:t>机器学习崛起</a:t>
            </a:r>
          </a:p>
        </p:txBody>
      </p:sp>
      <p:sp>
        <p:nvSpPr>
          <p:cNvPr id="34" name="图形"/>
          <p:cNvSpPr txBox="1"/>
          <p:nvPr/>
        </p:nvSpPr>
        <p:spPr>
          <a:xfrm>
            <a:off x="9451339" y="3305810"/>
            <a:ext cx="1734186" cy="3962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 algn="ctr">
              <a:defRPr sz="2000">
                <a:solidFill>
                  <a:srgbClr val="FFFFFF"/>
                </a:solidFill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>
              <a:defRPr/>
            </a:pPr>
            <a:r>
              <a:rPr/>
              <a:t>深度学习革命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图形" descr="078a9cc3774e889b39144edb12e9acd2cf5a0859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 flipH="1">
            <a:off x="0" y="-38735"/>
            <a:ext cx="12192000" cy="6896735"/>
          </a:xfrm>
          <a:prstGeom prst="rect">
            <a:avLst/>
          </a:prstGeom>
        </p:spPr>
      </p:pic>
      <p:sp>
        <p:nvSpPr>
          <p:cNvPr id="3" name="图形"/>
          <p:cNvSpPr/>
          <p:nvPr/>
        </p:nvSpPr>
        <p:spPr xmlns:m="http://schemas.openxmlformats.org/officeDocument/2006/math" xmlns:a14="http://schemas.microsoft.com/office/drawing/2010/main">
          <a:xfrm flipH="1">
            <a:off x="-1" y="-26704"/>
            <a:ext cx="12192636" cy="6858001"/>
          </a:xfrm>
          <a:prstGeom prst="rect">
            <a:avLst/>
          </a:prstGeom>
          <a:gradFill>
            <a:gsLst>
              <a:gs pos="0">
                <a:srgbClr val="F2F6FE"/>
              </a:gs>
              <a:gs pos="47000">
                <a:srgbClr val="F2F6FE">
                  <a:alpha val="0"/>
                </a:srgbClr>
              </a:gs>
            </a:gsLst>
            <a:lin ang="5400000"/>
          </a:gradFill>
          <a:ln w="12700">
            <a:miter lim="400000"/>
          </a:ln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" name="图形"/>
          <p:cNvSpPr txBox="1"/>
          <p:nvPr/>
        </p:nvSpPr>
        <p:spPr>
          <a:xfrm>
            <a:off x="8037829" y="1853564"/>
            <a:ext cx="3493770" cy="1844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defRPr b="1" sz="11500">
                <a:ln w="31750" cap="flat">
                  <a:solidFill>
                    <a:srgbClr val="79BCFB">
                      <a:alpha val="50000"/>
                    </a:srgbClr>
                  </a:solidFill>
                  <a:prstDash val="solid"/>
                  <a:round/>
                </a:ln>
                <a:noFill/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>
              <a:defRPr/>
            </a:pPr>
            <a:r>
              <a:rPr sz="11169"/>
              <a:t>Int</a:t>
            </a:r>
          </a:p>
        </p:txBody>
      </p:sp>
      <p:sp>
        <p:nvSpPr>
          <p:cNvPr id="5" name="图形"/>
          <p:cNvSpPr txBox="1"/>
          <p:nvPr/>
        </p:nvSpPr>
        <p:spPr>
          <a:xfrm>
            <a:off x="5264150" y="2703195"/>
            <a:ext cx="6296025" cy="1361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just">
              <a:defRPr b="1" sz="7200">
                <a:solidFill>
                  <a:srgbClr val="262626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引言介绍</a:t>
            </a:r>
          </a:p>
        </p:txBody>
      </p:sp>
      <p:sp>
        <p:nvSpPr>
          <p:cNvPr id="6" name="图形"/>
          <p:cNvSpPr txBox="1"/>
          <p:nvPr/>
        </p:nvSpPr>
        <p:spPr>
          <a:xfrm>
            <a:off x="5317490" y="3714750"/>
            <a:ext cx="6502401" cy="7391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/>
            </a:lvl1pPr>
          </a:lstStyle>
          <a:p>
            <a:pPr>
              <a:lnSpc>
                <a:spcPct val="200000"/>
              </a:lnSpc>
              <a:defRPr sz="1400">
                <a:solidFill>
                  <a:srgbClr val="262626"/>
                </a:solidFill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  <a:r>
              <a:rPr/>
              <a:t>回顾人工智能从1956年诞生至今七十年的演变历程，涵盖六个关键时代。</a:t>
            </a:r>
          </a:p>
          <a:p>
            <a:pPr>
              <a:lnSpc>
                <a:spcPct val="200000"/>
              </a:lnSpc>
              <a:defRPr sz="1400">
                <a:solidFill>
                  <a:srgbClr val="262626"/>
                </a:solidFill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  <a:r>
              <a:rPr/>
              <a:t>从达特茅斯会议确立AI定义，到符号主义、神经网络与大语言模型的全面崛起。</a:t>
            </a:r>
          </a:p>
        </p:txBody>
      </p:sp>
      <p:sp>
        <p:nvSpPr>
          <p:cNvPr id="7" name="图形"/>
          <p:cNvSpPr/>
          <p:nvPr/>
        </p:nvSpPr>
        <p:spPr xmlns:m="http://schemas.openxmlformats.org/officeDocument/2006/math" xmlns:a14="http://schemas.microsoft.com/office/drawing/2010/main">
          <a:xfrm>
            <a:off x="7016115" y="5141595"/>
            <a:ext cx="4533901" cy="1035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21600"/>
                </a:moveTo>
                <a:lnTo>
                  <a:pt x="123" y="0"/>
                </a:lnTo>
                <a:lnTo>
                  <a:pt x="21600" y="0"/>
                </a:lnTo>
                <a:lnTo>
                  <a:pt x="21477" y="21600"/>
                </a:lnTo>
                <a:close/>
              </a:path>
            </a:pathLst>
          </a:custGeom>
          <a:gradFill>
            <a:gsLst>
              <a:gs pos="0">
                <a:srgbClr val="76BEFC">
                  <a:alpha val="46000"/>
                </a:srgbClr>
              </a:gs>
              <a:gs pos="66000">
                <a:srgbClr val="34ACFD">
                  <a:alpha val="0"/>
                </a:srgbClr>
              </a:gs>
            </a:gsLst>
            <a:lin ang="10800000"/>
          </a:gradFill>
          <a:ln w="12700">
            <a:miter lim="400000"/>
          </a:ln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" name="图形"/>
          <p:cNvSpPr txBox="1"/>
          <p:nvPr/>
        </p:nvSpPr>
        <p:spPr>
          <a:xfrm>
            <a:off x="722629" y="464819"/>
            <a:ext cx="3040382" cy="726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just">
              <a:defRPr b="1" sz="3600">
                <a:solidFill>
                  <a:srgbClr val="262626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发展概览</a:t>
            </a:r>
          </a:p>
        </p:txBody>
      </p:sp>
      <p:sp>
        <p:nvSpPr>
          <p:cNvPr id="9" name="图形"/>
          <p:cNvSpPr txBox="1"/>
          <p:nvPr/>
        </p:nvSpPr>
        <p:spPr>
          <a:xfrm>
            <a:off x="3891915" y="151129"/>
            <a:ext cx="4828540" cy="373634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defRPr b="1" sz="23900">
                <a:ln w="31750" cap="flat">
                  <a:solidFill>
                    <a:srgbClr val="79BCFB">
                      <a:alpha val="50000"/>
                    </a:srgbClr>
                  </a:solidFill>
                  <a:prstDash val="solid"/>
                  <a:round/>
                </a:ln>
                <a:noFill/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>
              <a:defRPr/>
            </a:pPr>
            <a:r>
              <a:rPr sz="22630"/>
              <a:t>01</a:t>
            </a:r>
          </a:p>
        </p:txBody>
      </p:sp>
      <p:sp>
        <p:nvSpPr>
          <p:cNvPr id="10" name="图形"/>
          <p:cNvSpPr/>
          <p:nvPr/>
        </p:nvSpPr>
        <p:spPr xmlns:m="http://schemas.openxmlformats.org/officeDocument/2006/math" xmlns:a14="http://schemas.microsoft.com/office/drawing/2010/main">
          <a:xfrm>
            <a:off x="4286249" y="1922143"/>
            <a:ext cx="2729866" cy="741681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3000">
                <a:srgbClr val="007EE8"/>
              </a:gs>
              <a:gs pos="100000">
                <a:schemeClr val="accent2"/>
              </a:gs>
            </a:gsLst>
            <a:lin ang="2700000" scaled="0"/>
          </a:gradFill>
          <a:ln w="12700" cap="flat">
            <a:noFill/>
            <a:miter lim="400000"/>
          </a:ln>
          <a:effectLst>
            <a:outerShdw sx="100000" sy="100000" kx="0" ky="0" algn="b" rotWithShape="0" blurRad="63500" dist="0" dir="0">
              <a:schemeClr val="accent1">
                <a:alpha val="40000"/>
              </a:scheme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b="1">
                <a:solidFill>
                  <a:srgbClr val="FFFFFF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pPr>
          </a:p>
        </p:txBody>
      </p:sp>
      <p:sp>
        <p:nvSpPr>
          <p:cNvPr id="11" name="图形"/>
          <p:cNvSpPr txBox="1"/>
          <p:nvPr/>
        </p:nvSpPr>
        <p:spPr>
          <a:xfrm>
            <a:off x="4641214" y="2060574"/>
            <a:ext cx="1991996" cy="5232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 algn="ctr">
              <a:defRPr sz="2800">
                <a:solidFill>
                  <a:srgbClr val="FFFFFF"/>
                </a:solidFill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>
              <a:defRPr/>
            </a:pPr>
            <a:r>
              <a:rPr/>
              <a:t>Intro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图形"/>
          <p:cNvSpPr txBox="1"/>
          <p:nvPr/>
        </p:nvSpPr>
        <p:spPr>
          <a:xfrm>
            <a:off x="722629" y="464819"/>
            <a:ext cx="3040382" cy="726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just">
              <a:defRPr b="1" sz="3600">
                <a:solidFill>
                  <a:srgbClr val="262626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AI发展总览</a:t>
            </a:r>
          </a:p>
        </p:txBody>
      </p:sp>
      <p:sp>
        <p:nvSpPr>
          <p:cNvPr id="3" name="图形"/>
          <p:cNvSpPr txBox="1"/>
          <p:nvPr/>
        </p:nvSpPr>
        <p:spPr>
          <a:xfrm>
            <a:off x="722629" y="464819"/>
            <a:ext cx="3040382" cy="726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just">
              <a:defRPr b="1" sz="3600">
                <a:solidFill>
                  <a:srgbClr val="262626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六大时代</a:t>
            </a:r>
          </a:p>
        </p:txBody>
      </p:sp>
      <p:pic>
        <p:nvPicPr>
          <p:cNvPr id="4" name="图形" descr="ai_timeline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952500" y="1722647"/>
            <a:ext cx="5562599" cy="3463505"/>
          </a:xfrm>
          <a:prstGeom prst="rect">
            <a:avLst/>
          </a:prstGeom>
        </p:spPr>
      </p:pic>
      <p:sp>
        <p:nvSpPr>
          <p:cNvPr id="5" name="图形"/>
          <p:cNvSpPr/>
          <p:nvPr/>
        </p:nvSpPr>
        <p:spPr xmlns:m="http://schemas.openxmlformats.org/officeDocument/2006/math" xmlns:a14="http://schemas.microsoft.com/office/drawing/2010/main">
          <a:xfrm>
            <a:off x="1386204" y="3837305"/>
            <a:ext cx="675006" cy="145669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6775" y="21600"/>
                </a:moveTo>
                <a:lnTo>
                  <a:pt x="4825" y="21600"/>
                </a:lnTo>
                <a:lnTo>
                  <a:pt x="4825" y="5067"/>
                </a:lnTo>
                <a:lnTo>
                  <a:pt x="0" y="5067"/>
                </a:lnTo>
                <a:lnTo>
                  <a:pt x="10667" y="0"/>
                </a:lnTo>
                <a:lnTo>
                  <a:pt x="21600" y="5067"/>
                </a:lnTo>
                <a:lnTo>
                  <a:pt x="16775" y="5067"/>
                </a:lnTo>
                <a:lnTo>
                  <a:pt x="16775" y="21600"/>
                </a:lnTo>
                <a:close/>
              </a:path>
            </a:pathLst>
          </a:custGeom>
          <a:solidFill>
            <a:srgbClr val="F2F2F2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 algn="just">
              <a:lnSpc>
                <a:spcPct val="120000"/>
              </a:lnSpc>
              <a:defRPr sz="800"/>
            </a:pPr>
          </a:p>
        </p:txBody>
      </p:sp>
      <p:sp>
        <p:nvSpPr>
          <p:cNvPr id="6" name="图形"/>
          <p:cNvSpPr/>
          <p:nvPr/>
        </p:nvSpPr>
        <p:spPr xmlns:m="http://schemas.openxmlformats.org/officeDocument/2006/math" xmlns:a14="http://schemas.microsoft.com/office/drawing/2010/main">
          <a:xfrm>
            <a:off x="2771139" y="2990849"/>
            <a:ext cx="675006" cy="124968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5090" y="0"/>
                </a:moveTo>
                <a:lnTo>
                  <a:pt x="16775" y="0"/>
                </a:lnTo>
                <a:lnTo>
                  <a:pt x="16775" y="15835"/>
                </a:lnTo>
                <a:lnTo>
                  <a:pt x="21600" y="15835"/>
                </a:lnTo>
                <a:lnTo>
                  <a:pt x="10933" y="21600"/>
                </a:lnTo>
                <a:lnTo>
                  <a:pt x="0" y="15835"/>
                </a:lnTo>
                <a:lnTo>
                  <a:pt x="5090" y="15835"/>
                </a:lnTo>
                <a:lnTo>
                  <a:pt x="5090" y="0"/>
                </a:lnTo>
                <a:close/>
              </a:path>
            </a:pathLst>
          </a:custGeom>
          <a:solidFill>
            <a:srgbClr val="F2F2F2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 algn="just">
              <a:lnSpc>
                <a:spcPct val="120000"/>
              </a:lnSpc>
              <a:defRPr sz="800"/>
            </a:pPr>
          </a:p>
        </p:txBody>
      </p:sp>
      <p:sp>
        <p:nvSpPr>
          <p:cNvPr id="7" name="图形"/>
          <p:cNvSpPr/>
          <p:nvPr/>
        </p:nvSpPr>
        <p:spPr xmlns:m="http://schemas.openxmlformats.org/officeDocument/2006/math" xmlns:a14="http://schemas.microsoft.com/office/drawing/2010/main">
          <a:xfrm>
            <a:off x="4153534" y="3837305"/>
            <a:ext cx="673736" cy="145669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6544" y="21600"/>
                </a:moveTo>
                <a:lnTo>
                  <a:pt x="4834" y="21600"/>
                </a:lnTo>
                <a:lnTo>
                  <a:pt x="4834" y="5067"/>
                </a:lnTo>
                <a:lnTo>
                  <a:pt x="0" y="5067"/>
                </a:lnTo>
                <a:lnTo>
                  <a:pt x="10689" y="0"/>
                </a:lnTo>
                <a:lnTo>
                  <a:pt x="21600" y="5067"/>
                </a:lnTo>
                <a:lnTo>
                  <a:pt x="16544" y="5067"/>
                </a:lnTo>
                <a:lnTo>
                  <a:pt x="16544" y="21600"/>
                </a:lnTo>
                <a:close/>
              </a:path>
            </a:pathLst>
          </a:custGeom>
          <a:solidFill>
            <a:srgbClr val="F2F2F2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 algn="just">
              <a:lnSpc>
                <a:spcPct val="120000"/>
              </a:lnSpc>
              <a:defRPr sz="800"/>
            </a:pPr>
          </a:p>
        </p:txBody>
      </p:sp>
      <p:sp>
        <p:nvSpPr>
          <p:cNvPr id="8" name="图形"/>
          <p:cNvSpPr/>
          <p:nvPr/>
        </p:nvSpPr>
        <p:spPr xmlns:m="http://schemas.openxmlformats.org/officeDocument/2006/math" xmlns:a14="http://schemas.microsoft.com/office/drawing/2010/main">
          <a:xfrm>
            <a:off x="5538469" y="2527935"/>
            <a:ext cx="675006" cy="166306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5090" y="0"/>
                </a:moveTo>
                <a:lnTo>
                  <a:pt x="16775" y="0"/>
                </a:lnTo>
                <a:lnTo>
                  <a:pt x="16775" y="17161"/>
                </a:lnTo>
                <a:lnTo>
                  <a:pt x="21600" y="17161"/>
                </a:lnTo>
                <a:lnTo>
                  <a:pt x="10933" y="21600"/>
                </a:lnTo>
                <a:lnTo>
                  <a:pt x="0" y="17161"/>
                </a:lnTo>
                <a:lnTo>
                  <a:pt x="5090" y="17161"/>
                </a:lnTo>
                <a:lnTo>
                  <a:pt x="5090" y="0"/>
                </a:lnTo>
                <a:close/>
              </a:path>
            </a:pathLst>
          </a:custGeom>
          <a:solidFill>
            <a:srgbClr val="F2F2F2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 algn="just">
              <a:lnSpc>
                <a:spcPct val="120000"/>
              </a:lnSpc>
              <a:defRPr sz="800"/>
            </a:pPr>
          </a:p>
        </p:txBody>
      </p:sp>
      <p:sp>
        <p:nvSpPr>
          <p:cNvPr id="9" name="图形"/>
          <p:cNvSpPr txBox="1"/>
          <p:nvPr/>
        </p:nvSpPr>
        <p:spPr>
          <a:xfrm>
            <a:off x="5485129" y="5354320"/>
            <a:ext cx="781685" cy="2565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 algn="ctr">
              <a:lnSpc>
                <a:spcPct val="120000"/>
              </a:lnSpc>
              <a:defRPr sz="1100">
                <a:solidFill>
                  <a:srgbClr val="A6A6A6"/>
                </a:solidFill>
              </a:defRPr>
            </a:lvl1pPr>
          </a:lstStyle>
          <a:p>
            <a:pPr>
              <a:defRPr/>
            </a:pPr>
            <a:r>
              <a:rPr/>
              <a:t>1956</a:t>
            </a:r>
          </a:p>
        </p:txBody>
      </p:sp>
      <p:sp>
        <p:nvSpPr>
          <p:cNvPr id="10" name="图形"/>
          <p:cNvSpPr txBox="1"/>
          <p:nvPr/>
        </p:nvSpPr>
        <p:spPr>
          <a:xfrm>
            <a:off x="4098924" y="5354320"/>
            <a:ext cx="781685" cy="2565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 algn="ctr">
              <a:lnSpc>
                <a:spcPct val="120000"/>
              </a:lnSpc>
              <a:defRPr sz="1100">
                <a:solidFill>
                  <a:srgbClr val="A6A6A6"/>
                </a:solidFill>
              </a:defRPr>
            </a:lvl1pPr>
          </a:lstStyle>
          <a:p>
            <a:pPr>
              <a:defRPr/>
            </a:pPr>
            <a:r>
              <a:rPr/>
              <a:t>1987</a:t>
            </a:r>
          </a:p>
        </p:txBody>
      </p:sp>
      <p:sp>
        <p:nvSpPr>
          <p:cNvPr id="11" name="图形"/>
          <p:cNvSpPr txBox="1"/>
          <p:nvPr/>
        </p:nvSpPr>
        <p:spPr>
          <a:xfrm>
            <a:off x="2717799" y="5354320"/>
            <a:ext cx="781685" cy="2565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 algn="ctr">
              <a:lnSpc>
                <a:spcPct val="120000"/>
              </a:lnSpc>
              <a:defRPr sz="1100">
                <a:solidFill>
                  <a:srgbClr val="A6A6A6"/>
                </a:solidFill>
              </a:defRPr>
            </a:lvl1pPr>
          </a:lstStyle>
          <a:p>
            <a:pPr>
              <a:defRPr/>
            </a:pPr>
            <a:r>
              <a:rPr/>
              <a:t>2012</a:t>
            </a:r>
          </a:p>
        </p:txBody>
      </p:sp>
      <p:sp>
        <p:nvSpPr>
          <p:cNvPr id="12" name="图形"/>
          <p:cNvSpPr txBox="1"/>
          <p:nvPr/>
        </p:nvSpPr>
        <p:spPr>
          <a:xfrm>
            <a:off x="1332864" y="5354320"/>
            <a:ext cx="781685" cy="2565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 algn="ctr">
              <a:lnSpc>
                <a:spcPct val="120000"/>
              </a:lnSpc>
              <a:defRPr sz="1100">
                <a:solidFill>
                  <a:srgbClr val="A6A6A6"/>
                </a:solidFill>
              </a:defRPr>
            </a:lvl1pPr>
          </a:lstStyle>
          <a:p>
            <a:pPr>
              <a:defRPr/>
            </a:pPr>
            <a:r>
              <a:rPr/>
              <a:t>2020</a:t>
            </a:r>
          </a:p>
        </p:txBody>
      </p:sp>
      <p:sp>
        <p:nvSpPr>
          <p:cNvPr id="13" name="图形"/>
          <p:cNvSpPr/>
          <p:nvPr/>
        </p:nvSpPr>
        <p:spPr xmlns:m="http://schemas.openxmlformats.org/officeDocument/2006/math" xmlns:a14="http://schemas.microsoft.com/office/drawing/2010/main">
          <a:xfrm>
            <a:off x="6995159" y="4541519"/>
            <a:ext cx="447675" cy="447677"/>
          </a:xfrm>
          <a:prstGeom prst="ellipse">
            <a:avLst/>
          </a:prstGeom>
          <a:gradFill flip="none" rotWithShape="1">
            <a:gsLst>
              <a:gs pos="15000">
                <a:schemeClr val="accent1"/>
              </a:gs>
              <a:gs pos="100000">
                <a:schemeClr val="accent2"/>
              </a:gs>
            </a:gsLst>
            <a:lin ang="27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" name="图形"/>
          <p:cNvSpPr txBox="1"/>
          <p:nvPr/>
        </p:nvSpPr>
        <p:spPr>
          <a:xfrm>
            <a:off x="7539989" y="2068829"/>
            <a:ext cx="3848735" cy="7264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lnSpc>
                <a:spcPct val="150000"/>
              </a:lnSpc>
              <a:defRPr sz="1400"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lvl1pPr>
          </a:lstStyle>
          <a:p>
            <a:pPr>
              <a:defRPr/>
            </a:pPr>
            <a:r>
              <a:rPr/>
              <a:t>AI历经七十年，从理论设想蜕变为工业革命级技术。</a:t>
            </a:r>
          </a:p>
        </p:txBody>
      </p:sp>
      <p:sp>
        <p:nvSpPr>
          <p:cNvPr id="15" name="图形"/>
          <p:cNvSpPr txBox="1"/>
          <p:nvPr/>
        </p:nvSpPr>
        <p:spPr>
          <a:xfrm>
            <a:off x="7539989" y="3241039"/>
            <a:ext cx="3848735" cy="7264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lnSpc>
                <a:spcPct val="150000"/>
              </a:lnSpc>
              <a:defRPr sz="1400"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lvl1pPr>
          </a:lstStyle>
          <a:p>
            <a:pPr>
              <a:defRPr/>
            </a:pPr>
            <a:r>
              <a:rPr/>
              <a:t>发展历程涵盖六个关键时代，历经寒冬与复兴起伏。</a:t>
            </a:r>
          </a:p>
        </p:txBody>
      </p:sp>
      <p:sp>
        <p:nvSpPr>
          <p:cNvPr id="16" name="图形"/>
          <p:cNvSpPr txBox="1"/>
          <p:nvPr/>
        </p:nvSpPr>
        <p:spPr>
          <a:xfrm>
            <a:off x="7539989" y="4413250"/>
            <a:ext cx="3848735" cy="7264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lnSpc>
                <a:spcPct val="150000"/>
              </a:lnSpc>
              <a:defRPr sz="1400"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lvl1pPr>
          </a:lstStyle>
          <a:p>
            <a:pPr>
              <a:defRPr/>
            </a:pPr>
            <a:r>
              <a:rPr/>
              <a:t>大语言模型时代开启通用人工智能（AGI）的黎明。</a:t>
            </a:r>
          </a:p>
        </p:txBody>
      </p:sp>
      <p:sp>
        <p:nvSpPr>
          <p:cNvPr id="17" name="图形"/>
          <p:cNvSpPr/>
          <p:nvPr/>
        </p:nvSpPr>
        <p:spPr xmlns:m="http://schemas.openxmlformats.org/officeDocument/2006/math" xmlns:a14="http://schemas.microsoft.com/office/drawing/2010/main">
          <a:xfrm>
            <a:off x="6995794" y="2189479"/>
            <a:ext cx="447675" cy="447677"/>
          </a:xfrm>
          <a:prstGeom prst="ellipse">
            <a:avLst/>
          </a:prstGeom>
          <a:gradFill flip="none" rotWithShape="1">
            <a:gsLst>
              <a:gs pos="15000">
                <a:schemeClr val="accent1"/>
              </a:gs>
              <a:gs pos="100000">
                <a:schemeClr val="accent2"/>
              </a:gs>
            </a:gsLst>
            <a:lin ang="27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" name="图形"/>
          <p:cNvSpPr/>
          <p:nvPr/>
        </p:nvSpPr>
        <p:spPr xmlns:m="http://schemas.openxmlformats.org/officeDocument/2006/math" xmlns:a14="http://schemas.microsoft.com/office/drawing/2010/main">
          <a:xfrm>
            <a:off x="6995794" y="3386455"/>
            <a:ext cx="447675" cy="447677"/>
          </a:xfrm>
          <a:prstGeom prst="ellipse">
            <a:avLst/>
          </a:prstGeom>
          <a:gradFill flip="none" rotWithShape="1">
            <a:gsLst>
              <a:gs pos="15000">
                <a:schemeClr val="accent1"/>
              </a:gs>
              <a:gs pos="100000">
                <a:schemeClr val="accent2"/>
              </a:gs>
            </a:gsLst>
            <a:lin ang="27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" name="图形"/>
          <p:cNvSpPr/>
          <p:nvPr/>
        </p:nvSpPr>
        <p:spPr xmlns:m="http://schemas.openxmlformats.org/officeDocument/2006/math" xmlns:a14="http://schemas.microsoft.com/office/drawing/2010/main">
          <a:xfrm>
            <a:off x="7097394" y="4640580"/>
            <a:ext cx="242571" cy="242571"/>
          </a:xfrm>
          <a:prstGeom prst="ellipse">
            <a:avLst/>
          </a:pr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" name="图形"/>
          <p:cNvSpPr/>
          <p:nvPr/>
        </p:nvSpPr>
        <p:spPr xmlns:m="http://schemas.openxmlformats.org/officeDocument/2006/math" xmlns:a14="http://schemas.microsoft.com/office/drawing/2010/main">
          <a:xfrm>
            <a:off x="7098664" y="2273299"/>
            <a:ext cx="242571" cy="242571"/>
          </a:xfrm>
          <a:prstGeom prst="ellipse">
            <a:avLst/>
          </a:pr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" name="图形"/>
          <p:cNvSpPr/>
          <p:nvPr/>
        </p:nvSpPr>
        <p:spPr xmlns:m="http://schemas.openxmlformats.org/officeDocument/2006/math" xmlns:a14="http://schemas.microsoft.com/office/drawing/2010/main">
          <a:xfrm>
            <a:off x="7098664" y="3462019"/>
            <a:ext cx="242571" cy="242571"/>
          </a:xfrm>
          <a:prstGeom prst="ellipse">
            <a:avLst/>
          </a:pr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图形"/>
          <p:cNvSpPr txBox="1"/>
          <p:nvPr/>
        </p:nvSpPr>
        <p:spPr>
          <a:xfrm>
            <a:off x="722629" y="464819"/>
            <a:ext cx="3040382" cy="726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just">
              <a:defRPr b="1" sz="3600">
                <a:solidFill>
                  <a:srgbClr val="262626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AI历史</a:t>
            </a:r>
          </a:p>
        </p:txBody>
      </p:sp>
      <p:sp>
        <p:nvSpPr>
          <p:cNvPr id="3" name="图形"/>
          <p:cNvSpPr txBox="1"/>
          <p:nvPr/>
        </p:nvSpPr>
        <p:spPr>
          <a:xfrm>
            <a:off x="722629" y="464819"/>
            <a:ext cx="3040382" cy="726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just">
              <a:defRPr b="1" sz="3600">
                <a:solidFill>
                  <a:srgbClr val="262626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第一章</a:t>
            </a:r>
          </a:p>
        </p:txBody>
      </p:sp>
      <p:sp>
        <p:nvSpPr>
          <p:cNvPr id="4" name="图形"/>
          <p:cNvSpPr txBox="1"/>
          <p:nvPr/>
        </p:nvSpPr>
        <p:spPr>
          <a:xfrm>
            <a:off x="775335" y="1616074"/>
            <a:ext cx="5361304" cy="147828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defRPr/>
            </a:lvl1pPr>
          </a:lstStyle>
          <a:p>
            <a:pPr>
              <a:lnSpc>
                <a:spcPct val="90000"/>
              </a:lnSpc>
              <a:spcBef>
                <a:spcPts val="1000"/>
              </a:spcBef>
              <a:defRPr b="1" sz="4000">
                <a:solidFill>
                  <a:srgbClr val="262626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pPr>
            <a:r>
              <a:rPr/>
              <a:t>AI的诞生</a:t>
            </a:r>
            <a:endParaRPr sz="2400"/>
          </a:p>
          <a:p>
            <a:pPr>
              <a:lnSpc>
                <a:spcPct val="90000"/>
              </a:lnSpc>
              <a:spcBef>
                <a:spcPts val="1000"/>
              </a:spcBef>
              <a:defRPr sz="4000">
                <a:solidFill>
                  <a:schemeClr val="accent1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pPr>
            <a:r>
              <a:rPr/>
              <a:t>奠基性里程碑</a:t>
            </a:r>
          </a:p>
        </p:txBody>
      </p:sp>
      <p:sp>
        <p:nvSpPr>
          <p:cNvPr id="5" name="图形"/>
          <p:cNvSpPr txBox="1"/>
          <p:nvPr/>
        </p:nvSpPr>
        <p:spPr>
          <a:xfrm>
            <a:off x="775335" y="3041014"/>
            <a:ext cx="5361939" cy="11074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lnSpc>
                <a:spcPct val="150000"/>
              </a:lnSpc>
              <a:defRPr sz="1400">
                <a:solidFill>
                  <a:srgbClr val="404040"/>
                </a:solidFill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lvl1pPr>
          </a:lstStyle>
          <a:p>
            <a:pPr>
              <a:defRPr/>
            </a:pPr>
            <a:r>
              <a:rPr/>
              <a:t>1956年达特茅斯会议首次提出"人工智能"术语，确立符号主义范式，标志着AI作为独立学科正式诞生。</a:t>
            </a:r>
          </a:p>
        </p:txBody>
      </p:sp>
      <p:pic>
        <p:nvPicPr>
          <p:cNvPr id="6" name="图形" descr="eniac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6182994" y="1687469"/>
            <a:ext cx="5156200" cy="3940260"/>
          </a:xfrm>
          <a:prstGeom prst="rect">
            <a:avLst/>
          </a:prstGeom>
        </p:spPr>
      </p:pic>
      <p:sp>
        <p:nvSpPr>
          <p:cNvPr id="7" name="图形"/>
          <p:cNvSpPr txBox="1"/>
          <p:nvPr/>
        </p:nvSpPr>
        <p:spPr>
          <a:xfrm>
            <a:off x="848359" y="4662169"/>
            <a:ext cx="2112646" cy="9550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lnSpc>
                <a:spcPct val="150000"/>
              </a:lnSpc>
              <a:defRPr sz="1200">
                <a:solidFill>
                  <a:srgbClr val="404040"/>
                </a:solidFill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lvl1pPr>
          </a:lstStyle>
          <a:p>
            <a:pPr>
              <a:defRPr/>
            </a:pPr>
            <a:r>
              <a:rPr/>
              <a:t>早期计算机设备，见证AI研究的萌芽时代</a:t>
            </a:r>
          </a:p>
        </p:txBody>
      </p:sp>
      <p:sp>
        <p:nvSpPr>
          <p:cNvPr id="8" name="矩形"/>
          <p:cNvSpPr/>
          <p:nvPr/>
        </p:nvSpPr>
        <p:spPr xmlns:m="http://schemas.openxmlformats.org/officeDocument/2006/math" xmlns:a14="http://schemas.microsoft.com/office/drawing/2010/main">
          <a:xfrm>
            <a:off x="900429" y="4328159"/>
            <a:ext cx="1520826" cy="307341"/>
          </a:xfrm>
          <a:prstGeom prst="rect">
            <a:avLst/>
          </a:prstGeom>
          <a:gradFill flip="none" rotWithShape="1">
            <a:gsLst>
              <a:gs pos="15000">
                <a:schemeClr val="accent1"/>
              </a:gs>
              <a:gs pos="100000">
                <a:schemeClr val="accent2"/>
              </a:gs>
            </a:gsLst>
            <a:lin ang="27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1400">
                <a:solidFill>
                  <a:srgbClr val="FFFFFF"/>
                </a:solidFill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pPr>
          </a:p>
        </p:txBody>
      </p:sp>
      <p:sp>
        <p:nvSpPr>
          <p:cNvPr id="9" name="预设标题文本"/>
          <p:cNvSpPr txBox="1"/>
          <p:nvPr/>
        </p:nvSpPr>
        <p:spPr>
          <a:xfrm>
            <a:off x="900429" y="4354829"/>
            <a:ext cx="1520826" cy="25400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0" tIns="0" rIns="0" bIns="0" numCol="1" anchor="ctr">
            <a:spAutoFit/>
          </a:bodyPr>
          <a:lstStyle>
            <a:lvl1pPr algn="ctr">
              <a:defRPr sz="1400">
                <a:solidFill>
                  <a:srgbClr val="FFFFFF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达特茅斯</a:t>
            </a:r>
          </a:p>
        </p:txBody>
      </p:sp>
      <p:sp>
        <p:nvSpPr>
          <p:cNvPr id="10" name="图形"/>
          <p:cNvSpPr txBox="1"/>
          <p:nvPr/>
        </p:nvSpPr>
        <p:spPr>
          <a:xfrm>
            <a:off x="3380104" y="4662169"/>
            <a:ext cx="2112645" cy="9550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lnSpc>
                <a:spcPct val="150000"/>
              </a:lnSpc>
              <a:defRPr sz="1200">
                <a:solidFill>
                  <a:srgbClr val="404040"/>
                </a:solidFill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lvl1pPr>
          </a:lstStyle>
          <a:p>
            <a:pPr>
              <a:defRPr/>
            </a:pPr>
            <a:r>
              <a:rPr/>
              <a:t>McCarthy、Minsky、Shannon等人发起会议</a:t>
            </a:r>
          </a:p>
        </p:txBody>
      </p:sp>
      <p:sp>
        <p:nvSpPr>
          <p:cNvPr id="11" name="矩形"/>
          <p:cNvSpPr/>
          <p:nvPr/>
        </p:nvSpPr>
        <p:spPr xmlns:m="http://schemas.openxmlformats.org/officeDocument/2006/math" xmlns:a14="http://schemas.microsoft.com/office/drawing/2010/main">
          <a:xfrm>
            <a:off x="3432174" y="4328159"/>
            <a:ext cx="1520825" cy="307341"/>
          </a:xfrm>
          <a:prstGeom prst="rect">
            <a:avLst/>
          </a:prstGeom>
          <a:gradFill flip="none" rotWithShape="1">
            <a:gsLst>
              <a:gs pos="15000">
                <a:schemeClr val="accent1"/>
              </a:gs>
              <a:gs pos="100000">
                <a:schemeClr val="accent2"/>
              </a:gs>
            </a:gsLst>
            <a:lin ang="27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1400">
                <a:solidFill>
                  <a:srgbClr val="FFFFFF"/>
                </a:solidFill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pPr>
          </a:p>
        </p:txBody>
      </p:sp>
      <p:sp>
        <p:nvSpPr>
          <p:cNvPr id="12" name="预设标题文本"/>
          <p:cNvSpPr txBox="1"/>
          <p:nvPr/>
        </p:nvSpPr>
        <p:spPr>
          <a:xfrm>
            <a:off x="3432174" y="4354829"/>
            <a:ext cx="1520825" cy="25400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0" tIns="0" rIns="0" bIns="0" numCol="1" anchor="ctr">
            <a:spAutoFit/>
          </a:bodyPr>
          <a:lstStyle>
            <a:lvl1pPr algn="ctr">
              <a:defRPr sz="1400">
                <a:solidFill>
                  <a:srgbClr val="FFFFFF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感知机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图形" descr="078a9cc3774e889b39144edb12e9acd2cf5a0859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 flipH="1">
            <a:off x="0" y="-38735"/>
            <a:ext cx="12192000" cy="6896735"/>
          </a:xfrm>
          <a:prstGeom prst="rect">
            <a:avLst/>
          </a:prstGeom>
        </p:spPr>
      </p:pic>
      <p:sp>
        <p:nvSpPr>
          <p:cNvPr id="3" name="图形"/>
          <p:cNvSpPr/>
          <p:nvPr/>
        </p:nvSpPr>
        <p:spPr xmlns:m="http://schemas.openxmlformats.org/officeDocument/2006/math" xmlns:a14="http://schemas.microsoft.com/office/drawing/2010/main">
          <a:xfrm flipH="1">
            <a:off x="-1" y="-26704"/>
            <a:ext cx="12192636" cy="6858001"/>
          </a:xfrm>
          <a:prstGeom prst="rect">
            <a:avLst/>
          </a:prstGeom>
          <a:gradFill>
            <a:gsLst>
              <a:gs pos="0">
                <a:srgbClr val="F2F6FE"/>
              </a:gs>
              <a:gs pos="47000">
                <a:srgbClr val="F2F6FE">
                  <a:alpha val="0"/>
                </a:srgbClr>
              </a:gs>
            </a:gsLst>
            <a:lin ang="5400000"/>
          </a:gradFill>
          <a:ln w="12700">
            <a:miter lim="400000"/>
          </a:ln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" name="图形"/>
          <p:cNvSpPr txBox="1"/>
          <p:nvPr/>
        </p:nvSpPr>
        <p:spPr>
          <a:xfrm>
            <a:off x="8037829" y="1853564"/>
            <a:ext cx="3493770" cy="1844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defRPr b="1" sz="11500">
                <a:ln w="31750" cap="flat">
                  <a:solidFill>
                    <a:srgbClr val="79BCFB">
                      <a:alpha val="50000"/>
                    </a:srgbClr>
                  </a:solidFill>
                  <a:prstDash val="solid"/>
                  <a:round/>
                </a:ln>
                <a:noFill/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>
              <a:defRPr/>
            </a:pPr>
            <a:r>
              <a:rPr sz="11169"/>
              <a:t>TWO</a:t>
            </a:r>
          </a:p>
        </p:txBody>
      </p:sp>
      <p:sp>
        <p:nvSpPr>
          <p:cNvPr id="5" name="图形"/>
          <p:cNvSpPr txBox="1"/>
          <p:nvPr/>
        </p:nvSpPr>
        <p:spPr>
          <a:xfrm>
            <a:off x="5264150" y="2703195"/>
            <a:ext cx="6296025" cy="1361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just">
              <a:defRPr b="1" sz="7200">
                <a:solidFill>
                  <a:srgbClr val="262626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 sz="4123"/>
              <a:t>AI寒冬与专家系统</a:t>
            </a:r>
          </a:p>
        </p:txBody>
      </p:sp>
      <p:sp>
        <p:nvSpPr>
          <p:cNvPr id="6" name="图形"/>
          <p:cNvSpPr txBox="1"/>
          <p:nvPr/>
        </p:nvSpPr>
        <p:spPr>
          <a:xfrm>
            <a:off x="5317490" y="3714750"/>
            <a:ext cx="6502401" cy="7391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/>
            </a:lvl1pPr>
          </a:lstStyle>
          <a:p>
            <a:pPr>
              <a:lnSpc>
                <a:spcPct val="200000"/>
              </a:lnSpc>
              <a:defRPr sz="1400">
                <a:solidFill>
                  <a:srgbClr val="262626"/>
                </a:solidFill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  <a:r>
              <a:rPr/>
              <a:t>回顾1970至1997年间两次AI寒冬的技术瓶颈、资金断裂及专家系统的局限性。</a:t>
            </a:r>
          </a:p>
          <a:p>
            <a:pPr>
              <a:lnSpc>
                <a:spcPct val="200000"/>
              </a:lnSpc>
              <a:defRPr sz="1400">
                <a:solidFill>
                  <a:srgbClr val="262626"/>
                </a:solidFill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  <a:r>
              <a:rPr/>
              <a:t>以1997年IBM深蓝战胜卡斯帕罗夫为转折点，展示AI实用价值的重振与复苏。</a:t>
            </a:r>
          </a:p>
        </p:txBody>
      </p:sp>
      <p:sp>
        <p:nvSpPr>
          <p:cNvPr id="7" name="图形"/>
          <p:cNvSpPr/>
          <p:nvPr/>
        </p:nvSpPr>
        <p:spPr xmlns:m="http://schemas.openxmlformats.org/officeDocument/2006/math" xmlns:a14="http://schemas.microsoft.com/office/drawing/2010/main">
          <a:xfrm>
            <a:off x="7016115" y="5141595"/>
            <a:ext cx="4533901" cy="1035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21600"/>
                </a:moveTo>
                <a:lnTo>
                  <a:pt x="123" y="0"/>
                </a:lnTo>
                <a:lnTo>
                  <a:pt x="21600" y="0"/>
                </a:lnTo>
                <a:lnTo>
                  <a:pt x="21477" y="21600"/>
                </a:lnTo>
                <a:close/>
              </a:path>
            </a:pathLst>
          </a:custGeom>
          <a:gradFill>
            <a:gsLst>
              <a:gs pos="0">
                <a:srgbClr val="76BEFC">
                  <a:alpha val="46000"/>
                </a:srgbClr>
              </a:gs>
              <a:gs pos="66000">
                <a:srgbClr val="34ACFD">
                  <a:alpha val="0"/>
                </a:srgbClr>
              </a:gs>
            </a:gsLst>
            <a:lin ang="10800000"/>
          </a:gradFill>
          <a:ln w="12700">
            <a:miter lim="400000"/>
          </a:ln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" name="图形"/>
          <p:cNvSpPr txBox="1"/>
          <p:nvPr/>
        </p:nvSpPr>
        <p:spPr>
          <a:xfrm>
            <a:off x="722629" y="464819"/>
            <a:ext cx="3040382" cy="726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just">
              <a:defRPr b="1" sz="3600">
                <a:solidFill>
                  <a:srgbClr val="262626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寒冬与复苏</a:t>
            </a:r>
          </a:p>
        </p:txBody>
      </p:sp>
      <p:sp>
        <p:nvSpPr>
          <p:cNvPr id="9" name="图形"/>
          <p:cNvSpPr txBox="1"/>
          <p:nvPr/>
        </p:nvSpPr>
        <p:spPr>
          <a:xfrm>
            <a:off x="3891915" y="151129"/>
            <a:ext cx="4828540" cy="373634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defRPr b="1" sz="23900">
                <a:ln w="31750" cap="flat">
                  <a:solidFill>
                    <a:srgbClr val="79BCFB">
                      <a:alpha val="50000"/>
                    </a:srgbClr>
                  </a:solidFill>
                  <a:prstDash val="solid"/>
                  <a:round/>
                </a:ln>
                <a:noFill/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>
              <a:defRPr/>
            </a:pPr>
            <a:r>
              <a:rPr sz="22630"/>
              <a:t>02</a:t>
            </a:r>
          </a:p>
        </p:txBody>
      </p:sp>
      <p:sp>
        <p:nvSpPr>
          <p:cNvPr id="10" name="图形"/>
          <p:cNvSpPr/>
          <p:nvPr/>
        </p:nvSpPr>
        <p:spPr xmlns:m="http://schemas.openxmlformats.org/officeDocument/2006/math" xmlns:a14="http://schemas.microsoft.com/office/drawing/2010/main">
          <a:xfrm>
            <a:off x="4286249" y="1922143"/>
            <a:ext cx="2729866" cy="741681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3000">
                <a:srgbClr val="007EE8"/>
              </a:gs>
              <a:gs pos="100000">
                <a:schemeClr val="accent2"/>
              </a:gs>
            </a:gsLst>
            <a:lin ang="2700000" scaled="0"/>
          </a:gradFill>
          <a:ln w="12700" cap="flat">
            <a:noFill/>
            <a:miter lim="400000"/>
          </a:ln>
          <a:effectLst>
            <a:outerShdw sx="100000" sy="100000" kx="0" ky="0" algn="b" rotWithShape="0" blurRad="63500" dist="0" dir="0">
              <a:schemeClr val="accent1">
                <a:alpha val="40000"/>
              </a:scheme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b="1">
                <a:solidFill>
                  <a:srgbClr val="FFFFFF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pPr>
          </a:p>
        </p:txBody>
      </p:sp>
      <p:sp>
        <p:nvSpPr>
          <p:cNvPr id="11" name="图形"/>
          <p:cNvSpPr txBox="1"/>
          <p:nvPr/>
        </p:nvSpPr>
        <p:spPr>
          <a:xfrm>
            <a:off x="4641214" y="2060574"/>
            <a:ext cx="1991996" cy="5232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 algn="ctr">
              <a:defRPr sz="2800">
                <a:solidFill>
                  <a:srgbClr val="FFFFFF"/>
                </a:solidFill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>
              <a:defRPr/>
            </a:pPr>
            <a:r>
              <a:rPr sz="1584"/>
              <a:t>AI寒冬与专家系统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图形"/>
          <p:cNvSpPr txBox="1"/>
          <p:nvPr/>
        </p:nvSpPr>
        <p:spPr>
          <a:xfrm>
            <a:off x="722629" y="464819"/>
            <a:ext cx="3040382" cy="726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just">
              <a:defRPr b="1" sz="3600">
                <a:solidFill>
                  <a:srgbClr val="262626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寒冬与复苏</a:t>
            </a:r>
          </a:p>
        </p:txBody>
      </p:sp>
      <p:sp>
        <p:nvSpPr>
          <p:cNvPr id="3" name="图形"/>
          <p:cNvSpPr txBox="1"/>
          <p:nvPr/>
        </p:nvSpPr>
        <p:spPr>
          <a:xfrm>
            <a:off x="722629" y="464819"/>
            <a:ext cx="3040382" cy="726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just">
              <a:defRPr b="1" sz="3600">
                <a:solidFill>
                  <a:srgbClr val="262626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 sz="2200"/>
              <a:t>专家系统与Deep Blue</a:t>
            </a:r>
          </a:p>
        </p:txBody>
      </p:sp>
      <p:pic>
        <p:nvPicPr>
          <p:cNvPr id="4" name="图形" descr="ai_funding_curve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952500" y="1672233"/>
            <a:ext cx="5562600" cy="3564332"/>
          </a:xfrm>
          <a:prstGeom prst="rect">
            <a:avLst/>
          </a:prstGeom>
        </p:spPr>
      </p:pic>
      <p:sp>
        <p:nvSpPr>
          <p:cNvPr id="5" name="图形"/>
          <p:cNvSpPr/>
          <p:nvPr/>
        </p:nvSpPr>
        <p:spPr xmlns:m="http://schemas.openxmlformats.org/officeDocument/2006/math" xmlns:a14="http://schemas.microsoft.com/office/drawing/2010/main">
          <a:xfrm>
            <a:off x="1386204" y="3837305"/>
            <a:ext cx="675006" cy="145669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6775" y="21600"/>
                </a:moveTo>
                <a:lnTo>
                  <a:pt x="4825" y="21600"/>
                </a:lnTo>
                <a:lnTo>
                  <a:pt x="4825" y="5067"/>
                </a:lnTo>
                <a:lnTo>
                  <a:pt x="0" y="5067"/>
                </a:lnTo>
                <a:lnTo>
                  <a:pt x="10667" y="0"/>
                </a:lnTo>
                <a:lnTo>
                  <a:pt x="21600" y="5067"/>
                </a:lnTo>
                <a:lnTo>
                  <a:pt x="16775" y="5067"/>
                </a:lnTo>
                <a:lnTo>
                  <a:pt x="16775" y="21600"/>
                </a:lnTo>
                <a:close/>
              </a:path>
            </a:pathLst>
          </a:custGeom>
          <a:solidFill>
            <a:srgbClr val="F2F2F2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 algn="just">
              <a:lnSpc>
                <a:spcPct val="120000"/>
              </a:lnSpc>
              <a:defRPr sz="800"/>
            </a:pPr>
          </a:p>
        </p:txBody>
      </p:sp>
      <p:sp>
        <p:nvSpPr>
          <p:cNvPr id="6" name="图形"/>
          <p:cNvSpPr/>
          <p:nvPr/>
        </p:nvSpPr>
        <p:spPr xmlns:m="http://schemas.openxmlformats.org/officeDocument/2006/math" xmlns:a14="http://schemas.microsoft.com/office/drawing/2010/main">
          <a:xfrm>
            <a:off x="2771139" y="2990849"/>
            <a:ext cx="675006" cy="124968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5090" y="0"/>
                </a:moveTo>
                <a:lnTo>
                  <a:pt x="16775" y="0"/>
                </a:lnTo>
                <a:lnTo>
                  <a:pt x="16775" y="15835"/>
                </a:lnTo>
                <a:lnTo>
                  <a:pt x="21600" y="15835"/>
                </a:lnTo>
                <a:lnTo>
                  <a:pt x="10933" y="21600"/>
                </a:lnTo>
                <a:lnTo>
                  <a:pt x="0" y="15835"/>
                </a:lnTo>
                <a:lnTo>
                  <a:pt x="5090" y="15835"/>
                </a:lnTo>
                <a:lnTo>
                  <a:pt x="5090" y="0"/>
                </a:lnTo>
                <a:close/>
              </a:path>
            </a:pathLst>
          </a:custGeom>
          <a:solidFill>
            <a:srgbClr val="F2F2F2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 algn="just">
              <a:lnSpc>
                <a:spcPct val="120000"/>
              </a:lnSpc>
              <a:defRPr sz="800"/>
            </a:pPr>
          </a:p>
        </p:txBody>
      </p:sp>
      <p:sp>
        <p:nvSpPr>
          <p:cNvPr id="7" name="图形"/>
          <p:cNvSpPr/>
          <p:nvPr/>
        </p:nvSpPr>
        <p:spPr xmlns:m="http://schemas.openxmlformats.org/officeDocument/2006/math" xmlns:a14="http://schemas.microsoft.com/office/drawing/2010/main">
          <a:xfrm>
            <a:off x="4153534" y="3837305"/>
            <a:ext cx="673736" cy="145669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6544" y="21600"/>
                </a:moveTo>
                <a:lnTo>
                  <a:pt x="4834" y="21600"/>
                </a:lnTo>
                <a:lnTo>
                  <a:pt x="4834" y="5067"/>
                </a:lnTo>
                <a:lnTo>
                  <a:pt x="0" y="5067"/>
                </a:lnTo>
                <a:lnTo>
                  <a:pt x="10689" y="0"/>
                </a:lnTo>
                <a:lnTo>
                  <a:pt x="21600" y="5067"/>
                </a:lnTo>
                <a:lnTo>
                  <a:pt x="16544" y="5067"/>
                </a:lnTo>
                <a:lnTo>
                  <a:pt x="16544" y="21600"/>
                </a:lnTo>
                <a:close/>
              </a:path>
            </a:pathLst>
          </a:custGeom>
          <a:solidFill>
            <a:srgbClr val="F2F2F2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 algn="just">
              <a:lnSpc>
                <a:spcPct val="120000"/>
              </a:lnSpc>
              <a:defRPr sz="800"/>
            </a:pPr>
          </a:p>
        </p:txBody>
      </p:sp>
      <p:sp>
        <p:nvSpPr>
          <p:cNvPr id="8" name="图形"/>
          <p:cNvSpPr/>
          <p:nvPr/>
        </p:nvSpPr>
        <p:spPr xmlns:m="http://schemas.openxmlformats.org/officeDocument/2006/math" xmlns:a14="http://schemas.microsoft.com/office/drawing/2010/main">
          <a:xfrm>
            <a:off x="5538469" y="2527935"/>
            <a:ext cx="675006" cy="166306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5090" y="0"/>
                </a:moveTo>
                <a:lnTo>
                  <a:pt x="16775" y="0"/>
                </a:lnTo>
                <a:lnTo>
                  <a:pt x="16775" y="17161"/>
                </a:lnTo>
                <a:lnTo>
                  <a:pt x="21600" y="17161"/>
                </a:lnTo>
                <a:lnTo>
                  <a:pt x="10933" y="21600"/>
                </a:lnTo>
                <a:lnTo>
                  <a:pt x="0" y="17161"/>
                </a:lnTo>
                <a:lnTo>
                  <a:pt x="5090" y="17161"/>
                </a:lnTo>
                <a:lnTo>
                  <a:pt x="5090" y="0"/>
                </a:lnTo>
                <a:close/>
              </a:path>
            </a:pathLst>
          </a:custGeom>
          <a:solidFill>
            <a:srgbClr val="F2F2F2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 algn="just">
              <a:lnSpc>
                <a:spcPct val="120000"/>
              </a:lnSpc>
              <a:defRPr sz="800"/>
            </a:pPr>
          </a:p>
        </p:txBody>
      </p:sp>
      <p:sp>
        <p:nvSpPr>
          <p:cNvPr id="9" name="图形"/>
          <p:cNvSpPr txBox="1"/>
          <p:nvPr/>
        </p:nvSpPr>
        <p:spPr>
          <a:xfrm>
            <a:off x="5485129" y="5354320"/>
            <a:ext cx="781685" cy="2565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 algn="ctr">
              <a:lnSpc>
                <a:spcPct val="120000"/>
              </a:lnSpc>
              <a:defRPr sz="1100">
                <a:solidFill>
                  <a:srgbClr val="A6A6A6"/>
                </a:solidFill>
              </a:defRPr>
            </a:lvl1pPr>
          </a:lstStyle>
          <a:p>
            <a:pPr>
              <a:defRPr/>
            </a:pPr>
            <a:r>
              <a:rPr/>
              <a:t>1974</a:t>
            </a:r>
          </a:p>
        </p:txBody>
      </p:sp>
      <p:sp>
        <p:nvSpPr>
          <p:cNvPr id="10" name="图形"/>
          <p:cNvSpPr txBox="1"/>
          <p:nvPr/>
        </p:nvSpPr>
        <p:spPr>
          <a:xfrm>
            <a:off x="4098924" y="5354320"/>
            <a:ext cx="781685" cy="2565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 algn="ctr">
              <a:lnSpc>
                <a:spcPct val="120000"/>
              </a:lnSpc>
              <a:defRPr sz="1100">
                <a:solidFill>
                  <a:srgbClr val="A6A6A6"/>
                </a:solidFill>
              </a:defRPr>
            </a:lvl1pPr>
          </a:lstStyle>
          <a:p>
            <a:pPr>
              <a:defRPr/>
            </a:pPr>
            <a:r>
              <a:rPr/>
              <a:t>1980</a:t>
            </a:r>
          </a:p>
        </p:txBody>
      </p:sp>
      <p:sp>
        <p:nvSpPr>
          <p:cNvPr id="11" name="图形"/>
          <p:cNvSpPr txBox="1"/>
          <p:nvPr/>
        </p:nvSpPr>
        <p:spPr>
          <a:xfrm>
            <a:off x="2717799" y="5354320"/>
            <a:ext cx="781685" cy="2565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 algn="ctr">
              <a:lnSpc>
                <a:spcPct val="120000"/>
              </a:lnSpc>
              <a:defRPr sz="1100">
                <a:solidFill>
                  <a:srgbClr val="A6A6A6"/>
                </a:solidFill>
              </a:defRPr>
            </a:lvl1pPr>
          </a:lstStyle>
          <a:p>
            <a:pPr>
              <a:defRPr/>
            </a:pPr>
            <a:r>
              <a:rPr/>
              <a:t>1987</a:t>
            </a:r>
          </a:p>
        </p:txBody>
      </p:sp>
      <p:sp>
        <p:nvSpPr>
          <p:cNvPr id="12" name="图形"/>
          <p:cNvSpPr txBox="1"/>
          <p:nvPr/>
        </p:nvSpPr>
        <p:spPr>
          <a:xfrm>
            <a:off x="1332864" y="5354320"/>
            <a:ext cx="781685" cy="2565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 algn="ctr">
              <a:lnSpc>
                <a:spcPct val="120000"/>
              </a:lnSpc>
              <a:defRPr sz="1100">
                <a:solidFill>
                  <a:srgbClr val="A6A6A6"/>
                </a:solidFill>
              </a:defRPr>
            </a:lvl1pPr>
          </a:lstStyle>
          <a:p>
            <a:pPr>
              <a:defRPr/>
            </a:pPr>
            <a:r>
              <a:rPr/>
              <a:t>1997</a:t>
            </a:r>
          </a:p>
        </p:txBody>
      </p:sp>
      <p:sp>
        <p:nvSpPr>
          <p:cNvPr id="13" name="图形"/>
          <p:cNvSpPr/>
          <p:nvPr/>
        </p:nvSpPr>
        <p:spPr xmlns:m="http://schemas.openxmlformats.org/officeDocument/2006/math" xmlns:a14="http://schemas.microsoft.com/office/drawing/2010/main">
          <a:xfrm>
            <a:off x="6995159" y="4541519"/>
            <a:ext cx="447675" cy="447677"/>
          </a:xfrm>
          <a:prstGeom prst="ellipse">
            <a:avLst/>
          </a:prstGeom>
          <a:gradFill flip="none" rotWithShape="1">
            <a:gsLst>
              <a:gs pos="15000">
                <a:schemeClr val="accent1"/>
              </a:gs>
              <a:gs pos="100000">
                <a:schemeClr val="accent2"/>
              </a:gs>
            </a:gsLst>
            <a:lin ang="27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" name="图形"/>
          <p:cNvSpPr txBox="1"/>
          <p:nvPr/>
        </p:nvSpPr>
        <p:spPr>
          <a:xfrm>
            <a:off x="7539989" y="2068829"/>
            <a:ext cx="3848735" cy="7264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lnSpc>
                <a:spcPct val="150000"/>
              </a:lnSpc>
              <a:defRPr sz="1400"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lvl1pPr>
          </a:lstStyle>
          <a:p>
            <a:pPr>
              <a:defRPr/>
            </a:pPr>
            <a:r>
              <a:rPr/>
              <a:t>第一次寒冬：计算能力不足，DARPA削减预算，组合爆炸等理论问题无法解决。</a:t>
            </a:r>
          </a:p>
        </p:txBody>
      </p:sp>
      <p:sp>
        <p:nvSpPr>
          <p:cNvPr id="15" name="图形"/>
          <p:cNvSpPr txBox="1"/>
          <p:nvPr/>
        </p:nvSpPr>
        <p:spPr>
          <a:xfrm>
            <a:off x="7539989" y="3241039"/>
            <a:ext cx="3848735" cy="7264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lnSpc>
                <a:spcPct val="150000"/>
              </a:lnSpc>
              <a:defRPr sz="1400"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lvl1pPr>
          </a:lstStyle>
          <a:p>
            <a:pPr>
              <a:defRPr/>
            </a:pPr>
            <a:r>
              <a:rPr/>
              <a:t>第二次寒冬：专家系统维护成本高，LISP机器被淘汰，第五代计算机计划失败。</a:t>
            </a:r>
          </a:p>
        </p:txBody>
      </p:sp>
      <p:sp>
        <p:nvSpPr>
          <p:cNvPr id="16" name="图形"/>
          <p:cNvSpPr txBox="1"/>
          <p:nvPr/>
        </p:nvSpPr>
        <p:spPr>
          <a:xfrm>
            <a:off x="7539989" y="4413250"/>
            <a:ext cx="3848735" cy="7264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lnSpc>
                <a:spcPct val="150000"/>
              </a:lnSpc>
              <a:defRPr sz="1400"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lvl1pPr>
          </a:lstStyle>
          <a:p>
            <a:pPr>
              <a:defRPr/>
            </a:pPr>
            <a:r>
              <a:rPr/>
              <a:t>IBM Deep Blue击败卡斯帕罗夫，暴力搜索与启发式评估重燃公众对AI的信心。</a:t>
            </a:r>
          </a:p>
        </p:txBody>
      </p:sp>
      <p:sp>
        <p:nvSpPr>
          <p:cNvPr id="17" name="图形"/>
          <p:cNvSpPr/>
          <p:nvPr/>
        </p:nvSpPr>
        <p:spPr xmlns:m="http://schemas.openxmlformats.org/officeDocument/2006/math" xmlns:a14="http://schemas.microsoft.com/office/drawing/2010/main">
          <a:xfrm>
            <a:off x="6995794" y="2189479"/>
            <a:ext cx="447675" cy="447677"/>
          </a:xfrm>
          <a:prstGeom prst="ellipse">
            <a:avLst/>
          </a:prstGeom>
          <a:gradFill flip="none" rotWithShape="1">
            <a:gsLst>
              <a:gs pos="15000">
                <a:schemeClr val="accent1"/>
              </a:gs>
              <a:gs pos="100000">
                <a:schemeClr val="accent2"/>
              </a:gs>
            </a:gsLst>
            <a:lin ang="27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" name="图形"/>
          <p:cNvSpPr/>
          <p:nvPr/>
        </p:nvSpPr>
        <p:spPr xmlns:m="http://schemas.openxmlformats.org/officeDocument/2006/math" xmlns:a14="http://schemas.microsoft.com/office/drawing/2010/main">
          <a:xfrm>
            <a:off x="6995794" y="3386455"/>
            <a:ext cx="447675" cy="447677"/>
          </a:xfrm>
          <a:prstGeom prst="ellipse">
            <a:avLst/>
          </a:prstGeom>
          <a:gradFill flip="none" rotWithShape="1">
            <a:gsLst>
              <a:gs pos="15000">
                <a:schemeClr val="accent1"/>
              </a:gs>
              <a:gs pos="100000">
                <a:schemeClr val="accent2"/>
              </a:gs>
            </a:gsLst>
            <a:lin ang="27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" name="图形"/>
          <p:cNvSpPr/>
          <p:nvPr/>
        </p:nvSpPr>
        <p:spPr xmlns:m="http://schemas.openxmlformats.org/officeDocument/2006/math" xmlns:a14="http://schemas.microsoft.com/office/drawing/2010/main">
          <a:xfrm>
            <a:off x="7097394" y="4640580"/>
            <a:ext cx="242571" cy="242571"/>
          </a:xfrm>
          <a:prstGeom prst="ellipse">
            <a:avLst/>
          </a:pr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" name="图形"/>
          <p:cNvSpPr/>
          <p:nvPr/>
        </p:nvSpPr>
        <p:spPr xmlns:m="http://schemas.openxmlformats.org/officeDocument/2006/math" xmlns:a14="http://schemas.microsoft.com/office/drawing/2010/main">
          <a:xfrm>
            <a:off x="7098664" y="2273299"/>
            <a:ext cx="242571" cy="242571"/>
          </a:xfrm>
          <a:prstGeom prst="ellipse">
            <a:avLst/>
          </a:pr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" name="图形"/>
          <p:cNvSpPr/>
          <p:nvPr/>
        </p:nvSpPr>
        <p:spPr xmlns:m="http://schemas.openxmlformats.org/officeDocument/2006/math" xmlns:a14="http://schemas.microsoft.com/office/drawing/2010/main">
          <a:xfrm>
            <a:off x="7098664" y="3462019"/>
            <a:ext cx="242571" cy="242571"/>
          </a:xfrm>
          <a:prstGeom prst="ellipse">
            <a:avLst/>
          </a:pr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图形" descr="078a9cc3774e889b39144edb12e9acd2cf5a0859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 flipH="1">
            <a:off x="0" y="-38735"/>
            <a:ext cx="12192000" cy="6896735"/>
          </a:xfrm>
          <a:prstGeom prst="rect">
            <a:avLst/>
          </a:prstGeom>
        </p:spPr>
      </p:pic>
      <p:sp>
        <p:nvSpPr>
          <p:cNvPr id="3" name="图形"/>
          <p:cNvSpPr/>
          <p:nvPr/>
        </p:nvSpPr>
        <p:spPr xmlns:m="http://schemas.openxmlformats.org/officeDocument/2006/math" xmlns:a14="http://schemas.microsoft.com/office/drawing/2010/main">
          <a:xfrm flipH="1">
            <a:off x="-1" y="-26704"/>
            <a:ext cx="12192636" cy="6858001"/>
          </a:xfrm>
          <a:prstGeom prst="rect">
            <a:avLst/>
          </a:prstGeom>
          <a:gradFill>
            <a:gsLst>
              <a:gs pos="0">
                <a:srgbClr val="F2F6FE"/>
              </a:gs>
              <a:gs pos="47000">
                <a:srgbClr val="F2F6FE">
                  <a:alpha val="0"/>
                </a:srgbClr>
              </a:gs>
            </a:gsLst>
            <a:lin ang="5400000"/>
          </a:gradFill>
          <a:ln w="12700">
            <a:miter lim="400000"/>
          </a:ln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" name="图形"/>
          <p:cNvSpPr txBox="1"/>
          <p:nvPr/>
        </p:nvSpPr>
        <p:spPr>
          <a:xfrm>
            <a:off x="8037829" y="1853564"/>
            <a:ext cx="3493770" cy="1844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defRPr b="1" sz="11500">
                <a:ln w="31750" cap="flat">
                  <a:solidFill>
                    <a:srgbClr val="79BCFB">
                      <a:alpha val="50000"/>
                    </a:srgbClr>
                  </a:solidFill>
                  <a:prstDash val="solid"/>
                  <a:round/>
                </a:ln>
                <a:noFill/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>
              <a:defRPr/>
            </a:pPr>
            <a:r>
              <a:rPr sz="11169"/>
              <a:t>ML</a:t>
            </a:r>
          </a:p>
        </p:txBody>
      </p:sp>
      <p:sp>
        <p:nvSpPr>
          <p:cNvPr id="5" name="图形"/>
          <p:cNvSpPr txBox="1"/>
          <p:nvPr/>
        </p:nvSpPr>
        <p:spPr>
          <a:xfrm>
            <a:off x="5264150" y="2703195"/>
            <a:ext cx="6296025" cy="1361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just">
              <a:defRPr b="1" sz="7200">
                <a:solidFill>
                  <a:srgbClr val="262626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机器学习崛起</a:t>
            </a:r>
          </a:p>
        </p:txBody>
      </p:sp>
      <p:sp>
        <p:nvSpPr>
          <p:cNvPr id="6" name="图形"/>
          <p:cNvSpPr txBox="1"/>
          <p:nvPr/>
        </p:nvSpPr>
        <p:spPr>
          <a:xfrm>
            <a:off x="5317490" y="3714750"/>
            <a:ext cx="6502401" cy="7391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/>
            </a:lvl1pPr>
          </a:lstStyle>
          <a:p>
            <a:pPr>
              <a:lnSpc>
                <a:spcPct val="200000"/>
              </a:lnSpc>
              <a:defRPr sz="1400">
                <a:solidFill>
                  <a:srgbClr val="262626"/>
                </a:solidFill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  <a:r>
              <a:rPr/>
              <a:t>从手工编码规则转向数据驱动的机器学习，SVM、随机森林、DBN等技术引领范式革命。</a:t>
            </a:r>
          </a:p>
          <a:p>
            <a:pPr>
              <a:lnSpc>
                <a:spcPct val="200000"/>
              </a:lnSpc>
              <a:defRPr sz="1400">
                <a:solidFill>
                  <a:srgbClr val="262626"/>
                </a:solidFill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  <a:r>
              <a:rPr/>
              <a:t>Netflix推荐系统与IBM Watson的成功，展示了机器学习在复杂任务与商业应用中的巨大潜力。</a:t>
            </a:r>
          </a:p>
        </p:txBody>
      </p:sp>
      <p:sp>
        <p:nvSpPr>
          <p:cNvPr id="7" name="图形"/>
          <p:cNvSpPr/>
          <p:nvPr/>
        </p:nvSpPr>
        <p:spPr xmlns:m="http://schemas.openxmlformats.org/officeDocument/2006/math" xmlns:a14="http://schemas.microsoft.com/office/drawing/2010/main">
          <a:xfrm>
            <a:off x="7016115" y="5141595"/>
            <a:ext cx="4533901" cy="1035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21600"/>
                </a:moveTo>
                <a:lnTo>
                  <a:pt x="123" y="0"/>
                </a:lnTo>
                <a:lnTo>
                  <a:pt x="21600" y="0"/>
                </a:lnTo>
                <a:lnTo>
                  <a:pt x="21477" y="21600"/>
                </a:lnTo>
                <a:close/>
              </a:path>
            </a:pathLst>
          </a:custGeom>
          <a:gradFill>
            <a:gsLst>
              <a:gs pos="0">
                <a:srgbClr val="76BEFC">
                  <a:alpha val="46000"/>
                </a:srgbClr>
              </a:gs>
              <a:gs pos="66000">
                <a:srgbClr val="34ACFD">
                  <a:alpha val="0"/>
                </a:srgbClr>
              </a:gs>
            </a:gsLst>
            <a:lin ang="10800000"/>
          </a:gradFill>
          <a:ln w="12700">
            <a:miter lim="400000"/>
          </a:ln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" name="图形"/>
          <p:cNvSpPr txBox="1"/>
          <p:nvPr/>
        </p:nvSpPr>
        <p:spPr>
          <a:xfrm>
            <a:off x="722629" y="464819"/>
            <a:ext cx="3040382" cy="726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just">
              <a:defRPr b="1" sz="3600">
                <a:solidFill>
                  <a:srgbClr val="262626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数据驱动范式</a:t>
            </a:r>
          </a:p>
        </p:txBody>
      </p:sp>
      <p:sp>
        <p:nvSpPr>
          <p:cNvPr id="9" name="图形"/>
          <p:cNvSpPr txBox="1"/>
          <p:nvPr/>
        </p:nvSpPr>
        <p:spPr>
          <a:xfrm>
            <a:off x="3891915" y="151129"/>
            <a:ext cx="4828540" cy="373634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defRPr b="1" sz="23900">
                <a:ln w="31750" cap="flat">
                  <a:solidFill>
                    <a:srgbClr val="79BCFB">
                      <a:alpha val="50000"/>
                    </a:srgbClr>
                  </a:solidFill>
                  <a:prstDash val="solid"/>
                  <a:round/>
                </a:ln>
                <a:noFill/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>
              <a:defRPr/>
            </a:pPr>
            <a:r>
              <a:rPr sz="22630"/>
              <a:t>03</a:t>
            </a:r>
          </a:p>
        </p:txBody>
      </p:sp>
      <p:sp>
        <p:nvSpPr>
          <p:cNvPr id="10" name="图形"/>
          <p:cNvSpPr/>
          <p:nvPr/>
        </p:nvSpPr>
        <p:spPr xmlns:m="http://schemas.openxmlformats.org/officeDocument/2006/math" xmlns:a14="http://schemas.microsoft.com/office/drawing/2010/main">
          <a:xfrm>
            <a:off x="4286249" y="1922143"/>
            <a:ext cx="2729866" cy="741681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3000">
                <a:srgbClr val="007EE8"/>
              </a:gs>
              <a:gs pos="100000">
                <a:schemeClr val="accent2"/>
              </a:gs>
            </a:gsLst>
            <a:lin ang="2700000" scaled="0"/>
          </a:gradFill>
          <a:ln w="12700" cap="flat">
            <a:noFill/>
            <a:miter lim="400000"/>
          </a:ln>
          <a:effectLst>
            <a:outerShdw sx="100000" sy="100000" kx="0" ky="0" algn="b" rotWithShape="0" blurRad="63500" dist="0" dir="0">
              <a:schemeClr val="accent1">
                <a:alpha val="40000"/>
              </a:scheme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b="1">
                <a:solidFill>
                  <a:srgbClr val="FFFFFF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pPr>
          </a:p>
        </p:txBody>
      </p:sp>
      <p:sp>
        <p:nvSpPr>
          <p:cNvPr id="11" name="图形"/>
          <p:cNvSpPr txBox="1"/>
          <p:nvPr/>
        </p:nvSpPr>
        <p:spPr>
          <a:xfrm>
            <a:off x="4641214" y="2060574"/>
            <a:ext cx="1991996" cy="5232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 algn="ctr">
              <a:defRPr sz="2800">
                <a:solidFill>
                  <a:srgbClr val="FFFFFF"/>
                </a:solidFill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>
              <a:defRPr/>
            </a:pPr>
            <a:r>
              <a:rPr/>
              <a:t>1997–2012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图形"/>
          <p:cNvSpPr txBox="1"/>
          <p:nvPr/>
        </p:nvSpPr>
        <p:spPr>
          <a:xfrm>
            <a:off x="722629" y="464819"/>
            <a:ext cx="3040382" cy="726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just">
              <a:defRPr b="1" sz="3600">
                <a:solidFill>
                  <a:srgbClr val="262626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机器学习</a:t>
            </a:r>
          </a:p>
        </p:txBody>
      </p:sp>
      <p:pic>
        <p:nvPicPr>
          <p:cNvPr id="3" name="图形" descr="technology_evolution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3033394" y="1811762"/>
            <a:ext cx="5257800" cy="3488475"/>
          </a:xfrm>
          <a:prstGeom prst="rect">
            <a:avLst/>
          </a:prstGeom>
        </p:spPr>
      </p:pic>
      <p:sp>
        <p:nvSpPr>
          <p:cNvPr id="4" name="图形"/>
          <p:cNvSpPr/>
          <p:nvPr/>
        </p:nvSpPr>
        <p:spPr xmlns:m="http://schemas.openxmlformats.org/officeDocument/2006/math" xmlns:a14="http://schemas.microsoft.com/office/drawing/2010/main">
          <a:xfrm>
            <a:off x="616584" y="1948815"/>
            <a:ext cx="3102611" cy="1745616"/>
          </a:xfrm>
          <a:prstGeom prst="rect">
            <a:avLst/>
          </a:prstGeom>
          <a:gradFill flip="none" rotWithShape="1">
            <a:gsLst>
              <a:gs pos="15000">
                <a:schemeClr val="accent1"/>
              </a:gs>
              <a:gs pos="100000">
                <a:schemeClr val="accent2"/>
              </a:gs>
            </a:gsLst>
            <a:lin ang="27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>
              <a:defRPr>
                <a:solidFill>
                  <a:srgbClr val="808080"/>
                </a:solidFill>
              </a:defRPr>
            </a:pPr>
          </a:p>
        </p:txBody>
      </p:sp>
      <p:sp>
        <p:nvSpPr>
          <p:cNvPr id="5" name="图形"/>
          <p:cNvSpPr txBox="1"/>
          <p:nvPr/>
        </p:nvSpPr>
        <p:spPr>
          <a:xfrm>
            <a:off x="1099819" y="2465705"/>
            <a:ext cx="2327911" cy="86360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0" tIns="0" rIns="0" bIns="0" numCol="1" anchor="t">
            <a:spAutoFit/>
          </a:bodyPr>
          <a:lstStyle>
            <a:lvl1pPr>
              <a:lnSpc>
                <a:spcPct val="150000"/>
              </a:lnSpc>
              <a:defRPr sz="1200">
                <a:solidFill>
                  <a:srgbClr val="FFFFFF"/>
                </a:solidFill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lvl1pPr>
          </a:lstStyle>
          <a:p>
            <a:pPr>
              <a:defRPr/>
            </a:pPr>
            <a:r>
              <a:rPr/>
              <a:t>AI研究完成根本性范式革命，从规则驱动转向数据驱动</a:t>
            </a:r>
          </a:p>
        </p:txBody>
      </p:sp>
      <p:sp>
        <p:nvSpPr>
          <p:cNvPr id="6" name="图形"/>
          <p:cNvSpPr txBox="1"/>
          <p:nvPr/>
        </p:nvSpPr>
        <p:spPr>
          <a:xfrm>
            <a:off x="742949" y="3844290"/>
            <a:ext cx="2209166" cy="44450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0" tIns="0" rIns="0" bIns="0" numCol="1" anchor="t">
            <a:spAutoFit/>
          </a:bodyPr>
          <a:lstStyle>
            <a:lvl1pPr>
              <a:lnSpc>
                <a:spcPct val="150000"/>
              </a:lnSpc>
              <a:defRPr sz="1000">
                <a:solidFill>
                  <a:srgbClr val="404040"/>
                </a:solidFill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lvl1pPr>
          </a:lstStyle>
          <a:p>
            <a:pPr>
              <a:defRPr/>
            </a:pPr>
            <a:r>
              <a:rPr/>
              <a:t>机器具备从数据中自主学习的能力</a:t>
            </a:r>
          </a:p>
        </p:txBody>
      </p:sp>
      <p:sp>
        <p:nvSpPr>
          <p:cNvPr id="7" name="图形"/>
          <p:cNvSpPr txBox="1"/>
          <p:nvPr/>
        </p:nvSpPr>
        <p:spPr>
          <a:xfrm>
            <a:off x="721359" y="4471034"/>
            <a:ext cx="2209166" cy="97790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0" tIns="0" rIns="0" bIns="0" numCol="1" anchor="t">
            <a:spAutoFit/>
          </a:bodyPr>
          <a:lstStyle>
            <a:lvl1pPr>
              <a:lnSpc>
                <a:spcPct val="150000"/>
              </a:lnSpc>
              <a:defRPr sz="1000">
                <a:solidFill>
                  <a:srgbClr val="404040"/>
                </a:solidFill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lvl1pPr>
          </a:lstStyle>
          <a:p>
            <a:pPr>
              <a:defRPr/>
            </a:pPr>
            <a:r>
              <a:rPr/>
              <a:t>SVM、随机森林、深度信念网络等关键技术相继突破，Netflix推荐系统与IBM Watson等标志性应用落地</a:t>
            </a:r>
          </a:p>
        </p:txBody>
      </p:sp>
      <p:sp>
        <p:nvSpPr>
          <p:cNvPr id="8" name="图形"/>
          <p:cNvSpPr txBox="1"/>
          <p:nvPr/>
        </p:nvSpPr>
        <p:spPr>
          <a:xfrm>
            <a:off x="443864" y="2071370"/>
            <a:ext cx="684531" cy="8280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defRPr sz="4800">
                <a:solidFill>
                  <a:srgbClr val="FFFFFF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❝</a:t>
            </a:r>
          </a:p>
        </p:txBody>
      </p:sp>
      <p:sp>
        <p:nvSpPr>
          <p:cNvPr id="9" name="图形"/>
          <p:cNvSpPr txBox="1"/>
          <p:nvPr/>
        </p:nvSpPr>
        <p:spPr>
          <a:xfrm>
            <a:off x="8512173" y="1652270"/>
            <a:ext cx="815862" cy="52324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tIns="45719" rIns="45719" bIns="45719" numCol="1" anchor="t">
            <a:spAutoFit/>
          </a:bodyPr>
          <a:lstStyle>
            <a:lvl1pPr>
              <a:defRPr sz="2800">
                <a:solidFill>
                  <a:schemeClr val="accent1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SVM</a:t>
            </a:r>
          </a:p>
        </p:txBody>
      </p:sp>
      <p:sp>
        <p:nvSpPr>
          <p:cNvPr id="10" name="图形"/>
          <p:cNvSpPr txBox="1"/>
          <p:nvPr/>
        </p:nvSpPr>
        <p:spPr>
          <a:xfrm>
            <a:off x="8595359" y="2209800"/>
            <a:ext cx="2889251" cy="53975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0" tIns="0" rIns="0" bIns="0" numCol="1" anchor="t">
            <a:spAutoFit/>
          </a:bodyPr>
          <a:lstStyle>
            <a:lvl1pPr>
              <a:lnSpc>
                <a:spcPct val="150000"/>
              </a:lnSpc>
              <a:defRPr sz="1200">
                <a:solidFill>
                  <a:srgbClr val="404040"/>
                </a:solidFill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lvl1pPr>
          </a:lstStyle>
          <a:p>
            <a:pPr>
              <a:defRPr/>
            </a:pPr>
            <a:r>
              <a:rPr/>
              <a:t>1995年Vapnik提出，高维分类泛化能力强</a:t>
            </a:r>
          </a:p>
        </p:txBody>
      </p:sp>
      <p:sp>
        <p:nvSpPr>
          <p:cNvPr id="11" name="图形"/>
          <p:cNvSpPr txBox="1"/>
          <p:nvPr/>
        </p:nvSpPr>
        <p:spPr>
          <a:xfrm>
            <a:off x="9377044" y="1729105"/>
            <a:ext cx="2061846" cy="4089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defRPr>
                <a:solidFill>
                  <a:srgbClr val="404040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关键算法</a:t>
            </a:r>
          </a:p>
        </p:txBody>
      </p:sp>
      <p:sp>
        <p:nvSpPr>
          <p:cNvPr id="12" name="图形"/>
          <p:cNvSpPr txBox="1"/>
          <p:nvPr/>
        </p:nvSpPr>
        <p:spPr>
          <a:xfrm>
            <a:off x="8512173" y="3023235"/>
            <a:ext cx="815862" cy="5232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tIns="45719" rIns="45719" bIns="45719" numCol="1" anchor="t">
            <a:spAutoFit/>
          </a:bodyPr>
          <a:lstStyle>
            <a:lvl1pPr>
              <a:defRPr sz="2800">
                <a:solidFill>
                  <a:schemeClr val="accent1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DBN</a:t>
            </a:r>
          </a:p>
        </p:txBody>
      </p:sp>
      <p:sp>
        <p:nvSpPr>
          <p:cNvPr id="13" name="图形"/>
          <p:cNvSpPr txBox="1"/>
          <p:nvPr/>
        </p:nvSpPr>
        <p:spPr>
          <a:xfrm>
            <a:off x="8595359" y="3580765"/>
            <a:ext cx="2889251" cy="53975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0" tIns="0" rIns="0" bIns="0" numCol="1" anchor="t">
            <a:spAutoFit/>
          </a:bodyPr>
          <a:lstStyle>
            <a:lvl1pPr>
              <a:lnSpc>
                <a:spcPct val="150000"/>
              </a:lnSpc>
              <a:defRPr sz="1200">
                <a:solidFill>
                  <a:srgbClr val="404040"/>
                </a:solidFill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lvl1pPr>
          </a:lstStyle>
          <a:p>
            <a:pPr>
              <a:defRPr/>
            </a:pPr>
            <a:r>
              <a:rPr/>
              <a:t>2006年Hinton提出，逐层预训练破解训练难题</a:t>
            </a:r>
          </a:p>
        </p:txBody>
      </p:sp>
      <p:sp>
        <p:nvSpPr>
          <p:cNvPr id="14" name="图形"/>
          <p:cNvSpPr txBox="1"/>
          <p:nvPr/>
        </p:nvSpPr>
        <p:spPr>
          <a:xfrm>
            <a:off x="9377044" y="3100070"/>
            <a:ext cx="2061846" cy="4089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defRPr>
                <a:solidFill>
                  <a:srgbClr val="404040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深度学习基础</a:t>
            </a:r>
          </a:p>
        </p:txBody>
      </p:sp>
      <p:sp>
        <p:nvSpPr>
          <p:cNvPr id="15" name="图形"/>
          <p:cNvSpPr txBox="1"/>
          <p:nvPr/>
        </p:nvSpPr>
        <p:spPr>
          <a:xfrm>
            <a:off x="8512173" y="4394200"/>
            <a:ext cx="815862" cy="5232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tIns="45719" rIns="45719" bIns="45719" numCol="1" anchor="t">
            <a:spAutoFit/>
          </a:bodyPr>
          <a:lstStyle>
            <a:lvl1pPr>
              <a:defRPr sz="2800">
                <a:solidFill>
                  <a:schemeClr val="accent1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NLP</a:t>
            </a:r>
          </a:p>
        </p:txBody>
      </p:sp>
      <p:sp>
        <p:nvSpPr>
          <p:cNvPr id="16" name="图形"/>
          <p:cNvSpPr txBox="1"/>
          <p:nvPr/>
        </p:nvSpPr>
        <p:spPr>
          <a:xfrm>
            <a:off x="8595359" y="4951730"/>
            <a:ext cx="2889251" cy="53975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0" tIns="0" rIns="0" bIns="0" numCol="1" anchor="t">
            <a:spAutoFit/>
          </a:bodyPr>
          <a:lstStyle>
            <a:lvl1pPr>
              <a:lnSpc>
                <a:spcPct val="150000"/>
              </a:lnSpc>
              <a:defRPr sz="1200">
                <a:solidFill>
                  <a:srgbClr val="404040"/>
                </a:solidFill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lvl1pPr>
          </a:lstStyle>
          <a:p>
            <a:pPr>
              <a:defRPr/>
            </a:pPr>
            <a:r>
              <a:rPr/>
              <a:t>2011年Watson击败人类冠军，展示自然语言理解突破</a:t>
            </a:r>
          </a:p>
        </p:txBody>
      </p:sp>
      <p:sp>
        <p:nvSpPr>
          <p:cNvPr id="17" name="图形"/>
          <p:cNvSpPr txBox="1"/>
          <p:nvPr/>
        </p:nvSpPr>
        <p:spPr>
          <a:xfrm>
            <a:off x="9377044" y="4471035"/>
            <a:ext cx="2061846" cy="4089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defRPr>
                <a:solidFill>
                  <a:srgbClr val="404040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标志应用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图形" descr="078a9cc3774e889b39144edb12e9acd2cf5a0859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 flipH="1">
            <a:off x="0" y="-38735"/>
            <a:ext cx="12192000" cy="6896735"/>
          </a:xfrm>
          <a:prstGeom prst="rect">
            <a:avLst/>
          </a:prstGeom>
        </p:spPr>
      </p:pic>
      <p:sp>
        <p:nvSpPr>
          <p:cNvPr id="3" name="图形"/>
          <p:cNvSpPr/>
          <p:nvPr/>
        </p:nvSpPr>
        <p:spPr xmlns:m="http://schemas.openxmlformats.org/officeDocument/2006/math" xmlns:a14="http://schemas.microsoft.com/office/drawing/2010/main">
          <a:xfrm flipH="1">
            <a:off x="-1" y="-26704"/>
            <a:ext cx="12192636" cy="6858001"/>
          </a:xfrm>
          <a:prstGeom prst="rect">
            <a:avLst/>
          </a:prstGeom>
          <a:gradFill>
            <a:gsLst>
              <a:gs pos="0">
                <a:srgbClr val="F2F6FE"/>
              </a:gs>
              <a:gs pos="47000">
                <a:srgbClr val="F2F6FE">
                  <a:alpha val="0"/>
                </a:srgbClr>
              </a:gs>
            </a:gsLst>
            <a:lin ang="5400000"/>
          </a:gradFill>
          <a:ln w="12700">
            <a:miter lim="400000"/>
          </a:ln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" name="图形"/>
          <p:cNvSpPr txBox="1"/>
          <p:nvPr/>
        </p:nvSpPr>
        <p:spPr>
          <a:xfrm>
            <a:off x="8037829" y="1853564"/>
            <a:ext cx="3493770" cy="1844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defRPr b="1" sz="11500">
                <a:ln w="31750" cap="flat">
                  <a:solidFill>
                    <a:srgbClr val="79BCFB">
                      <a:alpha val="50000"/>
                    </a:srgbClr>
                  </a:solidFill>
                  <a:prstDash val="solid"/>
                  <a:round/>
                </a:ln>
                <a:noFill/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>
              <a:defRPr/>
            </a:pPr>
            <a:r>
              <a:rPr sz="11169"/>
              <a:t>Sec</a:t>
            </a:r>
          </a:p>
        </p:txBody>
      </p:sp>
      <p:sp>
        <p:nvSpPr>
          <p:cNvPr id="5" name="图形"/>
          <p:cNvSpPr txBox="1"/>
          <p:nvPr/>
        </p:nvSpPr>
        <p:spPr>
          <a:xfrm>
            <a:off x="5264150" y="2703195"/>
            <a:ext cx="6296025" cy="1361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just">
              <a:defRPr b="1" sz="7200">
                <a:solidFill>
                  <a:srgbClr val="262626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深度学习革命</a:t>
            </a:r>
          </a:p>
        </p:txBody>
      </p:sp>
      <p:sp>
        <p:nvSpPr>
          <p:cNvPr id="6" name="图形"/>
          <p:cNvSpPr txBox="1"/>
          <p:nvPr/>
        </p:nvSpPr>
        <p:spPr>
          <a:xfrm>
            <a:off x="5317490" y="3714750"/>
            <a:ext cx="6502401" cy="7391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/>
            </a:lvl1pPr>
          </a:lstStyle>
          <a:p>
            <a:pPr>
              <a:lnSpc>
                <a:spcPct val="200000"/>
              </a:lnSpc>
              <a:defRPr sz="1400">
                <a:solidFill>
                  <a:srgbClr val="262626"/>
                </a:solidFill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  <a:r>
              <a:rPr/>
              <a:t>从2012年AlexNet夺冠到GAN、ResNet的相继突破，神经网络全面崛起。</a:t>
            </a:r>
          </a:p>
          <a:p>
            <a:pPr>
              <a:lnSpc>
                <a:spcPct val="200000"/>
              </a:lnSpc>
              <a:defRPr sz="1400">
                <a:solidFill>
                  <a:srgbClr val="262626"/>
                </a:solidFill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  <a:r>
              <a:rPr/>
              <a:t>2016年AlphaGo战胜人类棋手，标志着AI在策略博弈领域的历史性胜利。</a:t>
            </a:r>
          </a:p>
        </p:txBody>
      </p:sp>
      <p:sp>
        <p:nvSpPr>
          <p:cNvPr id="7" name="图形"/>
          <p:cNvSpPr/>
          <p:nvPr/>
        </p:nvSpPr>
        <p:spPr xmlns:m="http://schemas.openxmlformats.org/officeDocument/2006/math" xmlns:a14="http://schemas.microsoft.com/office/drawing/2010/main">
          <a:xfrm>
            <a:off x="7016115" y="5141595"/>
            <a:ext cx="4533901" cy="1035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21600"/>
                </a:moveTo>
                <a:lnTo>
                  <a:pt x="123" y="0"/>
                </a:lnTo>
                <a:lnTo>
                  <a:pt x="21600" y="0"/>
                </a:lnTo>
                <a:lnTo>
                  <a:pt x="21477" y="21600"/>
                </a:lnTo>
                <a:close/>
              </a:path>
            </a:pathLst>
          </a:custGeom>
          <a:gradFill>
            <a:gsLst>
              <a:gs pos="0">
                <a:srgbClr val="76BEFC">
                  <a:alpha val="46000"/>
                </a:srgbClr>
              </a:gs>
              <a:gs pos="66000">
                <a:srgbClr val="34ACFD">
                  <a:alpha val="0"/>
                </a:srgbClr>
              </a:gs>
            </a:gsLst>
            <a:lin ang="10800000"/>
          </a:gradFill>
          <a:ln w="12700">
            <a:miter lim="400000"/>
          </a:ln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" name="图形"/>
          <p:cNvSpPr txBox="1"/>
          <p:nvPr/>
        </p:nvSpPr>
        <p:spPr>
          <a:xfrm>
            <a:off x="722629" y="464819"/>
            <a:ext cx="3040382" cy="726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just">
              <a:defRPr b="1" sz="3600">
                <a:solidFill>
                  <a:srgbClr val="262626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 sz="2200"/>
              <a:t>神经网络的全面胜利</a:t>
            </a:r>
          </a:p>
        </p:txBody>
      </p:sp>
      <p:sp>
        <p:nvSpPr>
          <p:cNvPr id="9" name="图形"/>
          <p:cNvSpPr txBox="1"/>
          <p:nvPr/>
        </p:nvSpPr>
        <p:spPr>
          <a:xfrm>
            <a:off x="3891915" y="151129"/>
            <a:ext cx="4828540" cy="373634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defRPr b="1" sz="23900">
                <a:ln w="31750" cap="flat">
                  <a:solidFill>
                    <a:srgbClr val="79BCFB">
                      <a:alpha val="50000"/>
                    </a:srgbClr>
                  </a:solidFill>
                  <a:prstDash val="solid"/>
                  <a:round/>
                </a:ln>
                <a:noFill/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>
              <a:defRPr/>
            </a:pPr>
            <a:r>
              <a:rPr sz="22630"/>
              <a:t>04</a:t>
            </a:r>
          </a:p>
        </p:txBody>
      </p:sp>
      <p:sp>
        <p:nvSpPr>
          <p:cNvPr id="10" name="图形"/>
          <p:cNvSpPr/>
          <p:nvPr/>
        </p:nvSpPr>
        <p:spPr xmlns:m="http://schemas.openxmlformats.org/officeDocument/2006/math" xmlns:a14="http://schemas.microsoft.com/office/drawing/2010/main">
          <a:xfrm>
            <a:off x="4286249" y="1922143"/>
            <a:ext cx="2729866" cy="741681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3000">
                <a:srgbClr val="007EE8"/>
              </a:gs>
              <a:gs pos="100000">
                <a:schemeClr val="accent2"/>
              </a:gs>
            </a:gsLst>
            <a:lin ang="2700000" scaled="0"/>
          </a:gradFill>
          <a:ln w="12700" cap="flat">
            <a:noFill/>
            <a:miter lim="400000"/>
          </a:ln>
          <a:effectLst>
            <a:outerShdw sx="100000" sy="100000" kx="0" ky="0" algn="b" rotWithShape="0" blurRad="63500" dist="0" dir="0">
              <a:schemeClr val="accent1">
                <a:alpha val="40000"/>
              </a:scheme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b="1">
                <a:solidFill>
                  <a:srgbClr val="FFFFFF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pPr>
          </a:p>
        </p:txBody>
      </p:sp>
      <p:sp>
        <p:nvSpPr>
          <p:cNvPr id="11" name="图形"/>
          <p:cNvSpPr txBox="1"/>
          <p:nvPr/>
        </p:nvSpPr>
        <p:spPr>
          <a:xfrm>
            <a:off x="4641214" y="2060574"/>
            <a:ext cx="1991996" cy="5232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 algn="ctr">
              <a:defRPr sz="2800">
                <a:solidFill>
                  <a:srgbClr val="FFFFFF"/>
                </a:solidFill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>
              <a:defRPr/>
            </a:pPr>
            <a:r>
              <a:rPr/>
              <a:t>2012–2019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图形"/>
          <p:cNvSpPr txBox="1"/>
          <p:nvPr/>
        </p:nvSpPr>
        <p:spPr>
          <a:xfrm>
            <a:off x="722629" y="464819"/>
            <a:ext cx="3040382" cy="726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just">
              <a:defRPr b="1" sz="3600">
                <a:solidFill>
                  <a:srgbClr val="262626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深度学习革命</a:t>
            </a:r>
          </a:p>
        </p:txBody>
      </p:sp>
      <p:sp>
        <p:nvSpPr>
          <p:cNvPr id="3" name="图形"/>
          <p:cNvSpPr txBox="1"/>
          <p:nvPr/>
        </p:nvSpPr>
        <p:spPr>
          <a:xfrm>
            <a:off x="722629" y="464819"/>
            <a:ext cx="3040382" cy="726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just">
              <a:defRPr b="1" sz="3600">
                <a:solidFill>
                  <a:srgbClr val="262626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2012–2019</a:t>
            </a:r>
          </a:p>
        </p:txBody>
      </p:sp>
      <p:pic>
        <p:nvPicPr>
          <p:cNvPr id="4" name="图形" descr="deep_learning_layers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952500" y="1625600"/>
            <a:ext cx="4478030" cy="3657600"/>
          </a:xfrm>
          <a:prstGeom prst="rect">
            <a:avLst/>
          </a:prstGeom>
        </p:spPr>
      </p:pic>
      <p:sp>
        <p:nvSpPr>
          <p:cNvPr id="5" name="图形"/>
          <p:cNvSpPr/>
          <p:nvPr/>
        </p:nvSpPr>
        <p:spPr xmlns:m="http://schemas.openxmlformats.org/officeDocument/2006/math" xmlns:a14="http://schemas.microsoft.com/office/drawing/2010/main">
          <a:xfrm>
            <a:off x="1386204" y="3837305"/>
            <a:ext cx="675006" cy="145669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6775" y="21600"/>
                </a:moveTo>
                <a:lnTo>
                  <a:pt x="4825" y="21600"/>
                </a:lnTo>
                <a:lnTo>
                  <a:pt x="4825" y="5067"/>
                </a:lnTo>
                <a:lnTo>
                  <a:pt x="0" y="5067"/>
                </a:lnTo>
                <a:lnTo>
                  <a:pt x="10667" y="0"/>
                </a:lnTo>
                <a:lnTo>
                  <a:pt x="21600" y="5067"/>
                </a:lnTo>
                <a:lnTo>
                  <a:pt x="16775" y="5067"/>
                </a:lnTo>
                <a:lnTo>
                  <a:pt x="16775" y="21600"/>
                </a:lnTo>
                <a:close/>
              </a:path>
            </a:pathLst>
          </a:custGeom>
          <a:solidFill>
            <a:srgbClr val="F2F2F2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 algn="just">
              <a:lnSpc>
                <a:spcPct val="120000"/>
              </a:lnSpc>
              <a:defRPr sz="800"/>
            </a:pPr>
          </a:p>
        </p:txBody>
      </p:sp>
      <p:sp>
        <p:nvSpPr>
          <p:cNvPr id="6" name="图形"/>
          <p:cNvSpPr/>
          <p:nvPr/>
        </p:nvSpPr>
        <p:spPr xmlns:m="http://schemas.openxmlformats.org/officeDocument/2006/math" xmlns:a14="http://schemas.microsoft.com/office/drawing/2010/main">
          <a:xfrm>
            <a:off x="2771139" y="2990849"/>
            <a:ext cx="675006" cy="124968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5090" y="0"/>
                </a:moveTo>
                <a:lnTo>
                  <a:pt x="16775" y="0"/>
                </a:lnTo>
                <a:lnTo>
                  <a:pt x="16775" y="15835"/>
                </a:lnTo>
                <a:lnTo>
                  <a:pt x="21600" y="15835"/>
                </a:lnTo>
                <a:lnTo>
                  <a:pt x="10933" y="21600"/>
                </a:lnTo>
                <a:lnTo>
                  <a:pt x="0" y="15835"/>
                </a:lnTo>
                <a:lnTo>
                  <a:pt x="5090" y="15835"/>
                </a:lnTo>
                <a:lnTo>
                  <a:pt x="5090" y="0"/>
                </a:lnTo>
                <a:close/>
              </a:path>
            </a:pathLst>
          </a:custGeom>
          <a:solidFill>
            <a:srgbClr val="F2F2F2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 algn="just">
              <a:lnSpc>
                <a:spcPct val="120000"/>
              </a:lnSpc>
              <a:defRPr sz="800"/>
            </a:pPr>
          </a:p>
        </p:txBody>
      </p:sp>
      <p:sp>
        <p:nvSpPr>
          <p:cNvPr id="7" name="图形"/>
          <p:cNvSpPr/>
          <p:nvPr/>
        </p:nvSpPr>
        <p:spPr xmlns:m="http://schemas.openxmlformats.org/officeDocument/2006/math" xmlns:a14="http://schemas.microsoft.com/office/drawing/2010/main">
          <a:xfrm>
            <a:off x="4153534" y="3837305"/>
            <a:ext cx="673736" cy="145669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6544" y="21600"/>
                </a:moveTo>
                <a:lnTo>
                  <a:pt x="4834" y="21600"/>
                </a:lnTo>
                <a:lnTo>
                  <a:pt x="4834" y="5067"/>
                </a:lnTo>
                <a:lnTo>
                  <a:pt x="0" y="5067"/>
                </a:lnTo>
                <a:lnTo>
                  <a:pt x="10689" y="0"/>
                </a:lnTo>
                <a:lnTo>
                  <a:pt x="21600" y="5067"/>
                </a:lnTo>
                <a:lnTo>
                  <a:pt x="16544" y="5067"/>
                </a:lnTo>
                <a:lnTo>
                  <a:pt x="16544" y="21600"/>
                </a:lnTo>
                <a:close/>
              </a:path>
            </a:pathLst>
          </a:custGeom>
          <a:solidFill>
            <a:srgbClr val="F2F2F2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 algn="just">
              <a:lnSpc>
                <a:spcPct val="120000"/>
              </a:lnSpc>
              <a:defRPr sz="800"/>
            </a:pPr>
          </a:p>
        </p:txBody>
      </p:sp>
      <p:sp>
        <p:nvSpPr>
          <p:cNvPr id="8" name="图形"/>
          <p:cNvSpPr/>
          <p:nvPr/>
        </p:nvSpPr>
        <p:spPr xmlns:m="http://schemas.openxmlformats.org/officeDocument/2006/math" xmlns:a14="http://schemas.microsoft.com/office/drawing/2010/main">
          <a:xfrm>
            <a:off x="5538469" y="2527935"/>
            <a:ext cx="675006" cy="166306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5090" y="0"/>
                </a:moveTo>
                <a:lnTo>
                  <a:pt x="16775" y="0"/>
                </a:lnTo>
                <a:lnTo>
                  <a:pt x="16775" y="17161"/>
                </a:lnTo>
                <a:lnTo>
                  <a:pt x="21600" y="17161"/>
                </a:lnTo>
                <a:lnTo>
                  <a:pt x="10933" y="21600"/>
                </a:lnTo>
                <a:lnTo>
                  <a:pt x="0" y="17161"/>
                </a:lnTo>
                <a:lnTo>
                  <a:pt x="5090" y="17161"/>
                </a:lnTo>
                <a:lnTo>
                  <a:pt x="5090" y="0"/>
                </a:lnTo>
                <a:close/>
              </a:path>
            </a:pathLst>
          </a:custGeom>
          <a:solidFill>
            <a:srgbClr val="F2F2F2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 algn="just">
              <a:lnSpc>
                <a:spcPct val="120000"/>
              </a:lnSpc>
              <a:defRPr sz="800"/>
            </a:pPr>
          </a:p>
        </p:txBody>
      </p:sp>
      <p:sp>
        <p:nvSpPr>
          <p:cNvPr id="9" name="图形"/>
          <p:cNvSpPr txBox="1"/>
          <p:nvPr/>
        </p:nvSpPr>
        <p:spPr>
          <a:xfrm>
            <a:off x="5485129" y="5354320"/>
            <a:ext cx="781685" cy="2565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 algn="ctr">
              <a:lnSpc>
                <a:spcPct val="120000"/>
              </a:lnSpc>
              <a:defRPr sz="1100">
                <a:solidFill>
                  <a:srgbClr val="A6A6A6"/>
                </a:solidFill>
              </a:defRPr>
            </a:lvl1pPr>
          </a:lstStyle>
          <a:p>
            <a:pPr>
              <a:defRPr/>
            </a:pPr>
            <a:r>
              <a:rPr/>
              <a:t>2012</a:t>
            </a:r>
          </a:p>
        </p:txBody>
      </p:sp>
      <p:sp>
        <p:nvSpPr>
          <p:cNvPr id="10" name="图形"/>
          <p:cNvSpPr txBox="1"/>
          <p:nvPr/>
        </p:nvSpPr>
        <p:spPr>
          <a:xfrm>
            <a:off x="4098924" y="5354320"/>
            <a:ext cx="781685" cy="2565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 algn="ctr">
              <a:lnSpc>
                <a:spcPct val="120000"/>
              </a:lnSpc>
              <a:defRPr sz="1100">
                <a:solidFill>
                  <a:srgbClr val="A6A6A6"/>
                </a:solidFill>
              </a:defRPr>
            </a:lvl1pPr>
          </a:lstStyle>
          <a:p>
            <a:pPr>
              <a:defRPr/>
            </a:pPr>
            <a:r>
              <a:rPr/>
              <a:t>2014</a:t>
            </a:r>
          </a:p>
        </p:txBody>
      </p:sp>
      <p:sp>
        <p:nvSpPr>
          <p:cNvPr id="11" name="图形"/>
          <p:cNvSpPr txBox="1"/>
          <p:nvPr/>
        </p:nvSpPr>
        <p:spPr>
          <a:xfrm>
            <a:off x="2717799" y="5354320"/>
            <a:ext cx="781685" cy="2565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 algn="ctr">
              <a:lnSpc>
                <a:spcPct val="120000"/>
              </a:lnSpc>
              <a:defRPr sz="1100">
                <a:solidFill>
                  <a:srgbClr val="A6A6A6"/>
                </a:solidFill>
              </a:defRPr>
            </a:lvl1pPr>
          </a:lstStyle>
          <a:p>
            <a:pPr>
              <a:defRPr/>
            </a:pPr>
            <a:r>
              <a:rPr/>
              <a:t>2015</a:t>
            </a:r>
          </a:p>
        </p:txBody>
      </p:sp>
      <p:sp>
        <p:nvSpPr>
          <p:cNvPr id="12" name="图形"/>
          <p:cNvSpPr txBox="1"/>
          <p:nvPr/>
        </p:nvSpPr>
        <p:spPr>
          <a:xfrm>
            <a:off x="1332864" y="5354320"/>
            <a:ext cx="781685" cy="2565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 algn="ctr">
              <a:lnSpc>
                <a:spcPct val="120000"/>
              </a:lnSpc>
              <a:defRPr sz="1100">
                <a:solidFill>
                  <a:srgbClr val="A6A6A6"/>
                </a:solidFill>
              </a:defRPr>
            </a:lvl1pPr>
          </a:lstStyle>
          <a:p>
            <a:pPr>
              <a:defRPr/>
            </a:pPr>
            <a:r>
              <a:rPr/>
              <a:t>2016</a:t>
            </a:r>
          </a:p>
        </p:txBody>
      </p:sp>
      <p:sp>
        <p:nvSpPr>
          <p:cNvPr id="13" name="图形"/>
          <p:cNvSpPr/>
          <p:nvPr/>
        </p:nvSpPr>
        <p:spPr xmlns:m="http://schemas.openxmlformats.org/officeDocument/2006/math" xmlns:a14="http://schemas.microsoft.com/office/drawing/2010/main">
          <a:xfrm>
            <a:off x="6995159" y="4541519"/>
            <a:ext cx="447675" cy="447677"/>
          </a:xfrm>
          <a:prstGeom prst="ellipse">
            <a:avLst/>
          </a:prstGeom>
          <a:gradFill flip="none" rotWithShape="1">
            <a:gsLst>
              <a:gs pos="15000">
                <a:schemeClr val="accent1"/>
              </a:gs>
              <a:gs pos="100000">
                <a:schemeClr val="accent2"/>
              </a:gs>
            </a:gsLst>
            <a:lin ang="27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" name="图形"/>
          <p:cNvSpPr txBox="1"/>
          <p:nvPr/>
        </p:nvSpPr>
        <p:spPr>
          <a:xfrm>
            <a:off x="7539989" y="2068829"/>
            <a:ext cx="3848735" cy="7264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lnSpc>
                <a:spcPct val="150000"/>
              </a:lnSpc>
              <a:defRPr sz="1400"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lvl1pPr>
          </a:lstStyle>
          <a:p>
            <a:pPr>
              <a:defRPr/>
            </a:pPr>
            <a:r>
              <a:rPr/>
              <a:t>AlexNet将ImageNet错误率从26%降至15.3%，引入ReLU、Dropout及GPU并行计算</a:t>
            </a:r>
          </a:p>
        </p:txBody>
      </p:sp>
      <p:sp>
        <p:nvSpPr>
          <p:cNvPr id="15" name="图形"/>
          <p:cNvSpPr txBox="1"/>
          <p:nvPr/>
        </p:nvSpPr>
        <p:spPr>
          <a:xfrm>
            <a:off x="7539989" y="3241039"/>
            <a:ext cx="3848735" cy="7264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lnSpc>
                <a:spcPct val="150000"/>
              </a:lnSpc>
              <a:defRPr sz="1400"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lvl1pPr>
          </a:lstStyle>
          <a:p>
            <a:pPr>
              <a:defRPr/>
            </a:pPr>
            <a:r>
              <a:rPr/>
              <a:t>GAN对抗训练推动图像生成；ResNet成功训练152层网络</a:t>
            </a:r>
          </a:p>
        </p:txBody>
      </p:sp>
      <p:sp>
        <p:nvSpPr>
          <p:cNvPr id="16" name="图形"/>
          <p:cNvSpPr txBox="1"/>
          <p:nvPr/>
        </p:nvSpPr>
        <p:spPr>
          <a:xfrm>
            <a:off x="7539989" y="4413250"/>
            <a:ext cx="3848735" cy="7264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lnSpc>
                <a:spcPct val="150000"/>
              </a:lnSpc>
              <a:defRPr sz="1400"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lvl1pPr>
          </a:lstStyle>
          <a:p>
            <a:pPr>
              <a:defRPr/>
            </a:pPr>
            <a:r>
              <a:rPr/>
              <a:t>AlphaGo结合深度强化学习与蒙特卡洛树搜索，首次在围棋中超越人类顶尖水平。</a:t>
            </a:r>
          </a:p>
        </p:txBody>
      </p:sp>
      <p:sp>
        <p:nvSpPr>
          <p:cNvPr id="17" name="图形"/>
          <p:cNvSpPr/>
          <p:nvPr/>
        </p:nvSpPr>
        <p:spPr xmlns:m="http://schemas.openxmlformats.org/officeDocument/2006/math" xmlns:a14="http://schemas.microsoft.com/office/drawing/2010/main">
          <a:xfrm>
            <a:off x="6995794" y="2189479"/>
            <a:ext cx="447675" cy="447677"/>
          </a:xfrm>
          <a:prstGeom prst="ellipse">
            <a:avLst/>
          </a:prstGeom>
          <a:gradFill flip="none" rotWithShape="1">
            <a:gsLst>
              <a:gs pos="15000">
                <a:schemeClr val="accent1"/>
              </a:gs>
              <a:gs pos="100000">
                <a:schemeClr val="accent2"/>
              </a:gs>
            </a:gsLst>
            <a:lin ang="27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" name="图形"/>
          <p:cNvSpPr/>
          <p:nvPr/>
        </p:nvSpPr>
        <p:spPr xmlns:m="http://schemas.openxmlformats.org/officeDocument/2006/math" xmlns:a14="http://schemas.microsoft.com/office/drawing/2010/main">
          <a:xfrm>
            <a:off x="6995794" y="3386455"/>
            <a:ext cx="447675" cy="447677"/>
          </a:xfrm>
          <a:prstGeom prst="ellipse">
            <a:avLst/>
          </a:prstGeom>
          <a:gradFill flip="none" rotWithShape="1">
            <a:gsLst>
              <a:gs pos="15000">
                <a:schemeClr val="accent1"/>
              </a:gs>
              <a:gs pos="100000">
                <a:schemeClr val="accent2"/>
              </a:gs>
            </a:gsLst>
            <a:lin ang="27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" name="图形"/>
          <p:cNvSpPr/>
          <p:nvPr/>
        </p:nvSpPr>
        <p:spPr xmlns:m="http://schemas.openxmlformats.org/officeDocument/2006/math" xmlns:a14="http://schemas.microsoft.com/office/drawing/2010/main">
          <a:xfrm>
            <a:off x="7097394" y="4640580"/>
            <a:ext cx="242571" cy="242571"/>
          </a:xfrm>
          <a:prstGeom prst="ellipse">
            <a:avLst/>
          </a:pr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" name="图形"/>
          <p:cNvSpPr/>
          <p:nvPr/>
        </p:nvSpPr>
        <p:spPr xmlns:m="http://schemas.openxmlformats.org/officeDocument/2006/math" xmlns:a14="http://schemas.microsoft.com/office/drawing/2010/main">
          <a:xfrm>
            <a:off x="7098664" y="2273299"/>
            <a:ext cx="242571" cy="242571"/>
          </a:xfrm>
          <a:prstGeom prst="ellipse">
            <a:avLst/>
          </a:pr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" name="图形"/>
          <p:cNvSpPr/>
          <p:nvPr/>
        </p:nvSpPr>
        <p:spPr xmlns:m="http://schemas.openxmlformats.org/officeDocument/2006/math" xmlns:a14="http://schemas.microsoft.com/office/drawing/2010/main">
          <a:xfrm>
            <a:off x="7098664" y="3462019"/>
            <a:ext cx="242571" cy="242571"/>
          </a:xfrm>
          <a:prstGeom prst="ellipse">
            <a:avLst/>
          </a:pr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图形" descr="078a9cc3774e889b39144edb12e9acd2cf5a0859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 flipH="1">
            <a:off x="0" y="-38735"/>
            <a:ext cx="12192000" cy="6896735"/>
          </a:xfrm>
          <a:prstGeom prst="rect">
            <a:avLst/>
          </a:prstGeom>
        </p:spPr>
      </p:pic>
      <p:sp>
        <p:nvSpPr>
          <p:cNvPr id="3" name="图形"/>
          <p:cNvSpPr/>
          <p:nvPr/>
        </p:nvSpPr>
        <p:spPr xmlns:m="http://schemas.openxmlformats.org/officeDocument/2006/math" xmlns:a14="http://schemas.microsoft.com/office/drawing/2010/main">
          <a:xfrm flipH="1">
            <a:off x="-1" y="-26704"/>
            <a:ext cx="12192636" cy="6858001"/>
          </a:xfrm>
          <a:prstGeom prst="rect">
            <a:avLst/>
          </a:prstGeom>
          <a:gradFill>
            <a:gsLst>
              <a:gs pos="0">
                <a:srgbClr val="F2F6FE"/>
              </a:gs>
              <a:gs pos="47000">
                <a:srgbClr val="F2F6FE">
                  <a:alpha val="0"/>
                </a:srgbClr>
              </a:gs>
            </a:gsLst>
            <a:lin ang="5400000"/>
          </a:gradFill>
          <a:ln w="12700">
            <a:miter lim="400000"/>
          </a:ln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" name="图形"/>
          <p:cNvSpPr txBox="1"/>
          <p:nvPr/>
        </p:nvSpPr>
        <p:spPr>
          <a:xfrm>
            <a:off x="8037829" y="1853564"/>
            <a:ext cx="3493770" cy="1844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defRPr b="1" sz="11500">
                <a:ln w="31750" cap="flat">
                  <a:solidFill>
                    <a:srgbClr val="79BCFB">
                      <a:alpha val="50000"/>
                    </a:srgbClr>
                  </a:solidFill>
                  <a:prstDash val="solid"/>
                  <a:round/>
                </a:ln>
                <a:noFill/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>
              <a:defRPr/>
            </a:pPr>
            <a:r>
              <a:rPr sz="11169"/>
              <a:t>LLM</a:t>
            </a:r>
          </a:p>
        </p:txBody>
      </p:sp>
      <p:sp>
        <p:nvSpPr>
          <p:cNvPr id="5" name="图形"/>
          <p:cNvSpPr txBox="1"/>
          <p:nvPr/>
        </p:nvSpPr>
        <p:spPr>
          <a:xfrm>
            <a:off x="5264150" y="2703195"/>
            <a:ext cx="6296025" cy="1361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just">
              <a:defRPr b="1" sz="7200">
                <a:solidFill>
                  <a:srgbClr val="262626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 sz="4123"/>
              <a:t>大语言模型时代</a:t>
            </a:r>
          </a:p>
        </p:txBody>
      </p:sp>
      <p:sp>
        <p:nvSpPr>
          <p:cNvPr id="6" name="图形"/>
          <p:cNvSpPr txBox="1"/>
          <p:nvPr/>
        </p:nvSpPr>
        <p:spPr>
          <a:xfrm>
            <a:off x="5317490" y="3714750"/>
            <a:ext cx="6502401" cy="7391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/>
            </a:lvl1pPr>
          </a:lstStyle>
          <a:p>
            <a:pPr>
              <a:lnSpc>
                <a:spcPct val="200000"/>
              </a:lnSpc>
              <a:defRPr sz="1400">
                <a:solidFill>
                  <a:srgbClr val="262626"/>
                </a:solidFill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  <a:r>
              <a:rPr sz="1119"/>
              <a:t>从2017年Transformer架构诞生，到BERT、GPT-4等模型的规模指数级增长，大语言模型重塑了NLP格局。</a:t>
            </a:r>
          </a:p>
          <a:p>
            <a:pPr>
              <a:lnSpc>
                <a:spcPct val="200000"/>
              </a:lnSpc>
              <a:defRPr sz="1400">
                <a:solidFill>
                  <a:srgbClr val="262626"/>
                </a:solidFill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  <a:r>
              <a:rPr sz="1119"/>
              <a:t>涌现能力的出现标志着通用智能的黎明，未来将聚焦多模态、具身智能与安全对齐等方向。</a:t>
            </a:r>
          </a:p>
        </p:txBody>
      </p:sp>
      <p:sp>
        <p:nvSpPr>
          <p:cNvPr id="7" name="图形"/>
          <p:cNvSpPr/>
          <p:nvPr/>
        </p:nvSpPr>
        <p:spPr xmlns:m="http://schemas.openxmlformats.org/officeDocument/2006/math" xmlns:a14="http://schemas.microsoft.com/office/drawing/2010/main">
          <a:xfrm>
            <a:off x="7016115" y="5141595"/>
            <a:ext cx="4533901" cy="1035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21600"/>
                </a:moveTo>
                <a:lnTo>
                  <a:pt x="123" y="0"/>
                </a:lnTo>
                <a:lnTo>
                  <a:pt x="21600" y="0"/>
                </a:lnTo>
                <a:lnTo>
                  <a:pt x="21477" y="21600"/>
                </a:lnTo>
                <a:close/>
              </a:path>
            </a:pathLst>
          </a:custGeom>
          <a:gradFill>
            <a:gsLst>
              <a:gs pos="0">
                <a:srgbClr val="76BEFC">
                  <a:alpha val="46000"/>
                </a:srgbClr>
              </a:gs>
              <a:gs pos="66000">
                <a:srgbClr val="34ACFD">
                  <a:alpha val="0"/>
                </a:srgbClr>
              </a:gs>
            </a:gsLst>
            <a:lin ang="10800000"/>
          </a:gradFill>
          <a:ln w="12700">
            <a:miter lim="400000"/>
          </a:ln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" name="图形"/>
          <p:cNvSpPr txBox="1"/>
          <p:nvPr/>
        </p:nvSpPr>
        <p:spPr>
          <a:xfrm>
            <a:off x="722629" y="464819"/>
            <a:ext cx="3040382" cy="726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just">
              <a:defRPr b="1" sz="3600">
                <a:solidFill>
                  <a:srgbClr val="262626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 sz="2200"/>
              <a:t>通用智能的黎明</a:t>
            </a:r>
          </a:p>
        </p:txBody>
      </p:sp>
      <p:sp>
        <p:nvSpPr>
          <p:cNvPr id="9" name="图形"/>
          <p:cNvSpPr txBox="1"/>
          <p:nvPr/>
        </p:nvSpPr>
        <p:spPr>
          <a:xfrm>
            <a:off x="3891915" y="151129"/>
            <a:ext cx="4828540" cy="373634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defRPr b="1" sz="23900">
                <a:ln w="31750" cap="flat">
                  <a:solidFill>
                    <a:srgbClr val="79BCFB">
                      <a:alpha val="50000"/>
                    </a:srgbClr>
                  </a:solidFill>
                  <a:prstDash val="solid"/>
                  <a:round/>
                </a:ln>
                <a:noFill/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>
              <a:defRPr/>
            </a:pPr>
            <a:r>
              <a:rPr sz="22630"/>
              <a:t>05</a:t>
            </a:r>
          </a:p>
        </p:txBody>
      </p:sp>
      <p:sp>
        <p:nvSpPr>
          <p:cNvPr id="10" name="图形"/>
          <p:cNvSpPr/>
          <p:nvPr/>
        </p:nvSpPr>
        <p:spPr xmlns:m="http://schemas.openxmlformats.org/officeDocument/2006/math" xmlns:a14="http://schemas.microsoft.com/office/drawing/2010/main">
          <a:xfrm>
            <a:off x="4286249" y="1922143"/>
            <a:ext cx="2729866" cy="741681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3000">
                <a:srgbClr val="007EE8"/>
              </a:gs>
              <a:gs pos="100000">
                <a:schemeClr val="accent2"/>
              </a:gs>
            </a:gsLst>
            <a:lin ang="2700000" scaled="0"/>
          </a:gradFill>
          <a:ln w="12700" cap="flat">
            <a:noFill/>
            <a:miter lim="400000"/>
          </a:ln>
          <a:effectLst>
            <a:outerShdw sx="100000" sy="100000" kx="0" ky="0" algn="b" rotWithShape="0" blurRad="63500" dist="0" dir="0">
              <a:schemeClr val="accent1">
                <a:alpha val="40000"/>
              </a:scheme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b="1">
                <a:solidFill>
                  <a:srgbClr val="FFFFFF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pPr>
          </a:p>
        </p:txBody>
      </p:sp>
      <p:sp>
        <p:nvSpPr>
          <p:cNvPr id="11" name="图形"/>
          <p:cNvSpPr txBox="1"/>
          <p:nvPr/>
        </p:nvSpPr>
        <p:spPr>
          <a:xfrm>
            <a:off x="4641214" y="2060574"/>
            <a:ext cx="1991996" cy="5232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 algn="ctr">
              <a:defRPr sz="2800">
                <a:solidFill>
                  <a:srgbClr val="FFFFFF"/>
                </a:solidFill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>
              <a:defRPr/>
            </a:pPr>
            <a:r>
              <a:rPr/>
              <a:t>2017–2026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图形"/>
          <p:cNvSpPr txBox="1"/>
          <p:nvPr/>
        </p:nvSpPr>
        <p:spPr>
          <a:xfrm>
            <a:off x="722629" y="464819"/>
            <a:ext cx="3040382" cy="726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just">
              <a:defRPr b="1" sz="3600">
                <a:solidFill>
                  <a:srgbClr val="262626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 sz="2200"/>
              <a:t>Transformer革命</a:t>
            </a:r>
          </a:p>
        </p:txBody>
      </p:sp>
      <p:sp>
        <p:nvSpPr>
          <p:cNvPr id="3" name="图形"/>
          <p:cNvSpPr txBox="1"/>
          <p:nvPr/>
        </p:nvSpPr>
        <p:spPr>
          <a:xfrm>
            <a:off x="722629" y="464819"/>
            <a:ext cx="3040382" cy="726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just">
              <a:defRPr b="1" sz="3600">
                <a:solidFill>
                  <a:srgbClr val="262626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大模型时代</a:t>
            </a:r>
          </a:p>
        </p:txBody>
      </p:sp>
      <p:pic>
        <p:nvPicPr>
          <p:cNvPr id="4" name="图形" descr="transformer_architecture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952500" y="1625600"/>
            <a:ext cx="5091952" cy="3657600"/>
          </a:xfrm>
          <a:prstGeom prst="rect">
            <a:avLst/>
          </a:prstGeom>
        </p:spPr>
      </p:pic>
      <p:sp>
        <p:nvSpPr>
          <p:cNvPr id="5" name="图形"/>
          <p:cNvSpPr/>
          <p:nvPr/>
        </p:nvSpPr>
        <p:spPr xmlns:m="http://schemas.openxmlformats.org/officeDocument/2006/math" xmlns:a14="http://schemas.microsoft.com/office/drawing/2010/main">
          <a:xfrm>
            <a:off x="1386204" y="3837305"/>
            <a:ext cx="675006" cy="145669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6775" y="21600"/>
                </a:moveTo>
                <a:lnTo>
                  <a:pt x="4825" y="21600"/>
                </a:lnTo>
                <a:lnTo>
                  <a:pt x="4825" y="5067"/>
                </a:lnTo>
                <a:lnTo>
                  <a:pt x="0" y="5067"/>
                </a:lnTo>
                <a:lnTo>
                  <a:pt x="10667" y="0"/>
                </a:lnTo>
                <a:lnTo>
                  <a:pt x="21600" y="5067"/>
                </a:lnTo>
                <a:lnTo>
                  <a:pt x="16775" y="5067"/>
                </a:lnTo>
                <a:lnTo>
                  <a:pt x="16775" y="21600"/>
                </a:lnTo>
                <a:close/>
              </a:path>
            </a:pathLst>
          </a:custGeom>
          <a:solidFill>
            <a:srgbClr val="F2F2F2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 algn="just">
              <a:lnSpc>
                <a:spcPct val="120000"/>
              </a:lnSpc>
              <a:defRPr sz="800"/>
            </a:pPr>
          </a:p>
        </p:txBody>
      </p:sp>
      <p:sp>
        <p:nvSpPr>
          <p:cNvPr id="6" name="图形"/>
          <p:cNvSpPr/>
          <p:nvPr/>
        </p:nvSpPr>
        <p:spPr xmlns:m="http://schemas.openxmlformats.org/officeDocument/2006/math" xmlns:a14="http://schemas.microsoft.com/office/drawing/2010/main">
          <a:xfrm>
            <a:off x="2771139" y="2990849"/>
            <a:ext cx="675006" cy="124968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5090" y="0"/>
                </a:moveTo>
                <a:lnTo>
                  <a:pt x="16775" y="0"/>
                </a:lnTo>
                <a:lnTo>
                  <a:pt x="16775" y="15835"/>
                </a:lnTo>
                <a:lnTo>
                  <a:pt x="21600" y="15835"/>
                </a:lnTo>
                <a:lnTo>
                  <a:pt x="10933" y="21600"/>
                </a:lnTo>
                <a:lnTo>
                  <a:pt x="0" y="15835"/>
                </a:lnTo>
                <a:lnTo>
                  <a:pt x="5090" y="15835"/>
                </a:lnTo>
                <a:lnTo>
                  <a:pt x="5090" y="0"/>
                </a:lnTo>
                <a:close/>
              </a:path>
            </a:pathLst>
          </a:custGeom>
          <a:solidFill>
            <a:srgbClr val="F2F2F2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 algn="just">
              <a:lnSpc>
                <a:spcPct val="120000"/>
              </a:lnSpc>
              <a:defRPr sz="800"/>
            </a:pPr>
          </a:p>
        </p:txBody>
      </p:sp>
      <p:sp>
        <p:nvSpPr>
          <p:cNvPr id="7" name="图形"/>
          <p:cNvSpPr/>
          <p:nvPr/>
        </p:nvSpPr>
        <p:spPr xmlns:m="http://schemas.openxmlformats.org/officeDocument/2006/math" xmlns:a14="http://schemas.microsoft.com/office/drawing/2010/main">
          <a:xfrm>
            <a:off x="4153534" y="3837305"/>
            <a:ext cx="673736" cy="145669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6544" y="21600"/>
                </a:moveTo>
                <a:lnTo>
                  <a:pt x="4834" y="21600"/>
                </a:lnTo>
                <a:lnTo>
                  <a:pt x="4834" y="5067"/>
                </a:lnTo>
                <a:lnTo>
                  <a:pt x="0" y="5067"/>
                </a:lnTo>
                <a:lnTo>
                  <a:pt x="10689" y="0"/>
                </a:lnTo>
                <a:lnTo>
                  <a:pt x="21600" y="5067"/>
                </a:lnTo>
                <a:lnTo>
                  <a:pt x="16544" y="5067"/>
                </a:lnTo>
                <a:lnTo>
                  <a:pt x="16544" y="21600"/>
                </a:lnTo>
                <a:close/>
              </a:path>
            </a:pathLst>
          </a:custGeom>
          <a:solidFill>
            <a:srgbClr val="F2F2F2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 algn="just">
              <a:lnSpc>
                <a:spcPct val="120000"/>
              </a:lnSpc>
              <a:defRPr sz="800"/>
            </a:pPr>
          </a:p>
        </p:txBody>
      </p:sp>
      <p:sp>
        <p:nvSpPr>
          <p:cNvPr id="8" name="图形"/>
          <p:cNvSpPr/>
          <p:nvPr/>
        </p:nvSpPr>
        <p:spPr xmlns:m="http://schemas.openxmlformats.org/officeDocument/2006/math" xmlns:a14="http://schemas.microsoft.com/office/drawing/2010/main">
          <a:xfrm>
            <a:off x="5538469" y="2527935"/>
            <a:ext cx="675006" cy="166306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5090" y="0"/>
                </a:moveTo>
                <a:lnTo>
                  <a:pt x="16775" y="0"/>
                </a:lnTo>
                <a:lnTo>
                  <a:pt x="16775" y="17161"/>
                </a:lnTo>
                <a:lnTo>
                  <a:pt x="21600" y="17161"/>
                </a:lnTo>
                <a:lnTo>
                  <a:pt x="10933" y="21600"/>
                </a:lnTo>
                <a:lnTo>
                  <a:pt x="0" y="17161"/>
                </a:lnTo>
                <a:lnTo>
                  <a:pt x="5090" y="17161"/>
                </a:lnTo>
                <a:lnTo>
                  <a:pt x="5090" y="0"/>
                </a:lnTo>
                <a:close/>
              </a:path>
            </a:pathLst>
          </a:custGeom>
          <a:solidFill>
            <a:srgbClr val="F2F2F2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 algn="just">
              <a:lnSpc>
                <a:spcPct val="120000"/>
              </a:lnSpc>
              <a:defRPr sz="800"/>
            </a:pPr>
          </a:p>
        </p:txBody>
      </p:sp>
      <p:sp>
        <p:nvSpPr>
          <p:cNvPr id="9" name="图形"/>
          <p:cNvSpPr txBox="1"/>
          <p:nvPr/>
        </p:nvSpPr>
        <p:spPr>
          <a:xfrm>
            <a:off x="5485129" y="5354320"/>
            <a:ext cx="781685" cy="2565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 algn="ctr">
              <a:lnSpc>
                <a:spcPct val="120000"/>
              </a:lnSpc>
              <a:defRPr sz="1100">
                <a:solidFill>
                  <a:srgbClr val="A6A6A6"/>
                </a:solidFill>
              </a:defRPr>
            </a:lvl1pPr>
          </a:lstStyle>
          <a:p>
            <a:pPr>
              <a:defRPr/>
            </a:pPr>
            <a:r>
              <a:rPr/>
              <a:t>2017</a:t>
            </a:r>
          </a:p>
        </p:txBody>
      </p:sp>
      <p:sp>
        <p:nvSpPr>
          <p:cNvPr id="10" name="图形"/>
          <p:cNvSpPr txBox="1"/>
          <p:nvPr/>
        </p:nvSpPr>
        <p:spPr>
          <a:xfrm>
            <a:off x="4098924" y="5354320"/>
            <a:ext cx="781685" cy="2565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 algn="ctr">
              <a:lnSpc>
                <a:spcPct val="120000"/>
              </a:lnSpc>
              <a:defRPr sz="1100">
                <a:solidFill>
                  <a:srgbClr val="A6A6A6"/>
                </a:solidFill>
              </a:defRPr>
            </a:lvl1pPr>
          </a:lstStyle>
          <a:p>
            <a:pPr>
              <a:defRPr/>
            </a:pPr>
            <a:r>
              <a:rPr/>
              <a:t>2018</a:t>
            </a:r>
          </a:p>
        </p:txBody>
      </p:sp>
      <p:sp>
        <p:nvSpPr>
          <p:cNvPr id="11" name="图形"/>
          <p:cNvSpPr txBox="1"/>
          <p:nvPr/>
        </p:nvSpPr>
        <p:spPr>
          <a:xfrm>
            <a:off x="2717799" y="5354320"/>
            <a:ext cx="781685" cy="2565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 algn="ctr">
              <a:lnSpc>
                <a:spcPct val="120000"/>
              </a:lnSpc>
              <a:defRPr sz="1100">
                <a:solidFill>
                  <a:srgbClr val="A6A6A6"/>
                </a:solidFill>
              </a:defRPr>
            </a:lvl1pPr>
          </a:lstStyle>
          <a:p>
            <a:pPr>
              <a:defRPr/>
            </a:pPr>
            <a:r>
              <a:rPr/>
              <a:t>2020</a:t>
            </a:r>
          </a:p>
        </p:txBody>
      </p:sp>
      <p:sp>
        <p:nvSpPr>
          <p:cNvPr id="12" name="图形"/>
          <p:cNvSpPr txBox="1"/>
          <p:nvPr/>
        </p:nvSpPr>
        <p:spPr>
          <a:xfrm>
            <a:off x="1332864" y="5354320"/>
            <a:ext cx="781685" cy="2565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 algn="ctr">
              <a:lnSpc>
                <a:spcPct val="120000"/>
              </a:lnSpc>
              <a:defRPr sz="1100">
                <a:solidFill>
                  <a:srgbClr val="A6A6A6"/>
                </a:solidFill>
              </a:defRPr>
            </a:lvl1pPr>
          </a:lstStyle>
          <a:p>
            <a:pPr>
              <a:defRPr/>
            </a:pPr>
            <a:r>
              <a:rPr/>
              <a:t>2023</a:t>
            </a:r>
          </a:p>
        </p:txBody>
      </p:sp>
      <p:sp>
        <p:nvSpPr>
          <p:cNvPr id="13" name="图形"/>
          <p:cNvSpPr/>
          <p:nvPr/>
        </p:nvSpPr>
        <p:spPr xmlns:m="http://schemas.openxmlformats.org/officeDocument/2006/math" xmlns:a14="http://schemas.microsoft.com/office/drawing/2010/main">
          <a:xfrm>
            <a:off x="6995159" y="4541519"/>
            <a:ext cx="447675" cy="447677"/>
          </a:xfrm>
          <a:prstGeom prst="ellipse">
            <a:avLst/>
          </a:prstGeom>
          <a:gradFill flip="none" rotWithShape="1">
            <a:gsLst>
              <a:gs pos="15000">
                <a:schemeClr val="accent1"/>
              </a:gs>
              <a:gs pos="100000">
                <a:schemeClr val="accent2"/>
              </a:gs>
            </a:gsLst>
            <a:lin ang="27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" name="图形"/>
          <p:cNvSpPr txBox="1"/>
          <p:nvPr/>
        </p:nvSpPr>
        <p:spPr>
          <a:xfrm>
            <a:off x="7539989" y="2068829"/>
            <a:ext cx="3848735" cy="7264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lnSpc>
                <a:spcPct val="150000"/>
              </a:lnSpc>
              <a:defRPr sz="1400"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lvl1pPr>
          </a:lstStyle>
          <a:p>
            <a:pPr>
              <a:defRPr/>
            </a:pPr>
            <a:r>
              <a:rPr/>
              <a:t>2017年，Vaswani等人提出Transformer架构，以自注意力机制取代RNN/LSTM，支持并行化训练。</a:t>
            </a:r>
          </a:p>
        </p:txBody>
      </p:sp>
      <p:sp>
        <p:nvSpPr>
          <p:cNvPr id="15" name="图形"/>
          <p:cNvSpPr txBox="1"/>
          <p:nvPr/>
        </p:nvSpPr>
        <p:spPr>
          <a:xfrm>
            <a:off x="7539989" y="3241039"/>
            <a:ext cx="3848735" cy="7264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lnSpc>
                <a:spcPct val="150000"/>
              </a:lnSpc>
              <a:defRPr sz="1400"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lvl1pPr>
          </a:lstStyle>
          <a:p>
            <a:pPr>
              <a:defRPr/>
            </a:pPr>
            <a:r>
              <a:rPr/>
              <a:t>模型规模：BERT→GPT-2→GPT-3，涌现few-shot学习能力</a:t>
            </a:r>
          </a:p>
        </p:txBody>
      </p:sp>
      <p:sp>
        <p:nvSpPr>
          <p:cNvPr id="16" name="图形"/>
          <p:cNvSpPr txBox="1"/>
          <p:nvPr/>
        </p:nvSpPr>
        <p:spPr>
          <a:xfrm>
            <a:off x="7539989" y="4413250"/>
            <a:ext cx="3848735" cy="7264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lnSpc>
                <a:spcPct val="150000"/>
              </a:lnSpc>
              <a:defRPr sz="1400"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lvl1pPr>
          </a:lstStyle>
          <a:p>
            <a:pPr>
              <a:defRPr/>
            </a:pPr>
            <a:r>
              <a:rPr/>
              <a:t>ChatGPT引入RLHF，GPT-4具备多模态能力，标志AI重大飞跃。</a:t>
            </a:r>
          </a:p>
        </p:txBody>
      </p:sp>
      <p:sp>
        <p:nvSpPr>
          <p:cNvPr id="17" name="图形"/>
          <p:cNvSpPr/>
          <p:nvPr/>
        </p:nvSpPr>
        <p:spPr xmlns:m="http://schemas.openxmlformats.org/officeDocument/2006/math" xmlns:a14="http://schemas.microsoft.com/office/drawing/2010/main">
          <a:xfrm>
            <a:off x="6995794" y="2189479"/>
            <a:ext cx="447675" cy="447677"/>
          </a:xfrm>
          <a:prstGeom prst="ellipse">
            <a:avLst/>
          </a:prstGeom>
          <a:gradFill flip="none" rotWithShape="1">
            <a:gsLst>
              <a:gs pos="15000">
                <a:schemeClr val="accent1"/>
              </a:gs>
              <a:gs pos="100000">
                <a:schemeClr val="accent2"/>
              </a:gs>
            </a:gsLst>
            <a:lin ang="27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" name="图形"/>
          <p:cNvSpPr/>
          <p:nvPr/>
        </p:nvSpPr>
        <p:spPr xmlns:m="http://schemas.openxmlformats.org/officeDocument/2006/math" xmlns:a14="http://schemas.microsoft.com/office/drawing/2010/main">
          <a:xfrm>
            <a:off x="6995794" y="3386455"/>
            <a:ext cx="447675" cy="447677"/>
          </a:xfrm>
          <a:prstGeom prst="ellipse">
            <a:avLst/>
          </a:prstGeom>
          <a:gradFill flip="none" rotWithShape="1">
            <a:gsLst>
              <a:gs pos="15000">
                <a:schemeClr val="accent1"/>
              </a:gs>
              <a:gs pos="100000">
                <a:schemeClr val="accent2"/>
              </a:gs>
            </a:gsLst>
            <a:lin ang="27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" name="图形"/>
          <p:cNvSpPr/>
          <p:nvPr/>
        </p:nvSpPr>
        <p:spPr xmlns:m="http://schemas.openxmlformats.org/officeDocument/2006/math" xmlns:a14="http://schemas.microsoft.com/office/drawing/2010/main">
          <a:xfrm>
            <a:off x="7097394" y="4640580"/>
            <a:ext cx="242571" cy="242571"/>
          </a:xfrm>
          <a:prstGeom prst="ellipse">
            <a:avLst/>
          </a:pr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" name="图形"/>
          <p:cNvSpPr/>
          <p:nvPr/>
        </p:nvSpPr>
        <p:spPr xmlns:m="http://schemas.openxmlformats.org/officeDocument/2006/math" xmlns:a14="http://schemas.microsoft.com/office/drawing/2010/main">
          <a:xfrm>
            <a:off x="7098664" y="2273299"/>
            <a:ext cx="242571" cy="242571"/>
          </a:xfrm>
          <a:prstGeom prst="ellipse">
            <a:avLst/>
          </a:pr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" name="图形"/>
          <p:cNvSpPr/>
          <p:nvPr/>
        </p:nvSpPr>
        <p:spPr xmlns:m="http://schemas.openxmlformats.org/officeDocument/2006/math" xmlns:a14="http://schemas.microsoft.com/office/drawing/2010/main">
          <a:xfrm>
            <a:off x="7098664" y="3462019"/>
            <a:ext cx="242571" cy="242571"/>
          </a:xfrm>
          <a:prstGeom prst="ellipse">
            <a:avLst/>
          </a:pr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图形"/>
          <p:cNvSpPr txBox="1"/>
          <p:nvPr/>
        </p:nvSpPr>
        <p:spPr>
          <a:xfrm>
            <a:off x="722629" y="464819"/>
            <a:ext cx="3040382" cy="726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just">
              <a:defRPr b="1" sz="3600">
                <a:solidFill>
                  <a:srgbClr val="262626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AI发展史</a:t>
            </a:r>
          </a:p>
        </p:txBody>
      </p:sp>
      <p:sp>
        <p:nvSpPr>
          <p:cNvPr id="3" name="图形"/>
          <p:cNvSpPr txBox="1"/>
          <p:nvPr/>
        </p:nvSpPr>
        <p:spPr>
          <a:xfrm>
            <a:off x="722629" y="464819"/>
            <a:ext cx="3040382" cy="726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just">
              <a:defRPr b="1" sz="3600">
                <a:solidFill>
                  <a:srgbClr val="262626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第14页</a:t>
            </a:r>
          </a:p>
        </p:txBody>
      </p:sp>
      <p:sp>
        <p:nvSpPr>
          <p:cNvPr id="4" name="图形"/>
          <p:cNvSpPr txBox="1"/>
          <p:nvPr/>
        </p:nvSpPr>
        <p:spPr>
          <a:xfrm>
            <a:off x="775335" y="1616074"/>
            <a:ext cx="5361304" cy="147828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defRPr/>
            </a:lvl1pPr>
          </a:lstStyle>
          <a:p>
            <a:pPr>
              <a:lnSpc>
                <a:spcPct val="90000"/>
              </a:lnSpc>
              <a:spcBef>
                <a:spcPts val="1000"/>
              </a:spcBef>
              <a:defRPr b="1" sz="4000">
                <a:solidFill>
                  <a:srgbClr val="262626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pPr>
            <a:r>
              <a:rPr/>
              <a:t>大模型时代</a:t>
            </a:r>
            <a:endParaRPr sz="2400"/>
          </a:p>
          <a:p>
            <a:pPr>
              <a:lnSpc>
                <a:spcPct val="90000"/>
              </a:lnSpc>
              <a:spcBef>
                <a:spcPts val="1000"/>
              </a:spcBef>
              <a:defRPr sz="4000">
                <a:solidFill>
                  <a:schemeClr val="accent1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pPr>
            <a:r>
              <a:rPr/>
              <a:t>涌现能力与未来方向</a:t>
            </a:r>
          </a:p>
        </p:txBody>
      </p:sp>
      <p:sp>
        <p:nvSpPr>
          <p:cNvPr id="5" name="图形"/>
          <p:cNvSpPr txBox="1"/>
          <p:nvPr/>
        </p:nvSpPr>
        <p:spPr>
          <a:xfrm>
            <a:off x="775335" y="3041014"/>
            <a:ext cx="5361939" cy="11074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lnSpc>
                <a:spcPct val="150000"/>
              </a:lnSpc>
              <a:defRPr sz="1400">
                <a:solidFill>
                  <a:srgbClr val="404040"/>
                </a:solidFill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lvl1pPr>
          </a:lstStyle>
          <a:p>
            <a:pPr>
              <a:defRPr/>
            </a:pPr>
            <a:r>
              <a:rPr/>
              <a:t>当大模型规模突破临界点，涌现出训练时未明确优化的能力；历史教训与前沿方向共同指引AI走向通用智能。</a:t>
            </a:r>
          </a:p>
        </p:txBody>
      </p:sp>
      <p:pic>
        <p:nvPicPr>
          <p:cNvPr id="6" name="图形" descr="llm_growth_performance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6182994" y="2563564"/>
            <a:ext cx="5156200" cy="2188071"/>
          </a:xfrm>
          <a:prstGeom prst="rect">
            <a:avLst/>
          </a:prstGeom>
        </p:spPr>
      </p:pic>
      <p:sp>
        <p:nvSpPr>
          <p:cNvPr id="7" name="图形"/>
          <p:cNvSpPr txBox="1"/>
          <p:nvPr/>
        </p:nvSpPr>
        <p:spPr>
          <a:xfrm>
            <a:off x="848359" y="4662169"/>
            <a:ext cx="2112646" cy="9550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lnSpc>
                <a:spcPct val="150000"/>
              </a:lnSpc>
              <a:defRPr sz="1200">
                <a:solidFill>
                  <a:srgbClr val="404040"/>
                </a:solidFill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lvl1pPr>
          </a:lstStyle>
          <a:p>
            <a:pPr>
              <a:defRPr/>
            </a:pPr>
            <a:r>
              <a:rPr/>
              <a:t>模型参数规模指数增长与AI能力里程碑演进（1958–2022）</a:t>
            </a:r>
          </a:p>
        </p:txBody>
      </p:sp>
      <p:sp>
        <p:nvSpPr>
          <p:cNvPr id="8" name="矩形"/>
          <p:cNvSpPr/>
          <p:nvPr/>
        </p:nvSpPr>
        <p:spPr xmlns:m="http://schemas.openxmlformats.org/officeDocument/2006/math" xmlns:a14="http://schemas.microsoft.com/office/drawing/2010/main">
          <a:xfrm>
            <a:off x="900429" y="4328159"/>
            <a:ext cx="1520826" cy="307341"/>
          </a:xfrm>
          <a:prstGeom prst="rect">
            <a:avLst/>
          </a:prstGeom>
          <a:gradFill flip="none" rotWithShape="1">
            <a:gsLst>
              <a:gs pos="15000">
                <a:schemeClr val="accent1"/>
              </a:gs>
              <a:gs pos="100000">
                <a:schemeClr val="accent2"/>
              </a:gs>
            </a:gsLst>
            <a:lin ang="27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1400">
                <a:solidFill>
                  <a:srgbClr val="FFFFFF"/>
                </a:solidFill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pPr>
          </a:p>
        </p:txBody>
      </p:sp>
      <p:sp>
        <p:nvSpPr>
          <p:cNvPr id="9" name="预设标题文本"/>
          <p:cNvSpPr txBox="1"/>
          <p:nvPr/>
        </p:nvSpPr>
        <p:spPr>
          <a:xfrm>
            <a:off x="900429" y="4354829"/>
            <a:ext cx="1520826" cy="25400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0" tIns="0" rIns="0" bIns="0" numCol="1" anchor="ctr">
            <a:spAutoFit/>
          </a:bodyPr>
          <a:lstStyle>
            <a:lvl1pPr algn="ctr">
              <a:defRPr sz="1400">
                <a:solidFill>
                  <a:srgbClr val="FFFFFF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涌现能力</a:t>
            </a:r>
          </a:p>
        </p:txBody>
      </p:sp>
      <p:sp>
        <p:nvSpPr>
          <p:cNvPr id="10" name="图形"/>
          <p:cNvSpPr txBox="1"/>
          <p:nvPr/>
        </p:nvSpPr>
        <p:spPr>
          <a:xfrm>
            <a:off x="3380104" y="4662169"/>
            <a:ext cx="2112645" cy="9550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lnSpc>
                <a:spcPct val="150000"/>
              </a:lnSpc>
              <a:defRPr sz="1200">
                <a:solidFill>
                  <a:srgbClr val="404040"/>
                </a:solidFill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lvl1pPr>
          </a:lstStyle>
          <a:p>
            <a:pPr>
              <a:defRPr/>
            </a:pPr>
            <a:r>
              <a:rPr/>
              <a:t>思维链推理、上下文学习、指令遵循——规模突破临界点后自发涌现的三大核心能力。</a:t>
            </a:r>
          </a:p>
        </p:txBody>
      </p:sp>
      <p:sp>
        <p:nvSpPr>
          <p:cNvPr id="11" name="矩形"/>
          <p:cNvSpPr/>
          <p:nvPr/>
        </p:nvSpPr>
        <p:spPr xmlns:m="http://schemas.openxmlformats.org/officeDocument/2006/math" xmlns:a14="http://schemas.microsoft.com/office/drawing/2010/main">
          <a:xfrm>
            <a:off x="3432174" y="4328159"/>
            <a:ext cx="1520825" cy="307341"/>
          </a:xfrm>
          <a:prstGeom prst="rect">
            <a:avLst/>
          </a:prstGeom>
          <a:gradFill flip="none" rotWithShape="1">
            <a:gsLst>
              <a:gs pos="15000">
                <a:schemeClr val="accent1"/>
              </a:gs>
              <a:gs pos="100000">
                <a:schemeClr val="accent2"/>
              </a:gs>
            </a:gsLst>
            <a:lin ang="27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1400">
                <a:solidFill>
                  <a:srgbClr val="FFFFFF"/>
                </a:solidFill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pPr>
          </a:p>
        </p:txBody>
      </p:sp>
      <p:sp>
        <p:nvSpPr>
          <p:cNvPr id="12" name="预设标题文本"/>
          <p:cNvSpPr txBox="1"/>
          <p:nvPr/>
        </p:nvSpPr>
        <p:spPr>
          <a:xfrm>
            <a:off x="3432174" y="4354829"/>
            <a:ext cx="1520825" cy="25400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0" tIns="0" rIns="0" bIns="0" numCol="1" anchor="ctr">
            <a:spAutoFit/>
          </a:bodyPr>
          <a:lstStyle>
            <a:lvl1pPr algn="ctr">
              <a:defRPr sz="1400">
                <a:solidFill>
                  <a:srgbClr val="FFFFFF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未来方向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图形" descr="6b15b2b44a99abb9a7cb4a896242c5aaf878cd05.png"/>
          <p:cNvPicPr>
            <a:picLocks noChangeAspect="1"/>
          </p:cNvPicPr>
          <p:nvPr/>
        </p:nvPicPr>
        <p:blipFill>
          <a:blip r:embed="rId2"/>
          <a:srcRect l="7597" r="7596"/>
          <a:stretch>
            <a:fillRect/>
          </a:stretch>
        </p:blipFill>
        <p:spPr>
          <a:xfrm>
            <a:off x="0" y="12700"/>
            <a:ext cx="12192001" cy="6845300"/>
          </a:xfrm>
          <a:prstGeom prst="rect">
            <a:avLst/>
          </a:prstGeom>
        </p:spPr>
      </p:pic>
      <p:sp>
        <p:nvSpPr>
          <p:cNvPr id="3" name="图形"/>
          <p:cNvSpPr/>
          <p:nvPr/>
        </p:nvSpPr>
        <p:spPr xmlns:m="http://schemas.openxmlformats.org/officeDocument/2006/math" xmlns:a14="http://schemas.microsoft.com/office/drawing/2010/main">
          <a:xfrm>
            <a:off x="0" y="0"/>
            <a:ext cx="12192635" cy="6858000"/>
          </a:xfrm>
          <a:prstGeom prst="rect">
            <a:avLst/>
          </a:prstGeom>
          <a:gradFill>
            <a:gsLst>
              <a:gs pos="0">
                <a:srgbClr val="F2F6FE">
                  <a:alpha val="69000"/>
                </a:srgbClr>
              </a:gs>
              <a:gs pos="40000">
                <a:srgbClr val="F2F6FE">
                  <a:alpha val="0"/>
                </a:srgbClr>
              </a:gs>
            </a:gsLst>
            <a:lin ang="5400000"/>
          </a:gradFill>
          <a:ln w="12700">
            <a:miter lim="400000"/>
          </a:ln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" name="图形"/>
          <p:cNvSpPr txBox="1"/>
          <p:nvPr/>
        </p:nvSpPr>
        <p:spPr>
          <a:xfrm>
            <a:off x="513079" y="763269"/>
            <a:ext cx="6514466" cy="1551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9600">
                <a:ln w="31750" cap="flat">
                  <a:solidFill>
                    <a:srgbClr val="79BCFB">
                      <a:alpha val="50000"/>
                    </a:srgbClr>
                  </a:solidFill>
                  <a:prstDash val="solid"/>
                  <a:round/>
                </a:ln>
                <a:noFill/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>
              <a:defRPr/>
            </a:pPr>
            <a:r>
              <a:rPr sz="9400"/>
              <a:t>谢谢！</a:t>
            </a:r>
          </a:p>
        </p:txBody>
      </p:sp>
      <p:sp>
        <p:nvSpPr>
          <p:cNvPr id="5" name="图形"/>
          <p:cNvSpPr txBox="1"/>
          <p:nvPr/>
        </p:nvSpPr>
        <p:spPr>
          <a:xfrm>
            <a:off x="429260" y="1379219"/>
            <a:ext cx="8176895" cy="1869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0000">
                <a:solidFill>
                  <a:srgbClr val="007EE8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感谢聆听</a:t>
            </a:r>
          </a:p>
        </p:txBody>
      </p:sp>
      <p:sp>
        <p:nvSpPr>
          <p:cNvPr id="6" name="图形"/>
          <p:cNvSpPr txBox="1"/>
          <p:nvPr/>
        </p:nvSpPr>
        <p:spPr>
          <a:xfrm>
            <a:off x="511809" y="3361054"/>
            <a:ext cx="6502401" cy="739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/>
            </a:lvl1pPr>
          </a:lstStyle>
          <a:p>
            <a:pPr>
              <a:lnSpc>
                <a:spcPct val="200000"/>
              </a:lnSpc>
              <a:defRPr sz="1400">
                <a:solidFill>
                  <a:srgbClr val="808080"/>
                </a:solidFill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  <a:r>
              <a:rPr/>
              <a:t>感谢您的时间与关注，期待与您共同探索 AI 的未来！</a:t>
            </a:r>
          </a:p>
          <a:p>
            <a:pPr>
              <a:lnSpc>
                <a:spcPct val="200000"/>
              </a:lnSpc>
              <a:defRPr sz="1400">
                <a:solidFill>
                  <a:srgbClr val="808080"/>
                </a:solidFill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  <a:r>
              <a:rPr/>
              <a:t>如有任何问题或交流，欢迎随时与我们联系探讨。</a:t>
            </a:r>
          </a:p>
        </p:txBody>
      </p:sp>
      <p:sp>
        <p:nvSpPr>
          <p:cNvPr id="7" name="图形"/>
          <p:cNvSpPr txBox="1"/>
          <p:nvPr/>
        </p:nvSpPr>
        <p:spPr>
          <a:xfrm>
            <a:off x="722629" y="464819"/>
            <a:ext cx="3040382" cy="726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just">
              <a:defRPr b="1" sz="3600">
                <a:solidFill>
                  <a:srgbClr val="262626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结束语</a:t>
            </a:r>
          </a:p>
        </p:txBody>
      </p:sp>
      <p:sp>
        <p:nvSpPr>
          <p:cNvPr id="8" name="图形"/>
          <p:cNvSpPr/>
          <p:nvPr/>
        </p:nvSpPr>
        <p:spPr xmlns:m="http://schemas.openxmlformats.org/officeDocument/2006/math" xmlns:a14="http://schemas.microsoft.com/office/drawing/2010/main">
          <a:xfrm>
            <a:off x="2371724" y="2976244"/>
            <a:ext cx="4533901" cy="42672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21600"/>
                </a:moveTo>
                <a:lnTo>
                  <a:pt x="508" y="0"/>
                </a:lnTo>
                <a:lnTo>
                  <a:pt x="21600" y="0"/>
                </a:lnTo>
                <a:lnTo>
                  <a:pt x="21092" y="21600"/>
                </a:lnTo>
                <a:close/>
              </a:path>
            </a:pathLst>
          </a:custGeom>
          <a:gradFill flip="none" rotWithShape="1">
            <a:gsLst>
              <a:gs pos="0">
                <a:srgbClr val="76BEFC">
                  <a:alpha val="46000"/>
                </a:srgbClr>
              </a:gs>
              <a:gs pos="66000">
                <a:srgbClr val="34ACFD">
                  <a:alpha val="0"/>
                </a:srgbClr>
              </a:gs>
            </a:gsLst>
            <a:lin ang="108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" name="图形"/>
          <p:cNvSpPr txBox="1"/>
          <p:nvPr/>
        </p:nvSpPr>
        <p:spPr>
          <a:xfrm>
            <a:off x="553719" y="2908935"/>
            <a:ext cx="6035675" cy="5994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defRPr/>
            </a:lvl1pPr>
          </a:lstStyle>
          <a:p>
            <a:pPr algn="just">
              <a:defRPr sz="2800">
                <a:latin typeface="思源宋体 CN Heavy"/>
                <a:ea typeface="思源宋体 CN Heavy"/>
                <a:cs typeface="思源宋体 CN Heavy"/>
                <a:sym typeface="思源宋体 CN Heavy"/>
              </a:defRPr>
            </a:pPr>
            <a:r>
              <a:rPr/>
              <a:t>AI 发展历程</a:t>
            </a:r>
          </a:p>
        </p:txBody>
      </p:sp>
      <p:sp>
        <p:nvSpPr>
          <p:cNvPr id="10" name="图形"/>
          <p:cNvSpPr/>
          <p:nvPr/>
        </p:nvSpPr>
        <p:spPr xmlns:m="http://schemas.openxmlformats.org/officeDocument/2006/math" xmlns:a14="http://schemas.microsoft.com/office/drawing/2010/main">
          <a:xfrm>
            <a:off x="727709" y="4528184"/>
            <a:ext cx="1925321" cy="45910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21600"/>
                </a:moveTo>
                <a:lnTo>
                  <a:pt x="1288" y="0"/>
                </a:lnTo>
                <a:lnTo>
                  <a:pt x="21600" y="0"/>
                </a:lnTo>
                <a:lnTo>
                  <a:pt x="20312" y="21600"/>
                </a:lnTo>
                <a:close/>
              </a:path>
            </a:pathLst>
          </a:custGeom>
          <a:solidFill>
            <a:srgbClr val="FFFFFF">
              <a:alpha val="21000"/>
            </a:srgbClr>
          </a:solidFill>
          <a:ln w="3175" cap="flat">
            <a:solidFill>
              <a:srgbClr val="9AD6FE"/>
            </a:solidFill>
            <a:prstDash val="solid"/>
            <a:miter lim="8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1200">
                <a:solidFill>
                  <a:srgbClr val="FDCFB8"/>
                </a:solidFill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</a:p>
        </p:txBody>
      </p:sp>
      <p:sp>
        <p:nvSpPr>
          <p:cNvPr id="11" name="图形"/>
          <p:cNvSpPr/>
          <p:nvPr/>
        </p:nvSpPr>
        <p:spPr xmlns:m="http://schemas.openxmlformats.org/officeDocument/2006/math" xmlns:a14="http://schemas.microsoft.com/office/drawing/2010/main">
          <a:xfrm>
            <a:off x="3034030" y="4528184"/>
            <a:ext cx="1920875" cy="45910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21600"/>
                </a:moveTo>
                <a:lnTo>
                  <a:pt x="1291" y="0"/>
                </a:lnTo>
                <a:lnTo>
                  <a:pt x="21600" y="0"/>
                </a:lnTo>
                <a:lnTo>
                  <a:pt x="20309" y="21600"/>
                </a:lnTo>
                <a:close/>
              </a:path>
            </a:pathLst>
          </a:custGeom>
          <a:solidFill>
            <a:srgbClr val="FFFFFF">
              <a:alpha val="21000"/>
            </a:srgbClr>
          </a:solidFill>
          <a:ln w="3175" cap="flat">
            <a:solidFill>
              <a:srgbClr val="9AD6FE"/>
            </a:solidFill>
            <a:prstDash val="solid"/>
            <a:miter lim="8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1200">
                <a:solidFill>
                  <a:srgbClr val="FDCFB8"/>
                </a:solidFill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</a:p>
        </p:txBody>
      </p:sp>
      <p:sp>
        <p:nvSpPr>
          <p:cNvPr id="12" name="图形"/>
          <p:cNvSpPr txBox="1"/>
          <p:nvPr/>
        </p:nvSpPr>
        <p:spPr>
          <a:xfrm>
            <a:off x="1219199" y="4568189"/>
            <a:ext cx="1132206" cy="37084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defRPr/>
            </a:lvl1pPr>
          </a:lstStyle>
          <a:p>
            <a:pPr algn="just">
              <a:defRPr b="1" sz="1600">
                <a:solidFill>
                  <a:srgbClr val="262626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pPr>
            <a:r>
              <a:rPr/>
              <a:t>AI</a:t>
            </a:r>
          </a:p>
        </p:txBody>
      </p:sp>
      <p:sp>
        <p:nvSpPr>
          <p:cNvPr id="13" name="图形"/>
          <p:cNvSpPr txBox="1"/>
          <p:nvPr/>
        </p:nvSpPr>
        <p:spPr>
          <a:xfrm>
            <a:off x="3438525" y="4587238"/>
            <a:ext cx="1354456" cy="37084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 algn="just">
              <a:defRPr b="1" sz="1600">
                <a:solidFill>
                  <a:srgbClr val="262626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致谢</a:t>
            </a:r>
          </a:p>
        </p:txBody>
      </p:sp>
      <p:sp>
        <p:nvSpPr>
          <p:cNvPr id="14" name="图形"/>
          <p:cNvSpPr/>
          <p:nvPr/>
        </p:nvSpPr>
        <p:spPr xmlns:m="http://schemas.openxmlformats.org/officeDocument/2006/math" xmlns:a14="http://schemas.microsoft.com/office/drawing/2010/main">
          <a:xfrm>
            <a:off x="535304" y="4528184"/>
            <a:ext cx="636906" cy="45910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21600"/>
                </a:moveTo>
                <a:lnTo>
                  <a:pt x="3893" y="0"/>
                </a:lnTo>
                <a:lnTo>
                  <a:pt x="21600" y="0"/>
                </a:lnTo>
                <a:lnTo>
                  <a:pt x="17707" y="21600"/>
                </a:lnTo>
                <a:close/>
              </a:path>
            </a:pathLst>
          </a:cu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10800000" scaled="0"/>
          </a:gradFill>
          <a:ln w="12700" cap="flat">
            <a:noFill/>
            <a:miter lim="400000"/>
          </a:ln>
          <a:effectLst>
            <a:outerShdw sx="100000" sy="100000" kx="0" ky="0" algn="b" rotWithShape="0" blurRad="355600" dist="0" dir="0">
              <a:srgbClr val="000000">
                <a:alpha val="10000"/>
              </a:srgb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1200">
                <a:solidFill>
                  <a:srgbClr val="FFFFFF"/>
                </a:solidFill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</a:p>
        </p:txBody>
      </p:sp>
      <p:sp>
        <p:nvSpPr>
          <p:cNvPr id="15" name="图形"/>
          <p:cNvSpPr/>
          <p:nvPr/>
        </p:nvSpPr>
        <p:spPr xmlns:m="http://schemas.openxmlformats.org/officeDocument/2006/math" xmlns:a14="http://schemas.microsoft.com/office/drawing/2010/main">
          <a:xfrm>
            <a:off x="2840990" y="4528184"/>
            <a:ext cx="636906" cy="45910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21600"/>
                </a:moveTo>
                <a:lnTo>
                  <a:pt x="3893" y="0"/>
                </a:lnTo>
                <a:lnTo>
                  <a:pt x="21600" y="0"/>
                </a:lnTo>
                <a:lnTo>
                  <a:pt x="17707" y="21600"/>
                </a:lnTo>
                <a:close/>
              </a:path>
            </a:pathLst>
          </a:cu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10800000" scaled="0"/>
          </a:gradFill>
          <a:ln w="12700" cap="flat">
            <a:noFill/>
            <a:miter lim="400000"/>
          </a:ln>
          <a:effectLst>
            <a:outerShdw sx="100000" sy="100000" kx="0" ky="0" algn="b" rotWithShape="0" blurRad="355600" dist="0" dir="0">
              <a:srgbClr val="000000">
                <a:alpha val="10000"/>
              </a:srgb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1200">
                <a:solidFill>
                  <a:srgbClr val="FFFFFF"/>
                </a:solidFill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</a:p>
        </p:txBody>
      </p:sp>
      <p:sp>
        <p:nvSpPr>
          <p:cNvPr id="16" name="图形"/>
          <p:cNvSpPr/>
          <p:nvPr/>
        </p:nvSpPr>
        <p:spPr xmlns:m="http://schemas.openxmlformats.org/officeDocument/2006/math" xmlns:a14="http://schemas.microsoft.com/office/drawing/2010/main">
          <a:xfrm>
            <a:off x="3205676" y="4740412"/>
            <a:ext cx="102675" cy="8116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6200" y="0"/>
                </a:moveTo>
                <a:lnTo>
                  <a:pt x="8640" y="7104"/>
                </a:lnTo>
                <a:lnTo>
                  <a:pt x="1779" y="574"/>
                </a:lnTo>
                <a:lnTo>
                  <a:pt x="889" y="2225"/>
                </a:lnTo>
                <a:lnTo>
                  <a:pt x="0" y="3588"/>
                </a:lnTo>
                <a:lnTo>
                  <a:pt x="1525" y="5023"/>
                </a:lnTo>
                <a:lnTo>
                  <a:pt x="2986" y="6817"/>
                </a:lnTo>
                <a:lnTo>
                  <a:pt x="4320" y="8755"/>
                </a:lnTo>
                <a:lnTo>
                  <a:pt x="5336" y="10692"/>
                </a:lnTo>
                <a:lnTo>
                  <a:pt x="6289" y="12917"/>
                </a:lnTo>
                <a:lnTo>
                  <a:pt x="6925" y="15285"/>
                </a:lnTo>
                <a:lnTo>
                  <a:pt x="7306" y="17797"/>
                </a:lnTo>
                <a:lnTo>
                  <a:pt x="7433" y="20308"/>
                </a:lnTo>
                <a:lnTo>
                  <a:pt x="7306" y="21600"/>
                </a:lnTo>
                <a:lnTo>
                  <a:pt x="8640" y="21600"/>
                </a:lnTo>
                <a:lnTo>
                  <a:pt x="10609" y="21456"/>
                </a:lnTo>
                <a:lnTo>
                  <a:pt x="12706" y="21026"/>
                </a:lnTo>
                <a:lnTo>
                  <a:pt x="14802" y="20452"/>
                </a:lnTo>
                <a:lnTo>
                  <a:pt x="16899" y="19375"/>
                </a:lnTo>
                <a:lnTo>
                  <a:pt x="17915" y="18801"/>
                </a:lnTo>
                <a:lnTo>
                  <a:pt x="18741" y="18084"/>
                </a:lnTo>
                <a:lnTo>
                  <a:pt x="19504" y="17366"/>
                </a:lnTo>
                <a:lnTo>
                  <a:pt x="20266" y="16433"/>
                </a:lnTo>
                <a:lnTo>
                  <a:pt x="20838" y="15572"/>
                </a:lnTo>
                <a:lnTo>
                  <a:pt x="21219" y="14639"/>
                </a:lnTo>
                <a:lnTo>
                  <a:pt x="21473" y="13635"/>
                </a:lnTo>
                <a:lnTo>
                  <a:pt x="21600" y="12630"/>
                </a:lnTo>
                <a:lnTo>
                  <a:pt x="21473" y="10692"/>
                </a:lnTo>
                <a:lnTo>
                  <a:pt x="21219" y="8755"/>
                </a:lnTo>
                <a:lnTo>
                  <a:pt x="20838" y="6961"/>
                </a:lnTo>
                <a:lnTo>
                  <a:pt x="20139" y="5310"/>
                </a:lnTo>
                <a:lnTo>
                  <a:pt x="19376" y="3875"/>
                </a:lnTo>
                <a:lnTo>
                  <a:pt x="18424" y="2368"/>
                </a:lnTo>
                <a:lnTo>
                  <a:pt x="17407" y="1076"/>
                </a:lnTo>
                <a:lnTo>
                  <a:pt x="16200" y="0"/>
                </a:lnTo>
                <a:close/>
              </a:path>
            </a:pathLst>
          </a:cu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/>
          </a:p>
        </p:txBody>
      </p:sp>
      <p:sp>
        <p:nvSpPr>
          <p:cNvPr id="17" name="图形"/>
          <p:cNvSpPr/>
          <p:nvPr/>
        </p:nvSpPr>
        <p:spPr xmlns:m="http://schemas.openxmlformats.org/officeDocument/2006/math" xmlns:a14="http://schemas.microsoft.com/office/drawing/2010/main">
          <a:xfrm>
            <a:off x="3206280" y="4657089"/>
            <a:ext cx="83952" cy="7658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3807" y="17113"/>
                </a:moveTo>
                <a:lnTo>
                  <a:pt x="3807" y="18177"/>
                </a:lnTo>
                <a:lnTo>
                  <a:pt x="3652" y="19394"/>
                </a:lnTo>
                <a:lnTo>
                  <a:pt x="5128" y="20383"/>
                </a:lnTo>
                <a:lnTo>
                  <a:pt x="6837" y="20992"/>
                </a:lnTo>
                <a:lnTo>
                  <a:pt x="8624" y="21448"/>
                </a:lnTo>
                <a:lnTo>
                  <a:pt x="10412" y="21600"/>
                </a:lnTo>
                <a:lnTo>
                  <a:pt x="11499" y="21600"/>
                </a:lnTo>
                <a:lnTo>
                  <a:pt x="12665" y="21448"/>
                </a:lnTo>
                <a:lnTo>
                  <a:pt x="13753" y="21144"/>
                </a:lnTo>
                <a:lnTo>
                  <a:pt x="14685" y="20839"/>
                </a:lnTo>
                <a:lnTo>
                  <a:pt x="15695" y="20383"/>
                </a:lnTo>
                <a:lnTo>
                  <a:pt x="16627" y="19775"/>
                </a:lnTo>
                <a:lnTo>
                  <a:pt x="17404" y="19090"/>
                </a:lnTo>
                <a:lnTo>
                  <a:pt x="18259" y="18482"/>
                </a:lnTo>
                <a:lnTo>
                  <a:pt x="19036" y="17721"/>
                </a:lnTo>
                <a:lnTo>
                  <a:pt x="19658" y="16885"/>
                </a:lnTo>
                <a:lnTo>
                  <a:pt x="20201" y="15972"/>
                </a:lnTo>
                <a:lnTo>
                  <a:pt x="20668" y="15059"/>
                </a:lnTo>
                <a:lnTo>
                  <a:pt x="21134" y="14070"/>
                </a:lnTo>
                <a:lnTo>
                  <a:pt x="21289" y="13006"/>
                </a:lnTo>
                <a:lnTo>
                  <a:pt x="21445" y="11865"/>
                </a:lnTo>
                <a:lnTo>
                  <a:pt x="21600" y="10800"/>
                </a:lnTo>
                <a:lnTo>
                  <a:pt x="21445" y="9735"/>
                </a:lnTo>
                <a:lnTo>
                  <a:pt x="21289" y="8594"/>
                </a:lnTo>
                <a:lnTo>
                  <a:pt x="21134" y="7530"/>
                </a:lnTo>
                <a:lnTo>
                  <a:pt x="20668" y="6541"/>
                </a:lnTo>
                <a:lnTo>
                  <a:pt x="20201" y="5628"/>
                </a:lnTo>
                <a:lnTo>
                  <a:pt x="19658" y="4715"/>
                </a:lnTo>
                <a:lnTo>
                  <a:pt x="19036" y="3879"/>
                </a:lnTo>
                <a:lnTo>
                  <a:pt x="18259" y="3118"/>
                </a:lnTo>
                <a:lnTo>
                  <a:pt x="17404" y="2358"/>
                </a:lnTo>
                <a:lnTo>
                  <a:pt x="16627" y="1673"/>
                </a:lnTo>
                <a:lnTo>
                  <a:pt x="15695" y="1217"/>
                </a:lnTo>
                <a:lnTo>
                  <a:pt x="14685" y="761"/>
                </a:lnTo>
                <a:lnTo>
                  <a:pt x="13753" y="456"/>
                </a:lnTo>
                <a:lnTo>
                  <a:pt x="12665" y="152"/>
                </a:lnTo>
                <a:lnTo>
                  <a:pt x="11499" y="0"/>
                </a:lnTo>
                <a:lnTo>
                  <a:pt x="8624" y="0"/>
                </a:lnTo>
                <a:lnTo>
                  <a:pt x="6993" y="456"/>
                </a:lnTo>
                <a:lnTo>
                  <a:pt x="5439" y="1065"/>
                </a:lnTo>
                <a:lnTo>
                  <a:pt x="3963" y="1825"/>
                </a:lnTo>
                <a:lnTo>
                  <a:pt x="2719" y="2966"/>
                </a:lnTo>
                <a:lnTo>
                  <a:pt x="1554" y="4183"/>
                </a:lnTo>
                <a:lnTo>
                  <a:pt x="777" y="5476"/>
                </a:lnTo>
                <a:lnTo>
                  <a:pt x="0" y="6997"/>
                </a:lnTo>
                <a:lnTo>
                  <a:pt x="932" y="8138"/>
                </a:lnTo>
                <a:lnTo>
                  <a:pt x="1554" y="9203"/>
                </a:lnTo>
                <a:lnTo>
                  <a:pt x="2176" y="10344"/>
                </a:lnTo>
                <a:lnTo>
                  <a:pt x="2875" y="11561"/>
                </a:lnTo>
                <a:lnTo>
                  <a:pt x="3341" y="12854"/>
                </a:lnTo>
                <a:lnTo>
                  <a:pt x="3652" y="14223"/>
                </a:lnTo>
                <a:lnTo>
                  <a:pt x="3807" y="15668"/>
                </a:lnTo>
                <a:lnTo>
                  <a:pt x="3807" y="17113"/>
                </a:lnTo>
                <a:close/>
              </a:path>
            </a:pathLst>
          </a:cu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/>
          </a:p>
        </p:txBody>
      </p:sp>
      <p:sp>
        <p:nvSpPr>
          <p:cNvPr id="18" name="图形"/>
          <p:cNvSpPr/>
          <p:nvPr/>
        </p:nvSpPr>
        <p:spPr xmlns:m="http://schemas.openxmlformats.org/officeDocument/2006/math" xmlns:a14="http://schemas.microsoft.com/office/drawing/2010/main">
          <a:xfrm>
            <a:off x="3011804" y="4740412"/>
            <a:ext cx="103279" cy="8116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2884" y="21600"/>
                </a:moveTo>
                <a:lnTo>
                  <a:pt x="14211" y="21600"/>
                </a:lnTo>
                <a:lnTo>
                  <a:pt x="14211" y="20308"/>
                </a:lnTo>
                <a:lnTo>
                  <a:pt x="14337" y="17797"/>
                </a:lnTo>
                <a:lnTo>
                  <a:pt x="14716" y="15285"/>
                </a:lnTo>
                <a:lnTo>
                  <a:pt x="15347" y="12917"/>
                </a:lnTo>
                <a:lnTo>
                  <a:pt x="16168" y="10692"/>
                </a:lnTo>
                <a:lnTo>
                  <a:pt x="17179" y="8755"/>
                </a:lnTo>
                <a:lnTo>
                  <a:pt x="18505" y="6817"/>
                </a:lnTo>
                <a:lnTo>
                  <a:pt x="19958" y="5023"/>
                </a:lnTo>
                <a:lnTo>
                  <a:pt x="21600" y="3588"/>
                </a:lnTo>
                <a:lnTo>
                  <a:pt x="20589" y="2225"/>
                </a:lnTo>
                <a:lnTo>
                  <a:pt x="19768" y="574"/>
                </a:lnTo>
                <a:lnTo>
                  <a:pt x="12884" y="7104"/>
                </a:lnTo>
                <a:lnTo>
                  <a:pt x="5305" y="0"/>
                </a:lnTo>
                <a:lnTo>
                  <a:pt x="4168" y="1076"/>
                </a:lnTo>
                <a:lnTo>
                  <a:pt x="3095" y="2368"/>
                </a:lnTo>
                <a:lnTo>
                  <a:pt x="2211" y="3875"/>
                </a:lnTo>
                <a:lnTo>
                  <a:pt x="1453" y="5310"/>
                </a:lnTo>
                <a:lnTo>
                  <a:pt x="884" y="6961"/>
                </a:lnTo>
                <a:lnTo>
                  <a:pt x="379" y="8755"/>
                </a:lnTo>
                <a:lnTo>
                  <a:pt x="126" y="10692"/>
                </a:lnTo>
                <a:lnTo>
                  <a:pt x="0" y="12630"/>
                </a:lnTo>
                <a:lnTo>
                  <a:pt x="126" y="13635"/>
                </a:lnTo>
                <a:lnTo>
                  <a:pt x="379" y="14639"/>
                </a:lnTo>
                <a:lnTo>
                  <a:pt x="758" y="15572"/>
                </a:lnTo>
                <a:lnTo>
                  <a:pt x="1453" y="16433"/>
                </a:lnTo>
                <a:lnTo>
                  <a:pt x="2084" y="17366"/>
                </a:lnTo>
                <a:lnTo>
                  <a:pt x="2842" y="18084"/>
                </a:lnTo>
                <a:lnTo>
                  <a:pt x="3789" y="18801"/>
                </a:lnTo>
                <a:lnTo>
                  <a:pt x="4674" y="19375"/>
                </a:lnTo>
                <a:lnTo>
                  <a:pt x="6758" y="20452"/>
                </a:lnTo>
                <a:lnTo>
                  <a:pt x="8842" y="21026"/>
                </a:lnTo>
                <a:lnTo>
                  <a:pt x="10926" y="21456"/>
                </a:lnTo>
                <a:lnTo>
                  <a:pt x="12884" y="21600"/>
                </a:lnTo>
                <a:close/>
              </a:path>
            </a:pathLst>
          </a:cu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/>
          </a:p>
        </p:txBody>
      </p:sp>
      <p:sp>
        <p:nvSpPr>
          <p:cNvPr id="19" name="图形"/>
          <p:cNvSpPr/>
          <p:nvPr/>
        </p:nvSpPr>
        <p:spPr xmlns:m="http://schemas.openxmlformats.org/officeDocument/2006/math" xmlns:a14="http://schemas.microsoft.com/office/drawing/2010/main">
          <a:xfrm>
            <a:off x="3030527" y="4657089"/>
            <a:ext cx="83348" cy="7658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1113" y="21600"/>
                </a:moveTo>
                <a:lnTo>
                  <a:pt x="13070" y="21448"/>
                </a:lnTo>
                <a:lnTo>
                  <a:pt x="14870" y="20992"/>
                </a:lnTo>
                <a:lnTo>
                  <a:pt x="16435" y="20383"/>
                </a:lnTo>
                <a:lnTo>
                  <a:pt x="17922" y="19394"/>
                </a:lnTo>
                <a:lnTo>
                  <a:pt x="17922" y="18177"/>
                </a:lnTo>
                <a:lnTo>
                  <a:pt x="17765" y="17113"/>
                </a:lnTo>
                <a:lnTo>
                  <a:pt x="18078" y="14223"/>
                </a:lnTo>
                <a:lnTo>
                  <a:pt x="18391" y="12854"/>
                </a:lnTo>
                <a:lnTo>
                  <a:pt x="18861" y="11561"/>
                </a:lnTo>
                <a:lnTo>
                  <a:pt x="19330" y="10344"/>
                </a:lnTo>
                <a:lnTo>
                  <a:pt x="20035" y="9203"/>
                </a:lnTo>
                <a:lnTo>
                  <a:pt x="20817" y="8138"/>
                </a:lnTo>
                <a:lnTo>
                  <a:pt x="21600" y="6997"/>
                </a:lnTo>
                <a:lnTo>
                  <a:pt x="20974" y="5476"/>
                </a:lnTo>
                <a:lnTo>
                  <a:pt x="20035" y="4183"/>
                </a:lnTo>
                <a:lnTo>
                  <a:pt x="18861" y="2966"/>
                </a:lnTo>
                <a:lnTo>
                  <a:pt x="17609" y="1825"/>
                </a:lnTo>
                <a:lnTo>
                  <a:pt x="16122" y="1065"/>
                </a:lnTo>
                <a:lnTo>
                  <a:pt x="14478" y="456"/>
                </a:lnTo>
                <a:lnTo>
                  <a:pt x="12913" y="0"/>
                </a:lnTo>
                <a:lnTo>
                  <a:pt x="10017" y="0"/>
                </a:lnTo>
                <a:lnTo>
                  <a:pt x="8843" y="152"/>
                </a:lnTo>
                <a:lnTo>
                  <a:pt x="7748" y="456"/>
                </a:lnTo>
                <a:lnTo>
                  <a:pt x="6730" y="761"/>
                </a:lnTo>
                <a:lnTo>
                  <a:pt x="4852" y="1673"/>
                </a:lnTo>
                <a:lnTo>
                  <a:pt x="3991" y="2358"/>
                </a:lnTo>
                <a:lnTo>
                  <a:pt x="2426" y="3879"/>
                </a:lnTo>
                <a:lnTo>
                  <a:pt x="1722" y="4715"/>
                </a:lnTo>
                <a:lnTo>
                  <a:pt x="783" y="6541"/>
                </a:lnTo>
                <a:lnTo>
                  <a:pt x="470" y="7530"/>
                </a:lnTo>
                <a:lnTo>
                  <a:pt x="157" y="8594"/>
                </a:lnTo>
                <a:lnTo>
                  <a:pt x="0" y="9735"/>
                </a:lnTo>
                <a:lnTo>
                  <a:pt x="0" y="11865"/>
                </a:lnTo>
                <a:lnTo>
                  <a:pt x="157" y="13006"/>
                </a:lnTo>
                <a:lnTo>
                  <a:pt x="470" y="14070"/>
                </a:lnTo>
                <a:lnTo>
                  <a:pt x="783" y="15059"/>
                </a:lnTo>
                <a:lnTo>
                  <a:pt x="1722" y="16885"/>
                </a:lnTo>
                <a:lnTo>
                  <a:pt x="2426" y="17721"/>
                </a:lnTo>
                <a:lnTo>
                  <a:pt x="3209" y="18482"/>
                </a:lnTo>
                <a:lnTo>
                  <a:pt x="3991" y="19090"/>
                </a:lnTo>
                <a:lnTo>
                  <a:pt x="4852" y="19775"/>
                </a:lnTo>
                <a:lnTo>
                  <a:pt x="5791" y="20383"/>
                </a:lnTo>
                <a:lnTo>
                  <a:pt x="6730" y="20839"/>
                </a:lnTo>
                <a:lnTo>
                  <a:pt x="7748" y="21144"/>
                </a:lnTo>
                <a:lnTo>
                  <a:pt x="8843" y="21448"/>
                </a:lnTo>
                <a:lnTo>
                  <a:pt x="10017" y="21600"/>
                </a:lnTo>
                <a:lnTo>
                  <a:pt x="11113" y="21600"/>
                </a:lnTo>
                <a:close/>
              </a:path>
            </a:pathLst>
          </a:cu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/>
          </a:p>
        </p:txBody>
      </p:sp>
      <p:sp>
        <p:nvSpPr>
          <p:cNvPr id="20" name="图形"/>
          <p:cNvSpPr/>
          <p:nvPr/>
        </p:nvSpPr>
        <p:spPr xmlns:m="http://schemas.openxmlformats.org/officeDocument/2006/math" xmlns:a14="http://schemas.microsoft.com/office/drawing/2010/main">
          <a:xfrm>
            <a:off x="3093943" y="4765490"/>
            <a:ext cx="132873" cy="8844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12512"/>
                </a:moveTo>
                <a:lnTo>
                  <a:pt x="21502" y="10602"/>
                </a:lnTo>
                <a:lnTo>
                  <a:pt x="21158" y="8824"/>
                </a:lnTo>
                <a:lnTo>
                  <a:pt x="20864" y="7046"/>
                </a:lnTo>
                <a:lnTo>
                  <a:pt x="20275" y="5466"/>
                </a:lnTo>
                <a:lnTo>
                  <a:pt x="19636" y="3820"/>
                </a:lnTo>
                <a:lnTo>
                  <a:pt x="18851" y="2437"/>
                </a:lnTo>
                <a:lnTo>
                  <a:pt x="17918" y="1054"/>
                </a:lnTo>
                <a:lnTo>
                  <a:pt x="17035" y="0"/>
                </a:lnTo>
                <a:lnTo>
                  <a:pt x="10751" y="6915"/>
                </a:lnTo>
                <a:lnTo>
                  <a:pt x="4565" y="0"/>
                </a:lnTo>
                <a:lnTo>
                  <a:pt x="3535" y="1054"/>
                </a:lnTo>
                <a:lnTo>
                  <a:pt x="2651" y="2437"/>
                </a:lnTo>
                <a:lnTo>
                  <a:pt x="1915" y="3820"/>
                </a:lnTo>
                <a:lnTo>
                  <a:pt x="1227" y="5466"/>
                </a:lnTo>
                <a:lnTo>
                  <a:pt x="736" y="7046"/>
                </a:lnTo>
                <a:lnTo>
                  <a:pt x="295" y="8824"/>
                </a:lnTo>
                <a:lnTo>
                  <a:pt x="98" y="10602"/>
                </a:lnTo>
                <a:lnTo>
                  <a:pt x="0" y="12512"/>
                </a:lnTo>
                <a:lnTo>
                  <a:pt x="0" y="13566"/>
                </a:lnTo>
                <a:lnTo>
                  <a:pt x="295" y="14685"/>
                </a:lnTo>
                <a:lnTo>
                  <a:pt x="638" y="15607"/>
                </a:lnTo>
                <a:lnTo>
                  <a:pt x="1129" y="16463"/>
                </a:lnTo>
                <a:lnTo>
                  <a:pt x="1718" y="17254"/>
                </a:lnTo>
                <a:lnTo>
                  <a:pt x="2356" y="18044"/>
                </a:lnTo>
                <a:lnTo>
                  <a:pt x="3142" y="18768"/>
                </a:lnTo>
                <a:lnTo>
                  <a:pt x="3878" y="19295"/>
                </a:lnTo>
                <a:lnTo>
                  <a:pt x="4762" y="19822"/>
                </a:lnTo>
                <a:lnTo>
                  <a:pt x="5695" y="20349"/>
                </a:lnTo>
                <a:lnTo>
                  <a:pt x="7413" y="21073"/>
                </a:lnTo>
                <a:lnTo>
                  <a:pt x="9229" y="21468"/>
                </a:lnTo>
                <a:lnTo>
                  <a:pt x="10751" y="21600"/>
                </a:lnTo>
                <a:lnTo>
                  <a:pt x="12371" y="21468"/>
                </a:lnTo>
                <a:lnTo>
                  <a:pt x="14089" y="21073"/>
                </a:lnTo>
                <a:lnTo>
                  <a:pt x="15905" y="20349"/>
                </a:lnTo>
                <a:lnTo>
                  <a:pt x="16838" y="19822"/>
                </a:lnTo>
                <a:lnTo>
                  <a:pt x="17624" y="19295"/>
                </a:lnTo>
                <a:lnTo>
                  <a:pt x="18458" y="18768"/>
                </a:lnTo>
                <a:lnTo>
                  <a:pt x="19145" y="18044"/>
                </a:lnTo>
                <a:lnTo>
                  <a:pt x="19882" y="17254"/>
                </a:lnTo>
                <a:lnTo>
                  <a:pt x="20373" y="16463"/>
                </a:lnTo>
                <a:lnTo>
                  <a:pt x="20864" y="15607"/>
                </a:lnTo>
                <a:lnTo>
                  <a:pt x="21256" y="14685"/>
                </a:lnTo>
                <a:lnTo>
                  <a:pt x="21502" y="13566"/>
                </a:lnTo>
                <a:lnTo>
                  <a:pt x="21600" y="12512"/>
                </a:lnTo>
                <a:close/>
              </a:path>
            </a:pathLst>
          </a:cu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/>
          </a:p>
        </p:txBody>
      </p:sp>
      <p:sp>
        <p:nvSpPr>
          <p:cNvPr id="21" name="图形"/>
          <p:cNvSpPr/>
          <p:nvPr/>
        </p:nvSpPr>
        <p:spPr xmlns:m="http://schemas.openxmlformats.org/officeDocument/2006/math" xmlns:a14="http://schemas.microsoft.com/office/drawing/2010/main">
          <a:xfrm>
            <a:off x="3113270" y="4675964"/>
            <a:ext cx="93615" cy="8278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0800" y="0"/>
                </a:moveTo>
                <a:lnTo>
                  <a:pt x="9755" y="0"/>
                </a:lnTo>
                <a:lnTo>
                  <a:pt x="8640" y="141"/>
                </a:lnTo>
                <a:lnTo>
                  <a:pt x="7595" y="422"/>
                </a:lnTo>
                <a:lnTo>
                  <a:pt x="6619" y="844"/>
                </a:lnTo>
                <a:lnTo>
                  <a:pt x="5783" y="1266"/>
                </a:lnTo>
                <a:lnTo>
                  <a:pt x="4738" y="1900"/>
                </a:lnTo>
                <a:lnTo>
                  <a:pt x="4041" y="2463"/>
                </a:lnTo>
                <a:lnTo>
                  <a:pt x="3205" y="3166"/>
                </a:lnTo>
                <a:lnTo>
                  <a:pt x="2439" y="3940"/>
                </a:lnTo>
                <a:lnTo>
                  <a:pt x="1324" y="5629"/>
                </a:lnTo>
                <a:lnTo>
                  <a:pt x="906" y="6684"/>
                </a:lnTo>
                <a:lnTo>
                  <a:pt x="557" y="7528"/>
                </a:lnTo>
                <a:lnTo>
                  <a:pt x="279" y="8724"/>
                </a:lnTo>
                <a:lnTo>
                  <a:pt x="139" y="9709"/>
                </a:lnTo>
                <a:lnTo>
                  <a:pt x="0" y="10906"/>
                </a:lnTo>
                <a:lnTo>
                  <a:pt x="139" y="11891"/>
                </a:lnTo>
                <a:lnTo>
                  <a:pt x="279" y="13016"/>
                </a:lnTo>
                <a:lnTo>
                  <a:pt x="557" y="14072"/>
                </a:lnTo>
                <a:lnTo>
                  <a:pt x="906" y="15057"/>
                </a:lnTo>
                <a:lnTo>
                  <a:pt x="1324" y="15971"/>
                </a:lnTo>
                <a:lnTo>
                  <a:pt x="1881" y="16956"/>
                </a:lnTo>
                <a:lnTo>
                  <a:pt x="2439" y="17730"/>
                </a:lnTo>
                <a:lnTo>
                  <a:pt x="3205" y="18575"/>
                </a:lnTo>
                <a:lnTo>
                  <a:pt x="4041" y="19137"/>
                </a:lnTo>
                <a:lnTo>
                  <a:pt x="4738" y="19841"/>
                </a:lnTo>
                <a:lnTo>
                  <a:pt x="5783" y="20334"/>
                </a:lnTo>
                <a:lnTo>
                  <a:pt x="6619" y="20896"/>
                </a:lnTo>
                <a:lnTo>
                  <a:pt x="7595" y="21178"/>
                </a:lnTo>
                <a:lnTo>
                  <a:pt x="8640" y="21459"/>
                </a:lnTo>
                <a:lnTo>
                  <a:pt x="9755" y="21600"/>
                </a:lnTo>
                <a:lnTo>
                  <a:pt x="11915" y="21600"/>
                </a:lnTo>
                <a:lnTo>
                  <a:pt x="12960" y="21459"/>
                </a:lnTo>
                <a:lnTo>
                  <a:pt x="13935" y="21178"/>
                </a:lnTo>
                <a:lnTo>
                  <a:pt x="14981" y="20896"/>
                </a:lnTo>
                <a:lnTo>
                  <a:pt x="15956" y="20334"/>
                </a:lnTo>
                <a:lnTo>
                  <a:pt x="16862" y="19841"/>
                </a:lnTo>
                <a:lnTo>
                  <a:pt x="17698" y="19137"/>
                </a:lnTo>
                <a:lnTo>
                  <a:pt x="18395" y="18575"/>
                </a:lnTo>
                <a:lnTo>
                  <a:pt x="19161" y="17730"/>
                </a:lnTo>
                <a:lnTo>
                  <a:pt x="19719" y="16956"/>
                </a:lnTo>
                <a:lnTo>
                  <a:pt x="20276" y="15971"/>
                </a:lnTo>
                <a:lnTo>
                  <a:pt x="20694" y="15057"/>
                </a:lnTo>
                <a:lnTo>
                  <a:pt x="21112" y="14072"/>
                </a:lnTo>
                <a:lnTo>
                  <a:pt x="21321" y="13016"/>
                </a:lnTo>
                <a:lnTo>
                  <a:pt x="21600" y="11891"/>
                </a:lnTo>
                <a:lnTo>
                  <a:pt x="21600" y="9709"/>
                </a:lnTo>
                <a:lnTo>
                  <a:pt x="21321" y="8724"/>
                </a:lnTo>
                <a:lnTo>
                  <a:pt x="21112" y="7528"/>
                </a:lnTo>
                <a:lnTo>
                  <a:pt x="20694" y="6684"/>
                </a:lnTo>
                <a:lnTo>
                  <a:pt x="20276" y="5629"/>
                </a:lnTo>
                <a:lnTo>
                  <a:pt x="19161" y="3940"/>
                </a:lnTo>
                <a:lnTo>
                  <a:pt x="18395" y="3166"/>
                </a:lnTo>
                <a:lnTo>
                  <a:pt x="17698" y="2463"/>
                </a:lnTo>
                <a:lnTo>
                  <a:pt x="16862" y="1900"/>
                </a:lnTo>
                <a:lnTo>
                  <a:pt x="15956" y="1266"/>
                </a:lnTo>
                <a:lnTo>
                  <a:pt x="14981" y="844"/>
                </a:lnTo>
                <a:lnTo>
                  <a:pt x="13935" y="422"/>
                </a:lnTo>
                <a:lnTo>
                  <a:pt x="12960" y="141"/>
                </a:lnTo>
                <a:lnTo>
                  <a:pt x="11915" y="0"/>
                </a:lnTo>
                <a:lnTo>
                  <a:pt x="10800" y="0"/>
                </a:lnTo>
                <a:close/>
              </a:path>
            </a:pathLst>
          </a:cu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/>
          </a:p>
        </p:txBody>
      </p:sp>
      <p:pic>
        <p:nvPicPr>
          <p:cNvPr id="22" name="图形" descr="cc43ea53a92cf935fa80d63d91f2b4e55f28b2ef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688974" y="4612639"/>
            <a:ext cx="290831" cy="29083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第一PPT，www.1ppt.com">
  <a:themeElements>
    <a:clrScheme name="第一PPT，www.1ppt.com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007FF6"/>
      </a:accent1>
      <a:accent2>
        <a:srgbClr val="41A3FF"/>
      </a:accent2>
      <a:accent3>
        <a:srgbClr val="00478A"/>
      </a:accent3>
      <a:accent4>
        <a:srgbClr val="245B8F"/>
      </a:accent4>
      <a:accent5>
        <a:srgbClr val="00376A"/>
      </a:accent5>
      <a:accent6>
        <a:srgbClr val="1C466E"/>
      </a:accent6>
      <a:hlink>
        <a:srgbClr val="0000FF"/>
      </a:hlink>
      <a:folHlink>
        <a:srgbClr val="FF00FF"/>
      </a:folHlink>
    </a:clrScheme>
    <a:fontScheme name="第一PPT，www.1ppt.com">
      <a:majorFont>
        <a:latin typeface="Helvetica"/>
        <a:ea typeface="Helvetica"/>
        <a:cs typeface="Helvetica"/>
      </a:majorFont>
      <a:minorFont>
        <a:latin typeface="思源黑体 CN Normal"/>
        <a:ea typeface="思源黑体 CN Normal"/>
        <a:cs typeface="思源黑体 CN Normal"/>
      </a:minorFont>
    </a:fontScheme>
    <a:fmtScheme name="第一PPT，www.1ppt.com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思源黑体 CN Norm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思源黑体 CN Norm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第一PPT，www.1ppt.com">
  <a:themeElements>
    <a:clrScheme name="第一PPT，www.1ppt.com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007FF6"/>
      </a:accent1>
      <a:accent2>
        <a:srgbClr val="41A3FF"/>
      </a:accent2>
      <a:accent3>
        <a:srgbClr val="00478A"/>
      </a:accent3>
      <a:accent4>
        <a:srgbClr val="245B8F"/>
      </a:accent4>
      <a:accent5>
        <a:srgbClr val="00376A"/>
      </a:accent5>
      <a:accent6>
        <a:srgbClr val="1C466E"/>
      </a:accent6>
      <a:hlink>
        <a:srgbClr val="0000FF"/>
      </a:hlink>
      <a:folHlink>
        <a:srgbClr val="FF00FF"/>
      </a:folHlink>
    </a:clrScheme>
    <a:fontScheme name="第一PPT，www.1ppt.com">
      <a:majorFont>
        <a:latin typeface="Helvetica"/>
        <a:ea typeface="Helvetica"/>
        <a:cs typeface="Helvetica"/>
      </a:majorFont>
      <a:minorFont>
        <a:latin typeface="思源黑体 CN Normal"/>
        <a:ea typeface="思源黑体 CN Normal"/>
        <a:cs typeface="思源黑体 CN Normal"/>
      </a:minorFont>
    </a:fontScheme>
    <a:fmtScheme name="第一PPT，www.1ppt.com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思源黑体 CN Norm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思源黑体 CN Norm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cp:lastModifiedBy>PPTAgent</cp:lastModifiedBy>
</cp:coreProperties>
</file>