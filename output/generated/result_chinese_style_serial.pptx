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Montserrat"/>
        <a:ea typeface="Montserrat"/>
        <a:cs typeface="Montserrat"/>
        <a:sym typeface="Montserra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E6CECC"/>
          </a:solidFill>
        </a:fill>
      </a:tcStyle>
    </a:wholeTbl>
    <a:band2H>
      <a:tcTxStyle b="def" i="def"/>
      <a:tcStyle>
        <a:tcBdr/>
        <a:fill>
          <a:solidFill>
            <a:srgbClr val="F3E8E7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FCFBF8"/>
          </a:solidFill>
        </a:fill>
      </a:tcStyle>
    </a:wholeTbl>
    <a:band2H>
      <a:tcTxStyle b="def" i="def"/>
      <a:tcStyle>
        <a:tcBdr/>
        <a:fill>
          <a:solidFill>
            <a:srgbClr val="FEFDFC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E4CAD3"/>
          </a:solidFill>
        </a:fill>
      </a:tcStyle>
    </a:wholeTbl>
    <a:band2H>
      <a:tcTxStyle b="def" i="def"/>
      <a:tcStyle>
        <a:tcBdr/>
        <a:fill>
          <a:solidFill>
            <a:srgbClr val="F2E6EA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3">
              <a:hueOff val="-2520000"/>
              <a:satOff val="-41666"/>
              <a:lumOff val="4705"/>
            </a:schemeClr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-2520000"/>
              <a:satOff val="-41666"/>
              <a:lumOff val="4705"/>
            </a:schemeClr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Montserrat"/>
          <a:ea typeface="Montserrat"/>
          <a:cs typeface="Montserrat"/>
        </a:font>
        <a:schemeClr val="accent3">
          <a:hueOff val="-2520000"/>
          <a:satOff val="-41666"/>
          <a:lumOff val="4705"/>
        </a:schemeClr>
      </a:tcTxStyle>
      <a:tcStyle>
        <a:tcBdr>
          <a:lef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hueOff val="-2520000"/>
                  <a:satOff val="-41666"/>
                  <a:lumOff val="4705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3">
              <a:hueOff val="-2520000"/>
              <a:satOff val="-41666"/>
              <a:lumOff val="4705"/>
            </a:schemeClr>
          </a:solidFill>
        </a:fill>
      </a:tcStyle>
    </a:band2H>
    <a:firstCol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Montserrat"/>
          <a:ea typeface="Montserrat"/>
          <a:cs typeface="Montserra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" name="Shape 3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微软雅黑"/>
      </a:defRPr>
    </a:lvl1pPr>
    <a:lvl2pPr indent="228600" latinLnBrk="0">
      <a:defRPr sz="1200">
        <a:latin typeface="+mj-lt"/>
        <a:ea typeface="+mj-ea"/>
        <a:cs typeface="+mj-cs"/>
        <a:sym typeface="微软雅黑"/>
      </a:defRPr>
    </a:lvl2pPr>
    <a:lvl3pPr indent="457200" latinLnBrk="0">
      <a:defRPr sz="1200">
        <a:latin typeface="+mj-lt"/>
        <a:ea typeface="+mj-ea"/>
        <a:cs typeface="+mj-cs"/>
        <a:sym typeface="微软雅黑"/>
      </a:defRPr>
    </a:lvl3pPr>
    <a:lvl4pPr indent="685800" latinLnBrk="0">
      <a:defRPr sz="1200">
        <a:latin typeface="+mj-lt"/>
        <a:ea typeface="+mj-ea"/>
        <a:cs typeface="+mj-cs"/>
        <a:sym typeface="微软雅黑"/>
      </a:defRPr>
    </a:lvl4pPr>
    <a:lvl5pPr indent="914400" latinLnBrk="0">
      <a:defRPr sz="1200">
        <a:latin typeface="+mj-lt"/>
        <a:ea typeface="+mj-ea"/>
        <a:cs typeface="+mj-cs"/>
        <a:sym typeface="微软雅黑"/>
      </a:defRPr>
    </a:lvl5pPr>
    <a:lvl6pPr indent="1143000" latinLnBrk="0">
      <a:defRPr sz="1200">
        <a:latin typeface="+mj-lt"/>
        <a:ea typeface="+mj-ea"/>
        <a:cs typeface="+mj-cs"/>
        <a:sym typeface="微软雅黑"/>
      </a:defRPr>
    </a:lvl6pPr>
    <a:lvl7pPr indent="1371600" latinLnBrk="0">
      <a:defRPr sz="1200">
        <a:latin typeface="+mj-lt"/>
        <a:ea typeface="+mj-ea"/>
        <a:cs typeface="+mj-cs"/>
        <a:sym typeface="微软雅黑"/>
      </a:defRPr>
    </a:lvl7pPr>
    <a:lvl8pPr indent="1600200" latinLnBrk="0">
      <a:defRPr sz="1200">
        <a:latin typeface="+mj-lt"/>
        <a:ea typeface="+mj-ea"/>
        <a:cs typeface="+mj-cs"/>
        <a:sym typeface="微软雅黑"/>
      </a:defRPr>
    </a:lvl8pPr>
    <a:lvl9pPr indent="1828800" latinLnBrk="0">
      <a:defRPr sz="1200">
        <a:latin typeface="+mj-lt"/>
        <a:ea typeface="+mj-ea"/>
        <a:cs typeface="+mj-cs"/>
        <a:sym typeface="微软雅黑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hangye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级别 1…"/>
          <p:cNvSpPr txBox="1"/>
          <p:nvPr>
            <p:ph type="body" sz="quarter" idx="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" name="幻灯片编号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3">
            <a:hueOff val="-2520000"/>
            <a:satOff val="-41666"/>
            <a:lumOff val="4705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 Black"/>
          <a:ea typeface="Arial Black"/>
          <a:cs typeface="Arial Black"/>
          <a:sym typeface="Arial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Montserrat"/>
          <a:ea typeface="Montserrat"/>
          <a:cs typeface="Montserrat"/>
          <a:sym typeface="Montserra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5.jp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333686" y="6941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 HISTORY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APR 2026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PRES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AI研究中心</a:t>
            </a:r>
          </a:p>
        </p:txBody>
      </p:sp>
      <p:pic>
        <p:nvPicPr>
          <p:cNvPr id="6" name="图片 27" descr="2ba243bc1e3492901b14fa56de34c194f04266b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82460" y="4829450"/>
            <a:ext cx="6470460" cy="2028551"/>
          </a:xfrm>
          <a:prstGeom prst="rect">
            <a:avLst/>
          </a:prstGeom>
        </p:spPr>
      </p:pic>
      <p:pic>
        <p:nvPicPr>
          <p:cNvPr id="7" name="图片 5" descr="eab9ceb492185754e24827e10d47ead20688da7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66784" y="1665116"/>
            <a:ext cx="2889174" cy="5192884"/>
          </a:xfrm>
          <a:prstGeom prst="rect">
            <a:avLst/>
          </a:prstGeom>
        </p:spPr>
      </p:pic>
      <p:pic>
        <p:nvPicPr>
          <p:cNvPr id="8" name="图片 26" descr="b2e53fdaf67137f8829476e9365425bdb22c8151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2409371"/>
            <a:ext cx="3474461" cy="4448629"/>
          </a:xfrm>
          <a:prstGeom prst="rect">
            <a:avLst/>
          </a:prstGeom>
        </p:spPr>
      </p:pic>
      <p:pic>
        <p:nvPicPr>
          <p:cNvPr id="9" name="图片 51" descr="0f9001962e927cd4e4a66ad8e71ef31ce02fb2d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10" name="图片 37" descr="a82d54330edae090350ea9c50f77e9b1c30438ba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575588" y="5021974"/>
            <a:ext cx="1927657" cy="1368964"/>
          </a:xfrm>
          <a:prstGeom prst="rect">
            <a:avLst/>
          </a:prstGeom>
        </p:spPr>
      </p:pic>
      <p:pic>
        <p:nvPicPr>
          <p:cNvPr id="11" name="图片 3" descr="da7dcfdddb543457f6bb1d4b1fbff2d21006cfc2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18578" y="6231809"/>
            <a:ext cx="4573424" cy="626192"/>
          </a:xfrm>
          <a:prstGeom prst="rect">
            <a:avLst/>
          </a:prstGeom>
        </p:spPr>
      </p:pic>
      <p:pic>
        <p:nvPicPr>
          <p:cNvPr id="12" name="图片 45" descr="eb63b67afe1ac836c7b0ada1537536e768cd36eb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708798" y="852617"/>
            <a:ext cx="1483203" cy="1052960"/>
          </a:xfrm>
          <a:prstGeom prst="rect">
            <a:avLst/>
          </a:prstGeom>
        </p:spPr>
      </p:pic>
      <p:pic>
        <p:nvPicPr>
          <p:cNvPr id="13" name="图片 22" descr="abef9e38d6007ba66159dd8a79d8faa1651558d4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90287" y="3481325"/>
            <a:ext cx="4362876" cy="3376674"/>
          </a:xfrm>
          <a:prstGeom prst="rect">
            <a:avLst/>
          </a:prstGeom>
        </p:spPr>
      </p:pic>
      <p:pic>
        <p:nvPicPr>
          <p:cNvPr id="14" name="图片 7" descr="f58fd55ac11ed7bf769e8c5c34017fffc986db00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-1" y="5489821"/>
            <a:ext cx="5553794" cy="1368180"/>
          </a:xfrm>
          <a:prstGeom prst="rect">
            <a:avLst/>
          </a:prstGeom>
        </p:spPr>
      </p:pic>
      <p:sp>
        <p:nvSpPr>
          <p:cNvPr id="15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6" name="文本框 12"/>
          <p:cNvSpPr txBox="1"/>
          <p:nvPr/>
        </p:nvSpPr>
        <p:spPr>
          <a:xfrm>
            <a:off x="3608364" y="1927564"/>
            <a:ext cx="5048298" cy="1361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AI演进史</a:t>
            </a:r>
          </a:p>
        </p:txBody>
      </p:sp>
      <p:sp>
        <p:nvSpPr>
          <p:cNvPr id="17" name="文本框 13"/>
          <p:cNvSpPr txBox="1"/>
          <p:nvPr/>
        </p:nvSpPr>
        <p:spPr>
          <a:xfrm>
            <a:off x="3700160" y="3016634"/>
            <a:ext cx="4815277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起源至大模型时代</a:t>
            </a:r>
          </a:p>
        </p:txBody>
      </p:sp>
      <p:sp>
        <p:nvSpPr>
          <p:cNvPr id="18" name="文本框 14"/>
          <p:cNvSpPr txBox="1"/>
          <p:nvPr/>
        </p:nvSpPr>
        <p:spPr>
          <a:xfrm>
            <a:off x="3691996" y="3464111"/>
            <a:ext cx="1965954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1000">
                <a:solidFill>
                  <a:srgbClr val="AFABAB"/>
                </a:solidFill>
              </a:defRPr>
            </a:lvl1pPr>
          </a:lstStyle>
          <a:p>
            <a:pPr>
              <a:defRPr/>
            </a:pPr>
            <a:r>
              <a:rPr/>
              <a:t>The Evolution of AI: From 1956 to the LLM Era</a:t>
            </a:r>
          </a:p>
        </p:txBody>
      </p:sp>
      <p:sp>
        <p:nvSpPr>
          <p:cNvPr id="19" name="文本框 15"/>
          <p:cNvSpPr txBox="1"/>
          <p:nvPr/>
        </p:nvSpPr>
        <p:spPr>
          <a:xfrm>
            <a:off x="3704835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  <p:sp>
        <p:nvSpPr>
          <p:cNvPr id="20" name="文本框 16"/>
          <p:cNvSpPr txBox="1"/>
          <p:nvPr/>
        </p:nvSpPr>
        <p:spPr>
          <a:xfrm>
            <a:off x="4759277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Yan</a:t>
            </a:r>
          </a:p>
        </p:txBody>
      </p:sp>
      <p:sp>
        <p:nvSpPr>
          <p:cNvPr id="21" name="文本框 17"/>
          <p:cNvSpPr txBox="1"/>
          <p:nvPr/>
        </p:nvSpPr>
        <p:spPr>
          <a:xfrm>
            <a:off x="5726186" y="1748008"/>
            <a:ext cx="73962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Jin</a:t>
            </a:r>
          </a:p>
        </p:txBody>
      </p:sp>
      <p:sp>
        <p:nvSpPr>
          <p:cNvPr id="22" name="文本框 18"/>
          <p:cNvSpPr txBox="1"/>
          <p:nvPr/>
        </p:nvSpPr>
        <p:spPr>
          <a:xfrm>
            <a:off x="6831091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Shi</a:t>
            </a:r>
          </a:p>
        </p:txBody>
      </p:sp>
      <p:sp>
        <p:nvSpPr>
          <p:cNvPr id="23" name="文本框 19"/>
          <p:cNvSpPr txBox="1"/>
          <p:nvPr/>
        </p:nvSpPr>
        <p:spPr>
          <a:xfrm>
            <a:off x="7848462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Dai</a:t>
            </a:r>
          </a:p>
        </p:txBody>
      </p:sp>
      <p:sp>
        <p:nvSpPr>
          <p:cNvPr id="24" name="文本框 21"/>
          <p:cNvSpPr txBox="1"/>
          <p:nvPr/>
        </p:nvSpPr>
        <p:spPr>
          <a:xfrm>
            <a:off x="4032169" y="3981921"/>
            <a:ext cx="4200687" cy="8686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全方位回顾人工智能七十载的发展演变历程。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深入剖析深度学习与Transformer架构创新。</a:t>
            </a:r>
          </a:p>
        </p:txBody>
      </p:sp>
      <p:sp>
        <p:nvSpPr>
          <p:cNvPr id="25" name="直接连接符 23"/>
          <p:cNvSpPr/>
          <p:nvPr/>
        </p:nvSpPr>
        <p:spPr>
          <a:xfrm>
            <a:off x="5585253" y="3756452"/>
            <a:ext cx="290383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AFABA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333686" y="6941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PRESENTATION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02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YOUR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 HISTORY</a:t>
            </a:r>
          </a:p>
        </p:txBody>
      </p:sp>
      <p:pic>
        <p:nvPicPr>
          <p:cNvPr id="6" name="图片 51" descr="0f9001962e927cd4e4a66ad8e71ef31ce02fb2d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7" name="图片 45" descr="eb63b67afe1ac836c7b0ada1537536e768cd36e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708798" y="852617"/>
            <a:ext cx="1483203" cy="1052960"/>
          </a:xfrm>
          <a:prstGeom prst="rect">
            <a:avLst/>
          </a:prstGeom>
        </p:spPr>
      </p:pic>
      <p:sp>
        <p:nvSpPr>
          <p:cNvPr id="8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9" name="文本框 3"/>
          <p:cNvSpPr txBox="1"/>
          <p:nvPr/>
        </p:nvSpPr>
        <p:spPr>
          <a:xfrm>
            <a:off x="5113023" y="2129582"/>
            <a:ext cx="196595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000">
                <a:solidFill>
                  <a:srgbClr val="AFABAB"/>
                </a:solidFill>
              </a:defRPr>
            </a:lvl1pPr>
          </a:lstStyle>
          <a:p>
            <a:pPr>
              <a:defRPr/>
            </a:pPr>
            <a:r>
              <a:rPr/>
              <a:t>人工智能演进历程与核心技术架构概览</a:t>
            </a:r>
          </a:p>
        </p:txBody>
      </p:sp>
      <p:pic>
        <p:nvPicPr>
          <p:cNvPr id="10" name="图片 55" descr="ca681971dc5cd24db654389296d1949f1858c6a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3594" y="2336799"/>
            <a:ext cx="2324534" cy="4521201"/>
          </a:xfrm>
          <a:prstGeom prst="rect">
            <a:avLst/>
          </a:prstGeom>
        </p:spPr>
      </p:pic>
      <p:pic>
        <p:nvPicPr>
          <p:cNvPr id="11" name="图片 52" descr="b56a0ea871d8cd066035a948edf9078dd4851307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52415" y="5700343"/>
            <a:ext cx="6180444" cy="1157657"/>
          </a:xfrm>
          <a:prstGeom prst="rect">
            <a:avLst/>
          </a:prstGeom>
        </p:spPr>
      </p:pic>
      <p:pic>
        <p:nvPicPr>
          <p:cNvPr id="12" name="图片 48" descr="388630b4f7b2d7a33a01abb96f77b52c73392600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3280228"/>
            <a:ext cx="3122821" cy="357777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28244" y="1099663"/>
            <a:ext cx="1992956" cy="1361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14" name="文本框 15"/>
          <p:cNvSpPr txBox="1"/>
          <p:nvPr/>
        </p:nvSpPr>
        <p:spPr>
          <a:xfrm>
            <a:off x="5261787" y="920107"/>
            <a:ext cx="611937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Mu</a:t>
            </a:r>
          </a:p>
        </p:txBody>
      </p:sp>
      <p:sp>
        <p:nvSpPr>
          <p:cNvPr id="15" name="文本框 16"/>
          <p:cNvSpPr txBox="1"/>
          <p:nvPr/>
        </p:nvSpPr>
        <p:spPr>
          <a:xfrm>
            <a:off x="6279158" y="920107"/>
            <a:ext cx="611937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Lu</a:t>
            </a:r>
          </a:p>
        </p:txBody>
      </p:sp>
      <p:sp>
        <p:nvSpPr>
          <p:cNvPr id="16" name="任意多边形: 形状 4"/>
          <p:cNvSpPr/>
          <p:nvPr/>
        </p:nvSpPr>
        <p:spPr xmlns:m="http://schemas.openxmlformats.org/officeDocument/2006/math" xmlns:a14="http://schemas.microsoft.com/office/drawing/2010/main">
          <a:xfrm rot="5400000">
            <a:off x="2216000" y="2559936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任意多边形: 形状 6"/>
          <p:cNvSpPr/>
          <p:nvPr/>
        </p:nvSpPr>
        <p:spPr xmlns:m="http://schemas.openxmlformats.org/officeDocument/2006/math" xmlns:a14="http://schemas.microsoft.com/office/drawing/2010/main">
          <a:xfrm rot="5400000">
            <a:off x="3811851" y="2592962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8" name="任意多边形: 形状 7"/>
          <p:cNvSpPr/>
          <p:nvPr/>
        </p:nvSpPr>
        <p:spPr xmlns:m="http://schemas.openxmlformats.org/officeDocument/2006/math" xmlns:a14="http://schemas.microsoft.com/office/drawing/2010/main">
          <a:xfrm rot="5400000">
            <a:off x="5407703" y="2625988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9" name="任意多边形: 形状 20"/>
          <p:cNvSpPr/>
          <p:nvPr/>
        </p:nvSpPr>
        <p:spPr xmlns:m="http://schemas.openxmlformats.org/officeDocument/2006/math" xmlns:a14="http://schemas.microsoft.com/office/drawing/2010/main">
          <a:xfrm rot="5400000">
            <a:off x="7003555" y="2659014"/>
            <a:ext cx="2972444" cy="364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0" name="文本框 24"/>
          <p:cNvSpPr txBox="1"/>
          <p:nvPr/>
        </p:nvSpPr>
        <p:spPr>
          <a:xfrm>
            <a:off x="2837150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壹</a:t>
            </a:r>
          </a:p>
        </p:txBody>
      </p:sp>
      <p:sp>
        <p:nvSpPr>
          <p:cNvPr id="21" name="文本框 26"/>
          <p:cNvSpPr txBox="1"/>
          <p:nvPr/>
        </p:nvSpPr>
        <p:spPr>
          <a:xfrm>
            <a:off x="3279722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AI历史总览</a:t>
            </a:r>
          </a:p>
        </p:txBody>
      </p:sp>
      <p:sp>
        <p:nvSpPr>
          <p:cNvPr id="22" name="文本框 15"/>
          <p:cNvSpPr txBox="1"/>
          <p:nvPr/>
        </p:nvSpPr>
        <p:spPr>
          <a:xfrm>
            <a:off x="2635592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1956-2022演进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Symbolic至LLM</a:t>
            </a:r>
          </a:p>
        </p:txBody>
      </p:sp>
      <p:sp>
        <p:nvSpPr>
          <p:cNvPr id="23" name="直接连接符 34"/>
          <p:cNvSpPr/>
          <p:nvPr/>
        </p:nvSpPr>
        <p:spPr>
          <a:xfrm flipH="1">
            <a:off x="3139885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文本框 13"/>
          <p:cNvSpPr txBox="1"/>
          <p:nvPr/>
        </p:nvSpPr>
        <p:spPr>
          <a:xfrm>
            <a:off x="4848829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贰</a:t>
            </a:r>
          </a:p>
        </p:txBody>
      </p:sp>
      <p:sp>
        <p:nvSpPr>
          <p:cNvPr id="25" name="文本框 14"/>
          <p:cNvSpPr txBox="1"/>
          <p:nvPr/>
        </p:nvSpPr>
        <p:spPr>
          <a:xfrm>
            <a:off x="5291402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起源与探索</a:t>
            </a:r>
          </a:p>
        </p:txBody>
      </p:sp>
      <p:sp>
        <p:nvSpPr>
          <p:cNvPr id="26" name="文本框 15"/>
          <p:cNvSpPr txBox="1"/>
          <p:nvPr/>
        </p:nvSpPr>
        <p:spPr>
          <a:xfrm>
            <a:off x="4647272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达特茅斯会议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早期技术里程碑</a:t>
            </a:r>
          </a:p>
        </p:txBody>
      </p:sp>
      <p:sp>
        <p:nvSpPr>
          <p:cNvPr id="27" name="直接连接符 18"/>
          <p:cNvSpPr/>
          <p:nvPr/>
        </p:nvSpPr>
        <p:spPr>
          <a:xfrm flipH="1">
            <a:off x="5151565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8" name="文本框 21"/>
          <p:cNvSpPr txBox="1"/>
          <p:nvPr/>
        </p:nvSpPr>
        <p:spPr>
          <a:xfrm>
            <a:off x="6817330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叁</a:t>
            </a:r>
          </a:p>
        </p:txBody>
      </p:sp>
      <p:sp>
        <p:nvSpPr>
          <p:cNvPr id="29" name="文本框 23"/>
          <p:cNvSpPr txBox="1"/>
          <p:nvPr/>
        </p:nvSpPr>
        <p:spPr>
          <a:xfrm>
            <a:off x="7259902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30" name="文本框 15"/>
          <p:cNvSpPr txBox="1"/>
          <p:nvPr/>
        </p:nvSpPr>
        <p:spPr>
          <a:xfrm>
            <a:off x="6615772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多层神经网络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分层特征提取</a:t>
            </a:r>
          </a:p>
        </p:txBody>
      </p:sp>
      <p:sp>
        <p:nvSpPr>
          <p:cNvPr id="31" name="直接连接符 35"/>
          <p:cNvSpPr/>
          <p:nvPr/>
        </p:nvSpPr>
        <p:spPr>
          <a:xfrm flipH="1">
            <a:off x="7120065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文本框 38"/>
          <p:cNvSpPr txBox="1"/>
          <p:nvPr/>
        </p:nvSpPr>
        <p:spPr>
          <a:xfrm>
            <a:off x="8811229" y="2874874"/>
            <a:ext cx="56134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just">
              <a:defRPr sz="3600">
                <a:gradFill flip="none" rotWithShape="1">
                  <a:gsLst>
                    <a:gs pos="0">
                      <a:srgbClr val="E79941"/>
                    </a:gs>
                    <a:gs pos="100000">
                      <a:schemeClr val="accent3">
                        <a:hueOff val="-2520000"/>
                        <a:satOff val="-41666"/>
                        <a:lumOff val="4705"/>
                      </a:schemeClr>
                    </a:gs>
                  </a:gsLst>
                  <a:lin ang="2700000" scaled="0"/>
                </a:gra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肆</a:t>
            </a:r>
          </a:p>
        </p:txBody>
      </p:sp>
      <p:sp>
        <p:nvSpPr>
          <p:cNvPr id="33" name="文本框 40"/>
          <p:cNvSpPr txBox="1"/>
          <p:nvPr/>
        </p:nvSpPr>
        <p:spPr>
          <a:xfrm>
            <a:off x="9253801" y="3663141"/>
            <a:ext cx="396240" cy="1932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none" lIns="45719" tIns="45719" rIns="45719" bIns="45719" numCol="1" anchor="t">
            <a:noAutofit/>
          </a:bodyPr>
          <a:lstStyle>
            <a:lvl1pPr>
              <a:defRPr sz="24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架构创新</a:t>
            </a:r>
          </a:p>
        </p:txBody>
      </p:sp>
      <p:sp>
        <p:nvSpPr>
          <p:cNvPr id="34" name="文本框 15"/>
          <p:cNvSpPr txBox="1"/>
          <p:nvPr/>
        </p:nvSpPr>
        <p:spPr>
          <a:xfrm>
            <a:off x="8609671" y="3698605"/>
            <a:ext cx="548640" cy="22944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Transformer</a:t>
            </a:r>
          </a:p>
          <a:p>
            <a:pPr>
              <a:lnSpc>
                <a:spcPct val="150000"/>
              </a:lnSpc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自注意力机制</a:t>
            </a:r>
          </a:p>
        </p:txBody>
      </p:sp>
      <p:sp>
        <p:nvSpPr>
          <p:cNvPr id="35" name="直接连接符 44"/>
          <p:cNvSpPr/>
          <p:nvPr/>
        </p:nvSpPr>
        <p:spPr>
          <a:xfrm flipH="1">
            <a:off x="9113964" y="3707025"/>
            <a:ext cx="1" cy="190294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 EVOLUTION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SLIDE 03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Part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AI发展简史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AI历史总览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Li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Shi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Zong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Lan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本章回顾1956年至今的AI历程，涵盖符号主义、深度学习及Transformer架构带来的LLM时代。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重点分析感知机奠基、AlexNet突破及GPT系列演进，展现AI模型规模与智能涌现的技术跨越。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/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6" descr="3bc7b2e75bf776d76f007cb139aca3ec93b5a98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8" name="图片 44" descr="3d1f60b8e25c7e26166ea16adc86f060267c709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19" name="图片 38" descr="f1b244730832b76ece29cd8e9091b16a3592b283.png"/>
          <p:cNvPicPr>
            <a:picLocks noChangeAspect="1"/>
          </p:cNvPicPr>
          <p:nvPr/>
        </p:nvPicPr>
        <p:blipFill>
          <a:blip r:embed="rId5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0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第一章节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AI历史总览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1956-2022</a:t>
            </a:r>
          </a:p>
        </p:txBody>
      </p:sp>
      <p:sp>
        <p:nvSpPr>
          <p:cNvPr id="3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AI进化史</a:t>
            </a:r>
          </a:p>
        </p:txBody>
      </p:sp>
      <p:sp>
        <p:nvSpPr>
          <p:cNvPr id="4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2026-04-21</a:t>
            </a:r>
          </a:p>
        </p:txBody>
      </p:sp>
      <p:sp>
        <p:nvSpPr>
          <p:cNvPr id="5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演进路线图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9" name="图片 25" descr="f167d746f2b211a948688ec3bbcfd5703d8fc06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" y="5614447"/>
            <a:ext cx="5515430" cy="1243553"/>
          </a:xfrm>
          <a:prstGeom prst="rect">
            <a:avLst/>
          </a:prstGeom>
        </p:spPr>
      </p:pic>
      <p:pic>
        <p:nvPicPr>
          <p:cNvPr id="10" name="图片 3" descr="df115716322fc9224736b282903919c7803f7c07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9545053" y="4645355"/>
            <a:ext cx="2646947" cy="2212647"/>
          </a:xfrm>
          <a:prstGeom prst="rect">
            <a:avLst/>
          </a:prstGeom>
        </p:spPr>
      </p:pic>
      <p:pic>
        <p:nvPicPr>
          <p:cNvPr id="11" name="图片 6" descr="b0485fff6d77a640fb43b343a2e19fff59a033ea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91556" y="5887651"/>
            <a:ext cx="6800445" cy="970350"/>
          </a:xfrm>
          <a:prstGeom prst="rect">
            <a:avLst/>
          </a:prstGeom>
        </p:spPr>
      </p:pic>
      <p:sp>
        <p:nvSpPr>
          <p:cNvPr id="12" name="文本框 17"/>
          <p:cNvSpPr txBox="1"/>
          <p:nvPr/>
        </p:nvSpPr>
        <p:spPr>
          <a:xfrm>
            <a:off x="1302645" y="3384825"/>
            <a:ext cx="300505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核心发展阶段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1302645" y="3973452"/>
            <a:ext cx="2639435" cy="160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1956年达特茅斯会议开启符号推理，2012年AlexNet引爆深度学习革命。</a:t>
            </a:r>
          </a:p>
          <a:p>
            <a:pPr>
              <a:lnSpc>
                <a:spcPct val="15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2017年Transformer架构奠基，2022年ChatGPT开启了大语言模型时代。</a:t>
            </a:r>
          </a:p>
        </p:txBody>
      </p:sp>
      <p:pic>
        <p:nvPicPr>
          <p:cNvPr id="14" name="图片 20" descr="f4fbdf9418394e9bd706ec2d8af04307fd4a5f86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01989" y="2205633"/>
            <a:ext cx="1306557" cy="1011218"/>
          </a:xfrm>
          <a:prstGeom prst="rect">
            <a:avLst/>
          </a:prstGeom>
        </p:spPr>
      </p:pic>
      <p:sp>
        <p:nvSpPr>
          <p:cNvPr id="15" name="文本框 15"/>
          <p:cNvSpPr txBox="1"/>
          <p:nvPr/>
        </p:nvSpPr>
        <p:spPr>
          <a:xfrm>
            <a:off x="4605755" y="2626784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符号主义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05755" y="3079220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深度学习</a:t>
            </a:r>
          </a:p>
        </p:txBody>
      </p:sp>
      <p:sp>
        <p:nvSpPr>
          <p:cNvPr id="17" name="文本框 15"/>
          <p:cNvSpPr txBox="1"/>
          <p:nvPr/>
        </p:nvSpPr>
        <p:spPr>
          <a:xfrm>
            <a:off x="4605755" y="3517370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大模型</a:t>
            </a:r>
          </a:p>
        </p:txBody>
      </p:sp>
      <p:pic>
        <p:nvPicPr>
          <p:cNvPr id="18" name="图片 31" descr="ai_timeline.png"/>
          <p:cNvPicPr>
            <a:picLocks noChangeAspect="1"/>
          </p:cNvPicPr>
          <p:nvPr/>
        </p:nvPicPr>
        <p:blipFill>
          <a:blip r:embed="rId7"/>
          <a:srcRect b="1" r="2"/>
          <a:stretch>
            <a:fillRect/>
          </a:stretch>
        </p:blipFill>
        <p:spPr>
          <a:xfrm>
            <a:off x="5391558" y="2370227"/>
            <a:ext cx="5461000" cy="3400245"/>
          </a:xfrm>
          <a:prstGeom prst="rect">
            <a:avLst/>
          </a:prstGeom>
        </p:spPr>
      </p:pic>
      <p:sp>
        <p:nvSpPr>
          <p:cNvPr id="19" name="形状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5D0B3"/>
              </a:gs>
              <a:gs pos="100000">
                <a:schemeClr val="accent3"/>
              </a:gs>
            </a:gsLst>
            <a:lin ang="16200000" scaled="0"/>
          </a:gra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0" name="文本"/>
          <p:cNvSpPr txBox="1"/>
          <p:nvPr/>
        </p:nvSpPr>
        <p:spPr>
          <a:xfrm>
            <a:off x="354006" y="3401161"/>
            <a:ext cx="11483989" cy="370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lvl1pPr>
          </a:lstStyle>
          <a:p/>
        </p:txBody>
      </p:sp>
      <p:sp>
        <p:nvSpPr>
          <p:cNvPr id="21" name="矩形: 圆角 13"/>
          <p:cNvSpPr/>
          <p:nvPr/>
        </p:nvSpPr>
        <p:spPr xmlns:m="http://schemas.openxmlformats.org/officeDocument/2006/math" xmlns:a14="http://schemas.microsoft.com/office/drawing/2010/main">
          <a:xfrm>
            <a:off x="4494689" y="2646708"/>
            <a:ext cx="1199390" cy="3327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2" name="矩形: 圆角 14"/>
          <p:cNvSpPr/>
          <p:nvPr/>
        </p:nvSpPr>
        <p:spPr xmlns:m="http://schemas.openxmlformats.org/officeDocument/2006/math" xmlns:a14="http://schemas.microsoft.com/office/drawing/2010/main">
          <a:xfrm>
            <a:off x="4494689" y="3092116"/>
            <a:ext cx="1199390" cy="3327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矩形: 圆角 15"/>
          <p:cNvSpPr/>
          <p:nvPr/>
        </p:nvSpPr>
        <p:spPr xmlns:m="http://schemas.openxmlformats.org/officeDocument/2006/math" xmlns:a14="http://schemas.microsoft.com/office/drawing/2010/main">
          <a:xfrm>
            <a:off x="4494689" y="3537525"/>
            <a:ext cx="1199390" cy="3327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AI发展简史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05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起源与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早期探索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466"/>
              <a:t>起源与早期探索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Qi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Yuan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Yu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Zao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Qi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聚焦1956年达特茅斯会议，确立人工智能学科概念及早期发展脉络。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回顾早期感知机等奠基性工作，探索AI领域从理论到实践的初步尝试。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Tan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6" descr="3bc7b2e75bf776d76f007cb139aca3ec93b5a98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8" name="图片 44" descr="3d1f60b8e25c7e26166ea16adc86f060267c709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19" name="图片 38" descr="f1b244730832b76ece29cd8e9091b16a3592b283.png"/>
          <p:cNvPicPr>
            <a:picLocks noChangeAspect="1"/>
          </p:cNvPicPr>
          <p:nvPr/>
        </p:nvPicPr>
        <p:blipFill>
          <a:blip r:embed="rId5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0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第贰章节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PRESENTATION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06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AI起源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AI历史研究组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早期探索历程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9502e18b92cff98373632f3bcf85341ac401c86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87481" y="986305"/>
            <a:ext cx="2100855" cy="1115212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0" name="图片 3" descr="ai_timelin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632200"/>
            <a:ext cx="5160433" cy="3213100"/>
          </a:xfrm>
          <a:prstGeom prst="rect">
            <a:avLst/>
          </a:prstGeom>
        </p:spPr>
      </p:pic>
      <p:pic>
        <p:nvPicPr>
          <p:cNvPr id="11" name="图片 6" descr="4441d17c3692211dfa46ecb959b735526e869d39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215245" y="4588042"/>
            <a:ext cx="1999484" cy="1419974"/>
          </a:xfrm>
          <a:prstGeom prst="rect">
            <a:avLst/>
          </a:prstGeom>
        </p:spPr>
      </p:pic>
      <p:pic>
        <p:nvPicPr>
          <p:cNvPr id="12" name="图片 5" descr="d1920e1bcef44b160d2d0ff999189187a85e1b1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36461" y="5894849"/>
            <a:ext cx="2955540" cy="963152"/>
          </a:xfrm>
          <a:prstGeom prst="rect">
            <a:avLst/>
          </a:prstGeom>
        </p:spPr>
      </p:pic>
      <p:sp>
        <p:nvSpPr>
          <p:cNvPr id="13" name="任意多边形: 形状 19"/>
          <p:cNvSpPr/>
          <p:nvPr/>
        </p:nvSpPr>
        <p:spPr xmlns:m="http://schemas.openxmlformats.org/officeDocument/2006/math" xmlns:a14="http://schemas.microsoft.com/office/drawing/2010/main">
          <a:xfrm rot="5400000">
            <a:off x="5236054" y="2535589"/>
            <a:ext cx="1672397" cy="704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4" name="文本框 20"/>
          <p:cNvSpPr txBox="1"/>
          <p:nvPr/>
        </p:nvSpPr>
        <p:spPr>
          <a:xfrm>
            <a:off x="5927317" y="2148563"/>
            <a:ext cx="345440" cy="147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 algn="ctr">
              <a:defRPr sz="20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学科诞生</a:t>
            </a:r>
          </a:p>
        </p:txBody>
      </p:sp>
      <p:sp>
        <p:nvSpPr>
          <p:cNvPr id="15" name="椭圆 21"/>
          <p:cNvSpPr/>
          <p:nvPr/>
        </p:nvSpPr>
        <p:spPr xmlns:m="http://schemas.openxmlformats.org/officeDocument/2006/math" xmlns:a14="http://schemas.microsoft.com/office/drawing/2010/main">
          <a:xfrm>
            <a:off x="1241103" y="2562631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椭圆 22"/>
          <p:cNvSpPr/>
          <p:nvPr/>
        </p:nvSpPr>
        <p:spPr xmlns:m="http://schemas.openxmlformats.org/officeDocument/2006/math" xmlns:a14="http://schemas.microsoft.com/office/drawing/2010/main">
          <a:xfrm>
            <a:off x="10588752" y="2570377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直接连接符 23"/>
          <p:cNvSpPr/>
          <p:nvPr/>
        </p:nvSpPr>
        <p:spPr>
          <a:xfrm>
            <a:off x="104330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24"/>
          <p:cNvSpPr txBox="1"/>
          <p:nvPr/>
        </p:nvSpPr>
        <p:spPr>
          <a:xfrm>
            <a:off x="106444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早期技术基础</a:t>
            </a:r>
          </a:p>
        </p:txBody>
      </p:sp>
      <p:sp>
        <p:nvSpPr>
          <p:cNvPr id="19" name="文本框 25"/>
          <p:cNvSpPr txBox="1"/>
          <p:nvPr/>
        </p:nvSpPr>
        <p:spPr>
          <a:xfrm>
            <a:off x="9579724" y="2496090"/>
            <a:ext cx="792481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1958年Rosenblatt发明感知机模型，模拟神经元结构，为后续人工神经网络的发展奠定基础。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10675448" y="2616229"/>
            <a:ext cx="320041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贰</a:t>
            </a:r>
          </a:p>
        </p:txBody>
      </p:sp>
      <p:sp>
        <p:nvSpPr>
          <p:cNvPr id="21" name="文本框 29"/>
          <p:cNvSpPr txBox="1"/>
          <p:nvPr/>
        </p:nvSpPr>
        <p:spPr>
          <a:xfrm>
            <a:off x="7731342" y="2496091"/>
            <a:ext cx="1572260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1958年发明感知机模型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奠定神经网络的发展基础</a:t>
            </a:r>
          </a:p>
        </p:txBody>
      </p:sp>
      <p:sp>
        <p:nvSpPr>
          <p:cNvPr id="22" name="直接连接符 30"/>
          <p:cNvSpPr/>
          <p:nvPr/>
        </p:nvSpPr>
        <p:spPr>
          <a:xfrm flipH="1">
            <a:off x="18605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3" name="文本框 31"/>
          <p:cNvSpPr txBox="1"/>
          <p:nvPr/>
        </p:nvSpPr>
        <p:spPr>
          <a:xfrm>
            <a:off x="13226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达特茅斯会议</a:t>
            </a:r>
          </a:p>
        </p:txBody>
      </p:sp>
      <p:sp>
        <p:nvSpPr>
          <p:cNvPr id="24" name="文本框 32"/>
          <p:cNvSpPr txBox="1"/>
          <p:nvPr/>
        </p:nvSpPr>
        <p:spPr>
          <a:xfrm>
            <a:off x="1353648" y="2616229"/>
            <a:ext cx="32004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壹</a:t>
            </a:r>
          </a:p>
        </p:txBody>
      </p:sp>
      <p:sp>
        <p:nvSpPr>
          <p:cNvPr id="25" name="文本框 33"/>
          <p:cNvSpPr txBox="1"/>
          <p:nvPr/>
        </p:nvSpPr>
        <p:spPr>
          <a:xfrm>
            <a:off x="2074024" y="2496090"/>
            <a:ext cx="792480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1956年McCarthy等学者在此提出“人工智能”概念，标志着AI作为一个独立学科正式诞生。</a:t>
            </a:r>
          </a:p>
        </p:txBody>
      </p:sp>
      <p:sp>
        <p:nvSpPr>
          <p:cNvPr id="26" name="文本框 34"/>
          <p:cNvSpPr txBox="1"/>
          <p:nvPr/>
        </p:nvSpPr>
        <p:spPr>
          <a:xfrm>
            <a:off x="3070442" y="2496091"/>
            <a:ext cx="1572261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1956年达特茅斯会议召开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标志着AI独立学科正式诞生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AI发展简史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07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技术演进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迈向感知新高度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Sh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Du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Xue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Xi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Ge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2012年AlexNet开启深度学习革命，通过多层神经网络在图像和博弈领域取得历史性重大突破。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本章将探讨层次化特征提取机制，解析深度学习如何显著提升模型的表征能力与AI性能表现。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M.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6" descr="3bc7b2e75bf776d76f007cb139aca3ec93b5a98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8" name="图片 44" descr="3d1f60b8e25c7e26166ea16adc86f060267c709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19" name="图片 38" descr="f1b244730832b76ece29cd8e9091b16a3592b283.png"/>
          <p:cNvPicPr>
            <a:picLocks noChangeAspect="1"/>
          </p:cNvPicPr>
          <p:nvPr/>
        </p:nvPicPr>
        <p:blipFill>
          <a:blip r:embed="rId5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0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第三章节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AI发展历程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08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人工智能研究室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革命性技术机制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9502e18b92cff98373632f3bcf85341ac401c86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87481" y="986305"/>
            <a:ext cx="2100855" cy="1115212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0" name="图片 3" descr="deep_learning_layer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632200"/>
            <a:ext cx="3933825" cy="3213100"/>
          </a:xfrm>
          <a:prstGeom prst="rect">
            <a:avLst/>
          </a:prstGeom>
        </p:spPr>
      </p:pic>
      <p:pic>
        <p:nvPicPr>
          <p:cNvPr id="11" name="图片 6" descr="4441d17c3692211dfa46ecb959b735526e869d39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215245" y="4588042"/>
            <a:ext cx="1999484" cy="1419974"/>
          </a:xfrm>
          <a:prstGeom prst="rect">
            <a:avLst/>
          </a:prstGeom>
        </p:spPr>
      </p:pic>
      <p:pic>
        <p:nvPicPr>
          <p:cNvPr id="12" name="图片 5" descr="d1920e1bcef44b160d2d0ff999189187a85e1b1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36461" y="5894849"/>
            <a:ext cx="2955540" cy="963152"/>
          </a:xfrm>
          <a:prstGeom prst="rect">
            <a:avLst/>
          </a:prstGeom>
        </p:spPr>
      </p:pic>
      <p:sp>
        <p:nvSpPr>
          <p:cNvPr id="13" name="任意多边形: 形状 19"/>
          <p:cNvSpPr/>
          <p:nvPr/>
        </p:nvSpPr>
        <p:spPr xmlns:m="http://schemas.openxmlformats.org/officeDocument/2006/math" xmlns:a14="http://schemas.microsoft.com/office/drawing/2010/main">
          <a:xfrm rot="5400000">
            <a:off x="5236054" y="2535589"/>
            <a:ext cx="1672397" cy="704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4" name="文本框 20"/>
          <p:cNvSpPr txBox="1"/>
          <p:nvPr/>
        </p:nvSpPr>
        <p:spPr>
          <a:xfrm>
            <a:off x="5927317" y="2148563"/>
            <a:ext cx="345440" cy="147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 algn="ctr">
              <a:defRPr sz="20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核心原理</a:t>
            </a:r>
          </a:p>
        </p:txBody>
      </p:sp>
      <p:sp>
        <p:nvSpPr>
          <p:cNvPr id="15" name="椭圆 21"/>
          <p:cNvSpPr/>
          <p:nvPr/>
        </p:nvSpPr>
        <p:spPr xmlns:m="http://schemas.openxmlformats.org/officeDocument/2006/math" xmlns:a14="http://schemas.microsoft.com/office/drawing/2010/main">
          <a:xfrm>
            <a:off x="1241103" y="2562631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椭圆 22"/>
          <p:cNvSpPr/>
          <p:nvPr/>
        </p:nvSpPr>
        <p:spPr xmlns:m="http://schemas.openxmlformats.org/officeDocument/2006/math" xmlns:a14="http://schemas.microsoft.com/office/drawing/2010/main">
          <a:xfrm>
            <a:off x="10588752" y="2570377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直接连接符 23"/>
          <p:cNvSpPr/>
          <p:nvPr/>
        </p:nvSpPr>
        <p:spPr>
          <a:xfrm>
            <a:off x="104330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24"/>
          <p:cNvSpPr txBox="1"/>
          <p:nvPr/>
        </p:nvSpPr>
        <p:spPr>
          <a:xfrm>
            <a:off x="106444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分层特征提取</a:t>
            </a:r>
          </a:p>
        </p:txBody>
      </p:sp>
      <p:sp>
        <p:nvSpPr>
          <p:cNvPr id="19" name="文本框 25"/>
          <p:cNvSpPr txBox="1"/>
          <p:nvPr/>
        </p:nvSpPr>
        <p:spPr>
          <a:xfrm>
            <a:off x="9579724" y="2496090"/>
            <a:ext cx="792481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多层神经网络通过分层架构，从基础的线条、边缘等初级特征逐步抽象，最终实现对复杂物体的语义化识别。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10675448" y="2616229"/>
            <a:ext cx="320041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贰</a:t>
            </a:r>
          </a:p>
        </p:txBody>
      </p:sp>
      <p:sp>
        <p:nvSpPr>
          <p:cNvPr id="21" name="文本框 29"/>
          <p:cNvSpPr txBox="1"/>
          <p:nvPr/>
        </p:nvSpPr>
        <p:spPr>
          <a:xfrm>
            <a:off x="7731342" y="2496091"/>
            <a:ext cx="1572260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自动学习高维度的抽象特征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从简单形状到复杂语义的演进</a:t>
            </a:r>
          </a:p>
        </p:txBody>
      </p:sp>
      <p:sp>
        <p:nvSpPr>
          <p:cNvPr id="22" name="直接连接符 30"/>
          <p:cNvSpPr/>
          <p:nvPr/>
        </p:nvSpPr>
        <p:spPr>
          <a:xfrm flipH="1">
            <a:off x="18605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3" name="文本框 31"/>
          <p:cNvSpPr txBox="1"/>
          <p:nvPr/>
        </p:nvSpPr>
        <p:spPr>
          <a:xfrm>
            <a:off x="13226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时代开启标志</a:t>
            </a:r>
          </a:p>
        </p:txBody>
      </p:sp>
      <p:sp>
        <p:nvSpPr>
          <p:cNvPr id="24" name="文本框 32"/>
          <p:cNvSpPr txBox="1"/>
          <p:nvPr/>
        </p:nvSpPr>
        <p:spPr>
          <a:xfrm>
            <a:off x="1353648" y="2616229"/>
            <a:ext cx="32004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壹</a:t>
            </a:r>
          </a:p>
        </p:txBody>
      </p:sp>
      <p:sp>
        <p:nvSpPr>
          <p:cNvPr id="25" name="文本框 33"/>
          <p:cNvSpPr txBox="1"/>
          <p:nvPr/>
        </p:nvSpPr>
        <p:spPr>
          <a:xfrm>
            <a:off x="2074024" y="2496090"/>
            <a:ext cx="792480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2012年AlexNet在ImageNet夺冠，随后ResNet等模型持续刷新SOTA。</a:t>
            </a:r>
          </a:p>
        </p:txBody>
      </p:sp>
      <p:sp>
        <p:nvSpPr>
          <p:cNvPr id="26" name="文本框 34"/>
          <p:cNvSpPr txBox="1"/>
          <p:nvPr/>
        </p:nvSpPr>
        <p:spPr>
          <a:xfrm>
            <a:off x="3070442" y="2496091"/>
            <a:ext cx="1572261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错误率由26%显著降至15.3%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模型能力在特定领域超越人类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PRESENTATION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09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PART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AI发展简史专题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架构创新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Jia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Gou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Chua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Xin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Tran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本章节探讨2017年Transformer架构及其自注意力机制，揭示其如何奠定大语言模型时代的技术基础。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重点分析模型架构向注意力机制的演进，展现AI在处理长序列数据及模型规模上的巨大跨越。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er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6" descr="3bc7b2e75bf776d76f007cb139aca3ec93b5a98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8" name="图片 44" descr="3d1f60b8e25c7e26166ea16adc86f060267c709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19" name="图片 38" descr="f1b244730832b76ece29cd8e9091b16a3592b283.png"/>
          <p:cNvPicPr>
            <a:picLocks noChangeAspect="1"/>
          </p:cNvPicPr>
          <p:nvPr/>
        </p:nvPicPr>
        <p:blipFill>
          <a:blip r:embed="rId5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0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第四章节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 HISTORY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10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架构创新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AI研究实验室</a:t>
            </a:r>
          </a:p>
        </p:txBody>
      </p:sp>
      <p:sp>
        <p:nvSpPr>
          <p:cNvPr id="6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核心架构解析</a:t>
            </a:r>
          </a:p>
        </p:txBody>
      </p:sp>
      <p:sp>
        <p:nvSpPr>
          <p:cNvPr id="7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8" name="图片 41" descr="9502e18b92cff98373632f3bcf85341ac401c864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87481" y="986305"/>
            <a:ext cx="2100855" cy="1115212"/>
          </a:xfrm>
          <a:prstGeom prst="rect">
            <a:avLst/>
          </a:prstGeom>
        </p:spPr>
      </p:pic>
      <p:sp>
        <p:nvSpPr>
          <p:cNvPr id="9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0" name="图片 3" descr="transformer_architectur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632200"/>
            <a:ext cx="4473139" cy="3213100"/>
          </a:xfrm>
          <a:prstGeom prst="rect">
            <a:avLst/>
          </a:prstGeom>
        </p:spPr>
      </p:pic>
      <p:pic>
        <p:nvPicPr>
          <p:cNvPr id="11" name="图片 6" descr="4441d17c3692211dfa46ecb959b735526e869d39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215245" y="4588042"/>
            <a:ext cx="1999484" cy="1419974"/>
          </a:xfrm>
          <a:prstGeom prst="rect">
            <a:avLst/>
          </a:prstGeom>
        </p:spPr>
      </p:pic>
      <p:pic>
        <p:nvPicPr>
          <p:cNvPr id="12" name="图片 5" descr="d1920e1bcef44b160d2d0ff999189187a85e1b1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36461" y="5894849"/>
            <a:ext cx="2955540" cy="963152"/>
          </a:xfrm>
          <a:prstGeom prst="rect">
            <a:avLst/>
          </a:prstGeom>
        </p:spPr>
      </p:pic>
      <p:sp>
        <p:nvSpPr>
          <p:cNvPr id="13" name="任意多边形: 形状 19"/>
          <p:cNvSpPr/>
          <p:nvPr/>
        </p:nvSpPr>
        <p:spPr xmlns:m="http://schemas.openxmlformats.org/officeDocument/2006/math" xmlns:a14="http://schemas.microsoft.com/office/drawing/2010/main">
          <a:xfrm rot="5400000">
            <a:off x="5236054" y="2535589"/>
            <a:ext cx="1672397" cy="704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4" name="文本框 20"/>
          <p:cNvSpPr txBox="1"/>
          <p:nvPr/>
        </p:nvSpPr>
        <p:spPr>
          <a:xfrm>
            <a:off x="5927317" y="2148563"/>
            <a:ext cx="345440" cy="147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 algn="ctr">
              <a:defRPr sz="20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架构基石</a:t>
            </a:r>
          </a:p>
        </p:txBody>
      </p:sp>
      <p:sp>
        <p:nvSpPr>
          <p:cNvPr id="15" name="椭圆 21"/>
          <p:cNvSpPr/>
          <p:nvPr/>
        </p:nvSpPr>
        <p:spPr xmlns:m="http://schemas.openxmlformats.org/officeDocument/2006/math" xmlns:a14="http://schemas.microsoft.com/office/drawing/2010/main">
          <a:xfrm>
            <a:off x="1241103" y="2562631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6" name="椭圆 22"/>
          <p:cNvSpPr/>
          <p:nvPr/>
        </p:nvSpPr>
        <p:spPr xmlns:m="http://schemas.openxmlformats.org/officeDocument/2006/math" xmlns:a14="http://schemas.microsoft.com/office/drawing/2010/main">
          <a:xfrm>
            <a:off x="10588752" y="2570377"/>
            <a:ext cx="438485" cy="43848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17" name="直接连接符 23"/>
          <p:cNvSpPr/>
          <p:nvPr/>
        </p:nvSpPr>
        <p:spPr>
          <a:xfrm>
            <a:off x="104330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8" name="文本框 24"/>
          <p:cNvSpPr txBox="1"/>
          <p:nvPr/>
        </p:nvSpPr>
        <p:spPr>
          <a:xfrm>
            <a:off x="106444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能力涌现</a:t>
            </a:r>
          </a:p>
        </p:txBody>
      </p:sp>
      <p:sp>
        <p:nvSpPr>
          <p:cNvPr id="19" name="文本框 25"/>
          <p:cNvSpPr txBox="1"/>
          <p:nvPr/>
        </p:nvSpPr>
        <p:spPr>
          <a:xfrm>
            <a:off x="9579724" y="2496090"/>
            <a:ext cx="792481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从BERT到GPT-4的演进，由于Transformer的扩展性，使得模型在大规模参数下产生了思维链等涌现能力。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10675448" y="2616229"/>
            <a:ext cx="320041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贰</a:t>
            </a:r>
          </a:p>
        </p:txBody>
      </p:sp>
      <p:sp>
        <p:nvSpPr>
          <p:cNvPr id="21" name="文本框 29"/>
          <p:cNvSpPr txBox="1"/>
          <p:nvPr/>
        </p:nvSpPr>
        <p:spPr>
          <a:xfrm>
            <a:off x="7731342" y="2496091"/>
            <a:ext cx="1572260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支撑参数量级实现指数增长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实现上下文学习等逻辑突破</a:t>
            </a:r>
          </a:p>
        </p:txBody>
      </p:sp>
      <p:sp>
        <p:nvSpPr>
          <p:cNvPr id="22" name="直接连接符 30"/>
          <p:cNvSpPr/>
          <p:nvPr/>
        </p:nvSpPr>
        <p:spPr>
          <a:xfrm flipH="1">
            <a:off x="1860595" y="2505075"/>
            <a:ext cx="1" cy="270510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23" name="文本框 31"/>
          <p:cNvSpPr txBox="1"/>
          <p:nvPr/>
        </p:nvSpPr>
        <p:spPr>
          <a:xfrm>
            <a:off x="1322661" y="3122729"/>
            <a:ext cx="396241" cy="216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 sz="24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核心机制</a:t>
            </a:r>
          </a:p>
        </p:txBody>
      </p:sp>
      <p:sp>
        <p:nvSpPr>
          <p:cNvPr id="24" name="文本框 32"/>
          <p:cNvSpPr txBox="1"/>
          <p:nvPr/>
        </p:nvSpPr>
        <p:spPr>
          <a:xfrm>
            <a:off x="1353648" y="2616229"/>
            <a:ext cx="32004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spAutoFit/>
          </a:bodyPr>
          <a:lstStyle>
            <a:lvl1pPr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壹</a:t>
            </a:r>
          </a:p>
        </p:txBody>
      </p:sp>
      <p:sp>
        <p:nvSpPr>
          <p:cNvPr id="25" name="文本框 33"/>
          <p:cNvSpPr txBox="1"/>
          <p:nvPr/>
        </p:nvSpPr>
        <p:spPr>
          <a:xfrm>
            <a:off x="2074024" y="2496090"/>
            <a:ext cx="792480" cy="2792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lnSpc>
                <a:spcPct val="130000"/>
              </a:lnSpc>
              <a:defRPr sz="1200">
                <a:solidFill>
                  <a:srgbClr val="767171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2017年Transformer架构问世，通过自注意力机制实现并行计算，为大语言模型时代的到来奠定了基础。</a:t>
            </a:r>
          </a:p>
        </p:txBody>
      </p:sp>
      <p:sp>
        <p:nvSpPr>
          <p:cNvPr id="26" name="文本框 34"/>
          <p:cNvSpPr txBox="1"/>
          <p:nvPr/>
        </p:nvSpPr>
        <p:spPr>
          <a:xfrm>
            <a:off x="3070442" y="2496091"/>
            <a:ext cx="1572261" cy="1228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vert="eaVert"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自注意力机制优化特征提取</a:t>
            </a: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</a:p>
          <a:p>
            <a:pPr>
              <a:lnSpc>
                <a:spcPct val="13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解决长序列依赖训练难题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PRESENTATION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11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SECT.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AI发展简史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3077096" y="1927566"/>
            <a:ext cx="6037808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466"/>
              <a:t>大语言模型时代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278343" y="1748009"/>
            <a:ext cx="611938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Da</a:t>
            </a:r>
          </a:p>
        </p:txBody>
      </p:sp>
      <p:sp>
        <p:nvSpPr>
          <p:cNvPr id="10" name="文本框 6"/>
          <p:cNvSpPr txBox="1"/>
          <p:nvPr/>
        </p:nvSpPr>
        <p:spPr>
          <a:xfrm>
            <a:off x="4304210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Yu</a:t>
            </a:r>
          </a:p>
        </p:txBody>
      </p:sp>
      <p:sp>
        <p:nvSpPr>
          <p:cNvPr id="11" name="文本框 13"/>
          <p:cNvSpPr txBox="1"/>
          <p:nvPr/>
        </p:nvSpPr>
        <p:spPr>
          <a:xfrm>
            <a:off x="5271120" y="1748009"/>
            <a:ext cx="739626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Yan</a:t>
            </a:r>
          </a:p>
        </p:txBody>
      </p:sp>
      <p:sp>
        <p:nvSpPr>
          <p:cNvPr id="12" name="文本框 14"/>
          <p:cNvSpPr txBox="1"/>
          <p:nvPr/>
        </p:nvSpPr>
        <p:spPr>
          <a:xfrm>
            <a:off x="6376025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Mo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7317196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Xing</a:t>
            </a:r>
          </a:p>
        </p:txBody>
      </p:sp>
      <p:sp>
        <p:nvSpPr>
          <p:cNvPr id="14" name="文本框 16"/>
          <p:cNvSpPr txBox="1"/>
          <p:nvPr/>
        </p:nvSpPr>
        <p:spPr>
          <a:xfrm>
            <a:off x="2248810" y="4299856"/>
            <a:ext cx="7827731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2020年后以Transformer架构和GPT-4为代表，展现了AI在模型规模与涌现能力上的巨大跨越。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本节讨论从深度学习到LLM广泛应用的转型，解析参数规模与大模型时代智能涌现 de 关联性。</a:t>
            </a:r>
            <a:endParaRPr>
              <a:latin typeface="+mj-lt"/>
              <a:ea typeface="+mj-ea"/>
              <a:cs typeface="+mj-cs"/>
              <a:sym typeface="微软雅黑"/>
            </a:endParaRPr>
          </a:p>
        </p:txBody>
      </p:sp>
      <p:sp>
        <p:nvSpPr>
          <p:cNvPr id="15" name="文本框 18"/>
          <p:cNvSpPr txBox="1"/>
          <p:nvPr/>
        </p:nvSpPr>
        <p:spPr>
          <a:xfrm>
            <a:off x="8279221" y="1748009"/>
            <a:ext cx="611937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Shi</a:t>
            </a:r>
          </a:p>
        </p:txBody>
      </p:sp>
      <p:sp>
        <p:nvSpPr>
          <p:cNvPr id="16" name="直接连接符 23"/>
          <p:cNvSpPr/>
          <p:nvPr/>
        </p:nvSpPr>
        <p:spPr>
          <a:xfrm>
            <a:off x="2830139" y="3102006"/>
            <a:ext cx="6531724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D0CECE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17" name="图片 46" descr="3bc7b2e75bf776d76f007cb139aca3ec93b5a98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" y="3127841"/>
            <a:ext cx="2721634" cy="3730161"/>
          </a:xfrm>
          <a:prstGeom prst="rect">
            <a:avLst/>
          </a:prstGeom>
        </p:spPr>
      </p:pic>
      <p:pic>
        <p:nvPicPr>
          <p:cNvPr id="18" name="图片 44" descr="3d1f60b8e25c7e26166ea16adc86f060267c709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685168" flipH="1">
            <a:off x="-307928" y="4605417"/>
            <a:ext cx="4710905" cy="2639507"/>
          </a:xfrm>
          <a:prstGeom prst="rect">
            <a:avLst/>
          </a:prstGeom>
        </p:spPr>
      </p:pic>
      <p:pic>
        <p:nvPicPr>
          <p:cNvPr id="19" name="图片 38" descr="f1b244730832b76ece29cd8e9091b16a3592b283.png"/>
          <p:cNvPicPr>
            <a:picLocks noChangeAspect="1"/>
          </p:cNvPicPr>
          <p:nvPr/>
        </p:nvPicPr>
        <p:blipFill>
          <a:blip r:embed="rId5"/>
          <a:srcRect b="7" r="4"/>
          <a:stretch>
            <a:fillRect/>
          </a:stretch>
        </p:blipFill>
        <p:spPr>
          <a:xfrm rot="20979547">
            <a:off x="8340271" y="5093635"/>
            <a:ext cx="4071145" cy="2078436"/>
          </a:xfrm>
          <a:prstGeom prst="rect">
            <a:avLst/>
          </a:prstGeom>
        </p:spPr>
      </p:pic>
      <p:sp>
        <p:nvSpPr>
          <p:cNvPr id="20" name="任意多边形: 形状 19"/>
          <p:cNvSpPr/>
          <p:nvPr/>
        </p:nvSpPr>
        <p:spPr xmlns:m="http://schemas.openxmlformats.org/officeDocument/2006/math" xmlns:a14="http://schemas.microsoft.com/office/drawing/2010/main">
          <a:xfrm rot="10800000">
            <a:off x="4951584" y="3289818"/>
            <a:ext cx="2288833" cy="775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solidFill>
            <a:schemeClr val="accent1"/>
          </a:soli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1" name="文本框 20"/>
          <p:cNvSpPr txBox="1"/>
          <p:nvPr/>
        </p:nvSpPr>
        <p:spPr>
          <a:xfrm>
            <a:off x="5332730" y="3415917"/>
            <a:ext cx="1526541" cy="599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noAutofit/>
          </a:bodyPr>
          <a:lstStyle>
            <a:lvl1pPr algn="ctr">
              <a:defRPr sz="28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第5章节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AI发展史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2026.04.21</a:t>
            </a:r>
          </a:p>
        </p:txBody>
      </p:sp>
      <p:sp>
        <p:nvSpPr>
          <p:cNvPr id="3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LLM时代</a:t>
            </a:r>
          </a:p>
        </p:txBody>
      </p:sp>
      <p:sp>
        <p:nvSpPr>
          <p:cNvPr id="4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大语言模型变革</a:t>
            </a:r>
          </a:p>
        </p:txBody>
      </p:sp>
      <p:sp>
        <p:nvSpPr>
          <p:cNvPr id="5" name="文本框 12"/>
          <p:cNvSpPr txBox="1"/>
          <p:nvPr/>
        </p:nvSpPr>
        <p:spPr>
          <a:xfrm>
            <a:off x="4456338" y="1034844"/>
            <a:ext cx="329642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algn="just">
              <a:defRPr sz="36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大模型时代</a:t>
            </a:r>
          </a:p>
        </p:txBody>
      </p:sp>
      <p:sp>
        <p:nvSpPr>
          <p:cNvPr id="6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7" name="图片 41" descr="1b43695cd3f795b0c50dbb341292c45d644cfc6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25260" y="986305"/>
            <a:ext cx="2363076" cy="1254407"/>
          </a:xfrm>
          <a:prstGeom prst="rect">
            <a:avLst/>
          </a:prstGeom>
        </p:spPr>
      </p:pic>
      <p:sp>
        <p:nvSpPr>
          <p:cNvPr id="8" name="直接连接符 58"/>
          <p:cNvSpPr/>
          <p:nvPr/>
        </p:nvSpPr>
        <p:spPr>
          <a:xfrm>
            <a:off x="4156969" y="1676374"/>
            <a:ext cx="3878062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rgbClr val="AFABAB"/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pic>
        <p:nvPicPr>
          <p:cNvPr id="9" name="图片 25" descr="f167d746f2b211a948688ec3bbcfd5703d8fc06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" y="5614447"/>
            <a:ext cx="5515430" cy="1243553"/>
          </a:xfrm>
          <a:prstGeom prst="rect">
            <a:avLst/>
          </a:prstGeom>
        </p:spPr>
      </p:pic>
      <p:pic>
        <p:nvPicPr>
          <p:cNvPr id="10" name="图片 3" descr="df115716322fc9224736b282903919c7803f7c07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9545053" y="4645355"/>
            <a:ext cx="2646947" cy="2212647"/>
          </a:xfrm>
          <a:prstGeom prst="rect">
            <a:avLst/>
          </a:prstGeom>
        </p:spPr>
      </p:pic>
      <p:pic>
        <p:nvPicPr>
          <p:cNvPr id="11" name="图片 6" descr="b0485fff6d77a640fb43b343a2e19fff59a033ea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91556" y="5887651"/>
            <a:ext cx="6800445" cy="970350"/>
          </a:xfrm>
          <a:prstGeom prst="rect">
            <a:avLst/>
          </a:prstGeom>
        </p:spPr>
      </p:pic>
      <p:sp>
        <p:nvSpPr>
          <p:cNvPr id="12" name="文本框 17"/>
          <p:cNvSpPr txBox="1"/>
          <p:nvPr/>
        </p:nvSpPr>
        <p:spPr>
          <a:xfrm>
            <a:off x="1302645" y="3384825"/>
            <a:ext cx="300505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技术进化</a:t>
            </a:r>
          </a:p>
        </p:txBody>
      </p:sp>
      <p:sp>
        <p:nvSpPr>
          <p:cNvPr id="13" name="文本框 15"/>
          <p:cNvSpPr txBox="1"/>
          <p:nvPr/>
        </p:nvSpPr>
        <p:spPr>
          <a:xfrm>
            <a:off x="1302645" y="3973452"/>
            <a:ext cx="2639435" cy="160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>
              <a:lnSpc>
                <a:spcPct val="15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2017年Transformer诞生，2022年ChatGPT开启LLM时代</a:t>
            </a:r>
          </a:p>
          <a:p>
            <a:pPr>
              <a:lnSpc>
                <a:spcPct val="150000"/>
              </a:lnSpc>
              <a:defRPr sz="1200">
                <a:solidFill>
                  <a:srgbClr val="76717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模型从BERT亿级跃升至GPT-4万亿级，支撑关键涌现能力</a:t>
            </a:r>
          </a:p>
        </p:txBody>
      </p:sp>
      <p:pic>
        <p:nvPicPr>
          <p:cNvPr id="14" name="图片 20" descr="f4fbdf9418394e9bd706ec2d8af04307fd4a5f86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01989" y="2205633"/>
            <a:ext cx="1306557" cy="1011218"/>
          </a:xfrm>
          <a:prstGeom prst="rect">
            <a:avLst/>
          </a:prstGeom>
        </p:spPr>
      </p:pic>
      <p:sp>
        <p:nvSpPr>
          <p:cNvPr id="15" name="文本框 15"/>
          <p:cNvSpPr txBox="1"/>
          <p:nvPr/>
        </p:nvSpPr>
        <p:spPr>
          <a:xfrm>
            <a:off x="4605755" y="2626784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参数规模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05755" y="3079220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涌现效应</a:t>
            </a:r>
          </a:p>
        </p:txBody>
      </p:sp>
      <p:sp>
        <p:nvSpPr>
          <p:cNvPr id="17" name="文本框 15"/>
          <p:cNvSpPr txBox="1"/>
          <p:nvPr/>
        </p:nvSpPr>
        <p:spPr>
          <a:xfrm>
            <a:off x="4605755" y="3517370"/>
            <a:ext cx="92462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lnSpc>
                <a:spcPct val="150000"/>
              </a:lnSpc>
              <a:defRPr sz="1200">
                <a:solidFill>
                  <a:schemeClr val="accent3"/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应用爆发</a:t>
            </a:r>
          </a:p>
        </p:txBody>
      </p:sp>
      <p:pic>
        <p:nvPicPr>
          <p:cNvPr id="18" name="图片 31" descr="ai_timeline.png"/>
          <p:cNvPicPr>
            <a:picLocks noChangeAspect="1"/>
          </p:cNvPicPr>
          <p:nvPr/>
        </p:nvPicPr>
        <p:blipFill>
          <a:blip r:embed="rId7"/>
          <a:srcRect b="1" r="2"/>
          <a:stretch>
            <a:fillRect/>
          </a:stretch>
        </p:blipFill>
        <p:spPr>
          <a:xfrm>
            <a:off x="5391558" y="2370227"/>
            <a:ext cx="5461000" cy="3400245"/>
          </a:xfrm>
          <a:prstGeom prst="rect">
            <a:avLst/>
          </a:prstGeom>
        </p:spPr>
      </p:pic>
      <p:sp>
        <p:nvSpPr>
          <p:cNvPr id="19" name="形状"/>
          <p:cNvSpPr/>
          <p:nvPr/>
        </p:nvSpPr>
        <p:spPr xmlns:m="http://schemas.openxmlformats.org/officeDocument/2006/math" xmlns:a14="http://schemas.microsoft.com/office/drawing/2010/main">
          <a:xfrm>
            <a:off x="297174" y="7322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5D0B3"/>
              </a:gs>
              <a:gs pos="100000">
                <a:schemeClr val="accent3"/>
              </a:gs>
            </a:gsLst>
            <a:lin ang="16200000" scaled="0"/>
          </a:gradFill>
          <a:ln w="22225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0" name="文本"/>
          <p:cNvSpPr txBox="1"/>
          <p:nvPr/>
        </p:nvSpPr>
        <p:spPr>
          <a:xfrm>
            <a:off x="354006" y="3401161"/>
            <a:ext cx="11483989" cy="370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lvl1pPr>
          </a:lstStyle>
          <a:p/>
        </p:txBody>
      </p:sp>
      <p:sp>
        <p:nvSpPr>
          <p:cNvPr id="21" name="矩形: 圆角 13"/>
          <p:cNvSpPr/>
          <p:nvPr/>
        </p:nvSpPr>
        <p:spPr xmlns:m="http://schemas.openxmlformats.org/officeDocument/2006/math" xmlns:a14="http://schemas.microsoft.com/office/drawing/2010/main">
          <a:xfrm>
            <a:off x="4494689" y="2646708"/>
            <a:ext cx="1199390" cy="3327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2" name="矩形: 圆角 14"/>
          <p:cNvSpPr/>
          <p:nvPr/>
        </p:nvSpPr>
        <p:spPr xmlns:m="http://schemas.openxmlformats.org/officeDocument/2006/math" xmlns:a14="http://schemas.microsoft.com/office/drawing/2010/main">
          <a:xfrm>
            <a:off x="4494689" y="3092116"/>
            <a:ext cx="1199390" cy="33275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23" name="矩形: 圆角 15"/>
          <p:cNvSpPr/>
          <p:nvPr/>
        </p:nvSpPr>
        <p:spPr xmlns:m="http://schemas.openxmlformats.org/officeDocument/2006/math" xmlns:a14="http://schemas.microsoft.com/office/drawing/2010/main">
          <a:xfrm>
            <a:off x="4494689" y="3537525"/>
            <a:ext cx="1199390" cy="3327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accent3">
                <a:hueOff val="-2520000"/>
                <a:satOff val="-41666"/>
                <a:lumOff val="4705"/>
              </a:scheme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xmlns:m="http://schemas.openxmlformats.org/officeDocument/2006/math" xmlns:a14="http://schemas.microsoft.com/office/drawing/2010/main">
        <a:solidFill>
          <a:schemeClr val="accent1"/>
        </a:solidFill>
      </p:bgPr>
    </p:bg>
    <p:spTree>
      <p:nvGrpSpPr>
        <p:cNvPr id="1" name=""/>
        <p:cNvGrpSpPr/>
        <p:nvPr/>
      </p:nvGrpSpPr>
      <p:grpSpPr/>
      <p:sp>
        <p:nvSpPr>
          <p:cNvPr id="2" name="任意多边形: 形状 8"/>
          <p:cNvSpPr/>
          <p:nvPr/>
        </p:nvSpPr>
        <p:spPr xmlns:m="http://schemas.openxmlformats.org/officeDocument/2006/math" xmlns:a14="http://schemas.microsoft.com/office/drawing/2010/main">
          <a:xfrm>
            <a:off x="333686" y="694167"/>
            <a:ext cx="11597654" cy="57086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902" y="0"/>
                </a:moveTo>
                <a:lnTo>
                  <a:pt x="18365" y="0"/>
                </a:lnTo>
                <a:cubicBezTo>
                  <a:pt x="19046" y="0"/>
                  <a:pt x="19631" y="905"/>
                  <a:pt x="19881" y="2196"/>
                </a:cubicBezTo>
                <a:lnTo>
                  <a:pt x="19963" y="2779"/>
                </a:lnTo>
                <a:lnTo>
                  <a:pt x="19992" y="2798"/>
                </a:lnTo>
                <a:cubicBezTo>
                  <a:pt x="20441" y="3213"/>
                  <a:pt x="20756" y="4185"/>
                  <a:pt x="20756" y="5318"/>
                </a:cubicBezTo>
                <a:lnTo>
                  <a:pt x="20756" y="7435"/>
                </a:lnTo>
                <a:lnTo>
                  <a:pt x="20762" y="7590"/>
                </a:lnTo>
                <a:cubicBezTo>
                  <a:pt x="20853" y="9348"/>
                  <a:pt x="21276" y="9854"/>
                  <a:pt x="21600" y="10225"/>
                </a:cubicBezTo>
                <a:cubicBezTo>
                  <a:pt x="21271" y="10709"/>
                  <a:pt x="20875" y="10747"/>
                  <a:pt x="20770" y="12722"/>
                </a:cubicBezTo>
                <a:lnTo>
                  <a:pt x="20756" y="13079"/>
                </a:lnTo>
                <a:lnTo>
                  <a:pt x="20756" y="16282"/>
                </a:lnTo>
                <a:cubicBezTo>
                  <a:pt x="20756" y="17415"/>
                  <a:pt x="20441" y="18387"/>
                  <a:pt x="19992" y="18802"/>
                </a:cubicBezTo>
                <a:lnTo>
                  <a:pt x="19963" y="18821"/>
                </a:lnTo>
                <a:lnTo>
                  <a:pt x="19881" y="19404"/>
                </a:lnTo>
                <a:cubicBezTo>
                  <a:pt x="19631" y="20695"/>
                  <a:pt x="19046" y="21600"/>
                  <a:pt x="18365" y="21600"/>
                </a:cubicBezTo>
                <a:lnTo>
                  <a:pt x="2902" y="21600"/>
                </a:lnTo>
                <a:cubicBezTo>
                  <a:pt x="2107" y="21600"/>
                  <a:pt x="1444" y="20368"/>
                  <a:pt x="1290" y="18730"/>
                </a:cubicBezTo>
                <a:lnTo>
                  <a:pt x="1276" y="18429"/>
                </a:lnTo>
                <a:lnTo>
                  <a:pt x="1158" y="18216"/>
                </a:lnTo>
                <a:cubicBezTo>
                  <a:pt x="932" y="17721"/>
                  <a:pt x="792" y="17037"/>
                  <a:pt x="792" y="16282"/>
                </a:cubicBezTo>
                <a:lnTo>
                  <a:pt x="792" y="13370"/>
                </a:lnTo>
                <a:lnTo>
                  <a:pt x="789" y="13189"/>
                </a:lnTo>
                <a:cubicBezTo>
                  <a:pt x="733" y="10824"/>
                  <a:pt x="328" y="10743"/>
                  <a:pt x="0" y="10225"/>
                </a:cubicBezTo>
                <a:cubicBezTo>
                  <a:pt x="323" y="9828"/>
                  <a:pt x="712" y="9177"/>
                  <a:pt x="785" y="7175"/>
                </a:cubicBezTo>
                <a:lnTo>
                  <a:pt x="792" y="6925"/>
                </a:lnTo>
                <a:lnTo>
                  <a:pt x="792" y="5318"/>
                </a:lnTo>
                <a:cubicBezTo>
                  <a:pt x="792" y="4563"/>
                  <a:pt x="932" y="3879"/>
                  <a:pt x="1158" y="3384"/>
                </a:cubicBezTo>
                <a:lnTo>
                  <a:pt x="1276" y="3171"/>
                </a:lnTo>
                <a:lnTo>
                  <a:pt x="1290" y="2870"/>
                </a:lnTo>
                <a:cubicBezTo>
                  <a:pt x="1444" y="1232"/>
                  <a:pt x="2107" y="0"/>
                  <a:pt x="2902" y="0"/>
                </a:cubicBezTo>
                <a:close/>
              </a:path>
            </a:pathLst>
          </a:custGeom>
          <a:gradFill>
            <a:gsLst>
              <a:gs pos="0">
                <a:srgbClr val="E5D0B3"/>
              </a:gs>
              <a:gs pos="100000">
                <a:schemeClr val="accent3"/>
              </a:gs>
            </a:gsLst>
            <a:lin ang="16200000"/>
          </a:gradFill>
          <a:ln w="22225">
            <a:solidFill>
              <a:schemeClr val="accent3"/>
            </a:solidFill>
            <a:miter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</a:defRPr>
            </a:pPr>
          </a:p>
        </p:txBody>
      </p:sp>
      <p:sp>
        <p:nvSpPr>
          <p:cNvPr id="3" name="文本框 9"/>
          <p:cNvSpPr txBox="1"/>
          <p:nvPr/>
        </p:nvSpPr>
        <p:spPr>
          <a:xfrm>
            <a:off x="9307956" y="337693"/>
            <a:ext cx="227524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/>
            </a:lvl1pPr>
          </a:lstStyle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PRESENTATION</a:t>
            </a:r>
          </a:p>
          <a:p>
            <a:pPr algn="r"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rPr/>
              <a:t>//SLIDE 13</a:t>
            </a:r>
          </a:p>
        </p:txBody>
      </p:sp>
      <p:sp>
        <p:nvSpPr>
          <p:cNvPr id="4" name="文本框 10"/>
          <p:cNvSpPr txBox="1"/>
          <p:nvPr/>
        </p:nvSpPr>
        <p:spPr>
          <a:xfrm>
            <a:off x="377732" y="311964"/>
            <a:ext cx="121315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/>
            </a:pPr>
            <a:r>
              <a:rPr/>
              <a:t>YOUR</a:t>
            </a:r>
          </a:p>
        </p:txBody>
      </p:sp>
      <p:sp>
        <p:nvSpPr>
          <p:cNvPr id="5" name="文本框 11"/>
          <p:cNvSpPr txBox="1"/>
          <p:nvPr/>
        </p:nvSpPr>
        <p:spPr>
          <a:xfrm>
            <a:off x="1464623" y="323722"/>
            <a:ext cx="21391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>
              <a:defRPr sz="1200">
                <a:solidFill>
                  <a:schemeClr val="accent3">
                    <a:hueOff val="-2520000"/>
                    <a:satOff val="-41666"/>
                    <a:lumOff val="4705"/>
                  </a:schemeClr>
                </a:solidFill>
                <a:latin typeface="+mj-lt"/>
                <a:ea typeface="+mj-ea"/>
                <a:cs typeface="+mj-cs"/>
                <a:sym typeface="微软雅黑"/>
              </a:defRPr>
            </a:lvl1pPr>
          </a:lstStyle>
          <a:p>
            <a:pPr>
              <a:defRPr>
                <a:latin typeface="Montserrat"/>
                <a:ea typeface="Montserrat"/>
                <a:cs typeface="Montserrat"/>
                <a:sym typeface="Montserrat"/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AI演进历程项目组</a:t>
            </a:r>
          </a:p>
        </p:txBody>
      </p:sp>
      <p:pic>
        <p:nvPicPr>
          <p:cNvPr id="6" name="图片 27" descr="2ba243bc1e3492901b14fa56de34c194f04266b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82460" y="4829450"/>
            <a:ext cx="6470460" cy="2028551"/>
          </a:xfrm>
          <a:prstGeom prst="rect">
            <a:avLst/>
          </a:prstGeom>
        </p:spPr>
      </p:pic>
      <p:pic>
        <p:nvPicPr>
          <p:cNvPr id="7" name="图片 3" descr="0f9001962e927cd4e4a66ad8e71ef31ce02fb2d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10019725" y="5042146"/>
            <a:ext cx="2172275" cy="1815856"/>
          </a:xfrm>
          <a:prstGeom prst="rect">
            <a:avLst/>
          </a:prstGeom>
        </p:spPr>
      </p:pic>
      <p:pic>
        <p:nvPicPr>
          <p:cNvPr id="8" name="图片 5" descr="a82d54330edae090350ea9c50f77e9b1c30438ba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75588" y="5021974"/>
            <a:ext cx="1927657" cy="1368964"/>
          </a:xfrm>
          <a:prstGeom prst="rect">
            <a:avLst/>
          </a:prstGeom>
        </p:spPr>
      </p:pic>
      <p:pic>
        <p:nvPicPr>
          <p:cNvPr id="9" name="图片 45" descr="eb63b67afe1ac836c7b0ada1537536e768cd36e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708798" y="852617"/>
            <a:ext cx="1483203" cy="1052960"/>
          </a:xfrm>
          <a:prstGeom prst="rect">
            <a:avLst/>
          </a:prstGeom>
        </p:spPr>
      </p:pic>
      <p:pic>
        <p:nvPicPr>
          <p:cNvPr id="10" name="图片 20" descr="f58fd55ac11ed7bf769e8c5c34017fffc986db00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1" y="5489821"/>
            <a:ext cx="5553794" cy="1368180"/>
          </a:xfrm>
          <a:prstGeom prst="rect">
            <a:avLst/>
          </a:prstGeom>
        </p:spPr>
      </p:pic>
      <p:sp>
        <p:nvSpPr>
          <p:cNvPr id="11" name="直接连接符 53"/>
          <p:cNvSpPr/>
          <p:nvPr/>
        </p:nvSpPr>
        <p:spPr>
          <a:xfrm>
            <a:off x="3138616" y="444844"/>
            <a:ext cx="6919785" cy="1"/>
          </a:xfrm>
          <a:prstGeom prst="line">
            <a:avLst/>
          </a:prstGeom>
          <a:ln xmlns:m="http://schemas.openxmlformats.org/officeDocument/2006/math" xmlns:a14="http://schemas.microsoft.com/office/drawing/2010/main" w="12700">
            <a:solidFill>
              <a:schemeClr val="accent3">
                <a:hueOff val="-2520000"/>
                <a:satOff val="-41666"/>
                <a:lumOff val="4705"/>
              </a:schemeClr>
            </a:solidFill>
            <a:miter/>
          </a:ln>
        </p:spPr>
        <p:txBody>
          <a:bodyPr lIns="45719" rIns="45719"/>
          <a:lstStyle>
            <a:lvl1pPr>
              <a:defRPr/>
            </a:lvl1pPr>
          </a:lstStyle>
          <a:p>
            <a:pPr/>
          </a:p>
        </p:txBody>
      </p:sp>
      <p:sp>
        <p:nvSpPr>
          <p:cNvPr id="12" name="文本框 12"/>
          <p:cNvSpPr txBox="1"/>
          <p:nvPr/>
        </p:nvSpPr>
        <p:spPr>
          <a:xfrm>
            <a:off x="3608364" y="1927564"/>
            <a:ext cx="5048298" cy="1361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7200">
                <a:solidFill>
                  <a:srgbClr val="5A504B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感谢观看</a:t>
            </a:r>
          </a:p>
        </p:txBody>
      </p:sp>
      <p:sp>
        <p:nvSpPr>
          <p:cNvPr id="13" name="文本框 13"/>
          <p:cNvSpPr txBox="1"/>
          <p:nvPr/>
        </p:nvSpPr>
        <p:spPr>
          <a:xfrm>
            <a:off x="3700160" y="3016634"/>
            <a:ext cx="4815277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just">
              <a:defRPr sz="2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人工智能历史研究报告</a:t>
            </a:r>
          </a:p>
        </p:txBody>
      </p:sp>
      <p:sp>
        <p:nvSpPr>
          <p:cNvPr id="14" name="文本框 14"/>
          <p:cNvSpPr txBox="1"/>
          <p:nvPr/>
        </p:nvSpPr>
        <p:spPr>
          <a:xfrm>
            <a:off x="3691996" y="3464111"/>
            <a:ext cx="1965954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1000">
                <a:solidFill>
                  <a:srgbClr val="AFABAB"/>
                </a:solidFill>
              </a:defRPr>
            </a:lvl1pPr>
          </a:lstStyle>
          <a:p>
            <a:pPr>
              <a:defRPr/>
            </a:pPr>
            <a:r>
              <a:rPr/>
              <a:t>A Comprehensive Review of AI Evolution History</a:t>
            </a:r>
          </a:p>
        </p:txBody>
      </p:sp>
      <p:sp>
        <p:nvSpPr>
          <p:cNvPr id="15" name="文本框 15"/>
          <p:cNvSpPr txBox="1"/>
          <p:nvPr/>
        </p:nvSpPr>
        <p:spPr>
          <a:xfrm>
            <a:off x="3781035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Gan</a:t>
            </a:r>
          </a:p>
        </p:txBody>
      </p:sp>
      <p:sp>
        <p:nvSpPr>
          <p:cNvPr id="16" name="文本框 16"/>
          <p:cNvSpPr txBox="1"/>
          <p:nvPr/>
        </p:nvSpPr>
        <p:spPr>
          <a:xfrm>
            <a:off x="5168852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Xie</a:t>
            </a:r>
          </a:p>
        </p:txBody>
      </p:sp>
      <p:sp>
        <p:nvSpPr>
          <p:cNvPr id="17" name="文本框 18"/>
          <p:cNvSpPr txBox="1"/>
          <p:nvPr/>
        </p:nvSpPr>
        <p:spPr>
          <a:xfrm>
            <a:off x="6507241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Guan</a:t>
            </a:r>
          </a:p>
        </p:txBody>
      </p:sp>
      <p:sp>
        <p:nvSpPr>
          <p:cNvPr id="18" name="文本框 19"/>
          <p:cNvSpPr txBox="1"/>
          <p:nvPr/>
        </p:nvSpPr>
        <p:spPr>
          <a:xfrm>
            <a:off x="7867512" y="1748008"/>
            <a:ext cx="611936" cy="3073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 algn="ctr">
              <a:defRPr sz="14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Kan</a:t>
            </a:r>
          </a:p>
        </p:txBody>
      </p:sp>
      <p:sp>
        <p:nvSpPr>
          <p:cNvPr id="19" name="文本框 21"/>
          <p:cNvSpPr txBox="1"/>
          <p:nvPr/>
        </p:nvSpPr>
        <p:spPr>
          <a:xfrm>
            <a:off x="4032169" y="3981921"/>
            <a:ext cx="4200687" cy="8686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以上为人工智能发展史的全面回顾</a:t>
            </a:r>
          </a:p>
          <a:p>
            <a:pPr algn="ctr">
              <a:lnSpc>
                <a:spcPct val="130000"/>
              </a:lnSpc>
              <a:defRPr sz="1200">
                <a:solidFill>
                  <a:srgbClr val="808080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微软雅黑"/>
              </a:rPr>
              <a:t>感谢您的聆听，期待与您共探智能未来</a:t>
            </a:r>
          </a:p>
        </p:txBody>
      </p:sp>
      <p:sp>
        <p:nvSpPr>
          <p:cNvPr id="20" name="直接连接符 23"/>
          <p:cNvSpPr/>
          <p:nvPr/>
        </p:nvSpPr>
        <p:spPr>
          <a:xfrm>
            <a:off x="5585253" y="3756452"/>
            <a:ext cx="2903837" cy="1"/>
          </a:xfrm>
          <a:prstGeom prst="line">
            <a:avLst/>
          </a:prstGeom>
          <a:noFill/>
          <a:ln xmlns:m="http://schemas.openxmlformats.org/officeDocument/2006/math" xmlns:a14="http://schemas.microsoft.com/office/drawing/2010/main" w="12700" cap="flat">
            <a:solidFill>
              <a:srgbClr val="AFABA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A4932"/>
      </a:accent1>
      <a:accent2>
        <a:srgbClr val="EFA007"/>
      </a:accent2>
      <a:accent3>
        <a:srgbClr val="F8F5EE"/>
      </a:accent3>
      <a:accent4>
        <a:srgbClr val="F38607"/>
      </a:accent4>
      <a:accent5>
        <a:srgbClr val="C25D05"/>
      </a:accent5>
      <a:accent6>
        <a:srgbClr val="B20A6A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hueOff val="-2520000"/>
            <a:satOff val="-41666"/>
            <a:lumOff val="4705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A4932"/>
      </a:accent1>
      <a:accent2>
        <a:srgbClr val="EFA007"/>
      </a:accent2>
      <a:accent3>
        <a:srgbClr val="F8F5EE"/>
      </a:accent3>
      <a:accent4>
        <a:srgbClr val="F38607"/>
      </a:accent4>
      <a:accent5>
        <a:srgbClr val="C25D05"/>
      </a:accent5>
      <a:accent6>
        <a:srgbClr val="B20A6A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hueOff val="-2520000"/>
            <a:satOff val="-41666"/>
            <a:lumOff val="4705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"/>
            <a:ea typeface="Montserrat"/>
            <a:cs typeface="Montserrat"/>
            <a:sym typeface="Montserra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